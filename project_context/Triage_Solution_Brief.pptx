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32fc5b0-8a89-7a0b-b87a-ebb41d29cc55}">
          <p14:sldIdLst>
            <p14:sldId id="256"/>
            <p14:sldId id="257"/>
            <p14:sldId id="258"/>
            <p14:sldId id="259"/>
          </p14:sldIdLst>
        </p14:section>
        <p14:section name="Design" id="{71b6d116-5b9d-759b-5901-abbdadd5a83b}">
          <p14:sldIdLst>
            <p14:sldId id="260"/>
            <p14:sldId id="261"/>
            <p14:sldId id="262"/>
            <p14:sldId id="263"/>
            <p14:sldId id="264"/>
          </p14:sldIdLst>
        </p14:section>
        <p14:section name="Evidence" id="{32cc59c6-40b2-31fe-e354-2e586783b2d4}">
          <p14:sldIdLst>
            <p14:sldId id="265"/>
            <p14:sldId id="266"/>
            <p14:sldId id="267"/>
          </p14:sldIdLst>
        </p14:section>
        <p14:section name="Judgement" id="{279548e3-ab7f-3245-80f2-9fb58b774e5c}">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Churners listed 14–90 days early</c:v>
                </c:pt>
              </c:strCache>
            </c:strRef>
          </c:tx>
          <c:spPr>
            <a:solidFill>
              <a:srgbClr val="0F2A4A"/>
            </a:solidFill>
            <a:effectLst/>
          </c:spPr>
          <c:invertIfNegative val="0"/>
          <c:dLbls>
            <c:numFmt formatCode="0&quot;%&quot;"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Triage model</c:v>
                  </c:pt>
                  <c:pt idx="1">
                    <c:v>Rules (RAG)</c:v>
                  </c:pt>
                  <c:pt idx="2">
                    <c:v>ARR + renewal date</c:v>
                  </c:pt>
                  <c:pt idx="3">
                    <c:v>Perfect foresight</c:v>
                  </c:pt>
                </c:lvl>
              </c:multiLvlStrCache>
            </c:multiLvlStrRef>
          </c:cat>
          <c:val>
            <c:numRef>
              <c:f>Sheet1!$B$2:$B$5</c:f>
              <c:numCache>
                <c:formatCode>General</c:formatCode>
                <c:ptCount val="4"/>
                <c:pt idx="0">
                  <c:v>75</c:v>
                </c:pt>
                <c:pt idx="1">
                  <c:v>55</c:v>
                </c:pt>
                <c:pt idx="2">
                  <c:v>30</c:v>
                </c:pt>
                <c:pt idx="3">
                  <c:v>100</c:v>
                </c:pt>
              </c:numCache>
            </c:numRef>
          </c:val>
        </c:ser>
        <c:ser>
          <c:idx val="1"/>
          <c:order val="1"/>
          <c:tx>
            <c:strRef>
              <c:f>Sheet1!$C$1</c:f>
              <c:strCache>
                <c:ptCount val="1"/>
                <c:pt idx="0">
                  <c:v>Churned ARR listed early</c:v>
                </c:pt>
              </c:strCache>
            </c:strRef>
          </c:tx>
          <c:spPr>
            <a:solidFill>
              <a:srgbClr val="E8A92B"/>
            </a:solidFill>
            <a:effectLst/>
          </c:spPr>
          <c:invertIfNegative val="0"/>
          <c:dLbls>
            <c:numFmt formatCode="0&quot;%&quot;"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Triage model</c:v>
                  </c:pt>
                  <c:pt idx="1">
                    <c:v>Rules (RAG)</c:v>
                  </c:pt>
                  <c:pt idx="2">
                    <c:v>ARR + renewal date</c:v>
                  </c:pt>
                  <c:pt idx="3">
                    <c:v>Perfect foresight</c:v>
                  </c:pt>
                </c:lvl>
              </c:multiLvlStrCache>
            </c:multiLvlStrRef>
          </c:cat>
          <c:val>
            <c:numRef>
              <c:f>Sheet1!$C$2:$C$5</c:f>
              <c:numCache>
                <c:formatCode>General</c:formatCode>
                <c:ptCount val="4"/>
                <c:pt idx="0">
                  <c:v>95</c:v>
                </c:pt>
                <c:pt idx="1">
                  <c:v>81</c:v>
                </c:pt>
                <c:pt idx="2">
                  <c:v>88</c:v>
                </c:pt>
                <c:pt idx="3">
                  <c:v>100</c:v>
                </c:pt>
              </c:numCache>
            </c:numRef>
          </c:val>
        </c:ser>
        <c:dLbls>
          <c:numFmt formatCode="0&quot;%&quot;"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0F17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is a churn-risk triage system for CSM teams. The one-line design principle: a fitted model ranks, the LLM only explains from checked facts, and a human decides and sends. Everything in the walkthrough is built around keeping those three roles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kept the intent (nothing slips) and changed the mechanism. A colour has no action attached; capacity is the real constraint, so red means 'in your top 15 this week'. I refused auto-send: the list's precision is about 10% per slot, so an automatic 'we noticed a problem' email would mostly go to healthy customers and can accelerate churn.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an operational metric, not AUC: of the renewals that were lost in the last six months, how many sat on a CSM's 15-call list between 14 and 90 days before renewal. Same capacity and the same revenue weighting for every method; only the risk estimate changes. Precision looks low until you compare it with perfect foresight, which is why I report the ceiling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screens carry the product. The call list answers who and why; the evidence drawer answers 'can I trust this number'. Rows that arrived after the run are shown but hatched as unused, which is how I prove the score only used what it could see at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boring infrastructure. One Postgres holds raw records, normalised tables, identity decisions, scores, briefs and the audit trail, so every claim on screen is a join away from its evidence. The API serves the built React app, so there is one deployable image used by both the api and scheduler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identity match mixes two customers' data, which is worse than a missing match, so uncertain matches go to an unresolved queue with the best candidate kept as evidence. Late data is the subtle one: the telemetry outage is backfilled a month later, and because every row keeps arrived_at, a replayed run sees exactly what the original run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records are kept verbatim with a hash, so any normalisation bug can be replayed. The decision layer never overwrites: a new run writes new score rows, which is what makes 'what changed since last week' a simple diff and keeps old screens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store a mutable 'health' field. An account's state is the snapshot of 24 signals computed as of the run date, using only data that had both happened and arrived. The score row adds the decision: probability, contributions, what changed, and the band. Grey is a first-class state, because 'we can't see this account' is exactly how quiet churn gets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regression won on validation and gives exact per-account contributions, which become the 'Why' bars. Gradient boosting would have had to beat it clearly to justify losing that. The sign constraint came from a real bug: collinearity gave rising usage a positive risk weight, which produced explanations like 'usage up 34%' as a reason to worry. Dropping those signals cost 0.007 AUC and improved churners caught early from 71% to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evaluation. Ranking quality (AUC, PR-AUC) on renewal snapshots. Calibration, because the UI shows percentages and a CSM should be able to read 20% as one in five. And the operational replay: rebuild each week's list on the test period and ask whether the lost renewals were on it in time. Thresholds such as 'no probability floor on the call list' were chosen on validation, not test: a floor of 0.07 cut churned ARR caught early from 93% to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is a long-running scheduler process in its own container. It reads each company's timezone from the database every loop, so a new tenant needs no config change. I deliberately allow exactly one automatic retry: it recovers transient failures without hiding real ones. Resume skips completed durable steps and briefs already written, so a retry costs no duplicate LLM spend, and it keeps the model version the run started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hallucinated fact in a customer email is the worst failure mode, so validation is mechanical, not a prompt instruction: citations must exist and numbers must match. Tenant isolation is enforced by the database rather than by remembering a WHERE clause; a request with no tenant set sees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were in the brief. They come from asking what would make a CSM stop trusting the list, or what would page someone at 2 a.m. Each maps to a test, a database constraint, or a state the UI shows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 most expect to be challenged is the missing probability floor: some Red accounts are low-risk but very high-value. I chose that on validation because big accounts carry most of the revenue, and the UI labels those rows as 'low risk, but a large renewal is close' so the CSM knows why they are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real compose stack end to end found two bugs the unit tests didn't: a double click on Run now could start two runs, and the sign-in page showed the development password in production. Both are fixed and covered. The briefs step went from about 127 seconds to roughly 30 by slicing source data once per run and reusing briefs whose facts haven't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want answers to these four questions before tuning anything further, because they change the label and the thresholds. The next engineering step is a same-day interrupt for critical events, layered on top of the nightly run rather than replacing it, since the nightly reconcile is needed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8638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548640" y="3429000"/>
            <a:ext cx="7680960" cy="109728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
        <p:nvSpPr>
          <p:cNvPr id="4"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Triage · Solution brief</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863840" cy="1280160"/>
          </a:xfrm>
          <a:prstGeom prst="rect">
            <a:avLst/>
          </a:prstGeom>
          <a:noFill/>
          <a:ln/>
        </p:spPr>
        <p:txBody>
          <a:bodyPr wrap="square" lIns="0" tIns="0" rIns="0" bIns="0" rtlCol="0" anchor="b"/>
          <a:lstStyle/>
          <a:p>
            <a:pPr algn="l" indent="0" marL="0">
              <a:buNone/>
            </a:pPr>
            <a:r>
              <a:rPr lang="en-US" sz="6000" b="1" dirty="0">
                <a:solidFill>
                  <a:schemeClr val="bg1"/>
                </a:solidFill>
              </a:rPr>
              <a:t>Triage</a:t>
            </a:r>
            <a:endParaRPr lang="en-US" sz="6000" dirty="0"/>
          </a:p>
        </p:txBody>
      </p:sp>
      <p:sp>
        <p:nvSpPr>
          <p:cNvPr id="3" name="Text 0"/>
          <p:cNvSpPr/>
          <p:nvPr>
            <p:ph idx="101" type="body" hasCustomPrompt="1"/>
          </p:nvPr>
        </p:nvSpPr>
        <p:spPr>
          <a:xfrm>
            <a:off x="548640" y="3429000"/>
            <a:ext cx="7680960" cy="1097280"/>
          </a:xfrm>
          <a:prstGeom prst="rect">
            <a:avLst/>
          </a:prstGeom>
          <a:noFill/>
          <a:ln/>
        </p:spPr>
        <p:txBody>
          <a:bodyPr wrap="square" lIns="0" tIns="0" rIns="0" bIns="0" rtlCol="0" anchor="t"/>
          <a:lstStyle/>
          <a:p>
            <a:pPr algn="l" indent="0" marL="0">
              <a:buNone/>
            </a:pPr>
            <a:r>
              <a:rPr lang="en-US" sz="2200" dirty="0">
                <a:solidFill>
                  <a:schemeClr val="accent6"/>
                </a:solidFill>
              </a:rPr>
              <a:t>Who to call this week, and why: churn-risk triage for Customer Success teams</a:t>
            </a:r>
            <a:endParaRPr lang="en-US" sz="2200" dirty="0"/>
          </a:p>
        </p:txBody>
      </p:sp>
      <p:sp>
        <p:nvSpPr>
          <p:cNvPr id="4" name="text-1"/>
          <p:cNvSpPr txBox="1"/>
          <p:nvPr/>
        </p:nvSpPr>
        <p:spPr>
          <a:xfrm>
            <a:off x="548640" y="4754880"/>
            <a:ext cx="7315200" cy="365760"/>
          </a:xfrm>
          <a:prstGeom prst="rect">
            <a:avLst/>
          </a:prstGeom>
          <a:noFill/>
          <a:ln/>
        </p:spPr>
        <p:txBody>
          <a:bodyPr wrap="square" lIns="0" tIns="0" rIns="0" bIns="0" rtlCol="0" anchor="t"/>
          <a:lstStyle/>
          <a:p>
            <a:pPr indent="0" marL="0">
              <a:buNone/>
            </a:pPr>
            <a:r>
              <a:rPr lang="en-US" sz="1600" dirty="0">
                <a:solidFill>
                  <a:schemeClr val="accent6"/>
                </a:solidFill>
              </a:rPr>
              <a:t>Solution brief  ·  Kuldeep Chouhan  ·  October 2026</a:t>
            </a:r>
            <a:endParaRPr lang="en-US" sz="1600" dirty="0"/>
          </a:p>
        </p:txBody>
      </p:sp>
      <p:sp>
        <p:nvSpPr>
          <p:cNvPr id="5" name="card-2"/>
          <p:cNvSpPr/>
          <p:nvPr/>
        </p:nvSpPr>
        <p:spPr>
          <a:xfrm>
            <a:off x="8549640" y="2148840"/>
            <a:ext cx="3108960" cy="685800"/>
          </a:xfrm>
          <a:prstGeom prst="roundRect">
            <a:avLst>
              <a:gd name="adj" fmla="val 10667"/>
            </a:avLst>
          </a:prstGeom>
          <a:solidFill>
            <a:srgbClr val="1A3A60"/>
          </a:solidFill>
          <a:ln w="12700">
            <a:solidFill>
              <a:srgbClr val="1A3A60"/>
            </a:solidFill>
            <a:prstDash val="solid"/>
          </a:ln>
        </p:spPr>
      </p:sp>
      <p:sp>
        <p:nvSpPr>
          <p:cNvPr id="6" name="badge-3"/>
          <p:cNvSpPr/>
          <p:nvPr/>
        </p:nvSpPr>
        <p:spPr>
          <a:xfrm>
            <a:off x="8686800" y="2299716"/>
            <a:ext cx="384048" cy="384048"/>
          </a:xfrm>
          <a:prstGeom prst="ellipse">
            <a:avLst/>
          </a:prstGeom>
          <a:solidFill>
            <a:schemeClr val="accent1"/>
          </a:solidFill>
          <a:ln w="12700">
            <a:solidFill>
              <a:schemeClr val="accent1"/>
            </a:solidFill>
            <a:prstDash val="solid"/>
          </a:ln>
        </p:spPr>
      </p:sp>
      <p:sp>
        <p:nvSpPr>
          <p:cNvPr id="7" name="badgetext-4"/>
          <p:cNvSpPr txBox="1"/>
          <p:nvPr/>
        </p:nvSpPr>
        <p:spPr>
          <a:xfrm>
            <a:off x="8686800" y="2299716"/>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8" name="text-5"/>
          <p:cNvSpPr txBox="1"/>
          <p:nvPr/>
        </p:nvSpPr>
        <p:spPr>
          <a:xfrm>
            <a:off x="9189720" y="2258568"/>
            <a:ext cx="2423160" cy="457200"/>
          </a:xfrm>
          <a:prstGeom prst="rect">
            <a:avLst/>
          </a:prstGeom>
          <a:noFill/>
          <a:ln/>
        </p:spPr>
        <p:txBody>
          <a:bodyPr wrap="square" lIns="0" tIns="0" rIns="0" bIns="0" rtlCol="0" anchor="ctr"/>
          <a:lstStyle/>
          <a:p>
            <a:pPr indent="0" marL="0">
              <a:buNone/>
            </a:pPr>
            <a:r>
              <a:rPr lang="en-US" sz="1400" b="1" dirty="0">
                <a:solidFill>
                  <a:schemeClr val="bg1"/>
                </a:solidFill>
              </a:rPr>
              <a:t>Model  </a:t>
            </a:r>
            <a:pPr indent="0" marL="0">
              <a:buNone/>
            </a:pPr>
            <a:r>
              <a:rPr lang="en-US" sz="1400" dirty="0">
                <a:solidFill>
                  <a:schemeClr val="accent6"/>
                </a:solidFill>
              </a:rPr>
              <a:t>ranks every account</a:t>
            </a:r>
            <a:endParaRPr lang="en-US" sz="1400" dirty="0"/>
          </a:p>
        </p:txBody>
      </p:sp>
      <p:sp>
        <p:nvSpPr>
          <p:cNvPr id="9" name="card-6"/>
          <p:cNvSpPr/>
          <p:nvPr/>
        </p:nvSpPr>
        <p:spPr>
          <a:xfrm>
            <a:off x="8549640" y="3017520"/>
            <a:ext cx="3108960" cy="685800"/>
          </a:xfrm>
          <a:prstGeom prst="roundRect">
            <a:avLst>
              <a:gd name="adj" fmla="val 10667"/>
            </a:avLst>
          </a:prstGeom>
          <a:solidFill>
            <a:srgbClr val="1A3A60"/>
          </a:solidFill>
          <a:ln w="12700">
            <a:solidFill>
              <a:srgbClr val="1A3A60"/>
            </a:solidFill>
            <a:prstDash val="solid"/>
          </a:ln>
        </p:spPr>
      </p:sp>
      <p:sp>
        <p:nvSpPr>
          <p:cNvPr id="10" name="badge-7"/>
          <p:cNvSpPr/>
          <p:nvPr/>
        </p:nvSpPr>
        <p:spPr>
          <a:xfrm>
            <a:off x="8686800" y="3168396"/>
            <a:ext cx="384048" cy="384048"/>
          </a:xfrm>
          <a:prstGeom prst="ellipse">
            <a:avLst/>
          </a:prstGeom>
          <a:solidFill>
            <a:schemeClr val="accent1"/>
          </a:solidFill>
          <a:ln w="12700">
            <a:solidFill>
              <a:schemeClr val="accent1"/>
            </a:solidFill>
            <a:prstDash val="solid"/>
          </a:ln>
        </p:spPr>
      </p:sp>
      <p:sp>
        <p:nvSpPr>
          <p:cNvPr id="11" name="badgetext-8"/>
          <p:cNvSpPr txBox="1"/>
          <p:nvPr/>
        </p:nvSpPr>
        <p:spPr>
          <a:xfrm>
            <a:off x="8686800" y="3168396"/>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9"/>
          <p:cNvSpPr txBox="1"/>
          <p:nvPr/>
        </p:nvSpPr>
        <p:spPr>
          <a:xfrm>
            <a:off x="9189720" y="3127248"/>
            <a:ext cx="2423160" cy="457200"/>
          </a:xfrm>
          <a:prstGeom prst="rect">
            <a:avLst/>
          </a:prstGeom>
          <a:noFill/>
          <a:ln/>
        </p:spPr>
        <p:txBody>
          <a:bodyPr wrap="square" lIns="0" tIns="0" rIns="0" bIns="0" rtlCol="0" anchor="ctr"/>
          <a:lstStyle/>
          <a:p>
            <a:pPr indent="0" marL="0">
              <a:buNone/>
            </a:pPr>
            <a:r>
              <a:rPr lang="en-US" sz="1400" b="1" dirty="0">
                <a:solidFill>
                  <a:schemeClr val="bg1"/>
                </a:solidFill>
              </a:rPr>
              <a:t>LLM  </a:t>
            </a:r>
            <a:pPr indent="0" marL="0">
              <a:buNone/>
            </a:pPr>
            <a:r>
              <a:rPr lang="en-US" sz="1400" dirty="0">
                <a:solidFill>
                  <a:schemeClr val="accent6"/>
                </a:solidFill>
              </a:rPr>
              <a:t>explains, from checked facts</a:t>
            </a:r>
            <a:endParaRPr lang="en-US" sz="1400" dirty="0"/>
          </a:p>
        </p:txBody>
      </p:sp>
      <p:sp>
        <p:nvSpPr>
          <p:cNvPr id="13" name="card-10"/>
          <p:cNvSpPr/>
          <p:nvPr/>
        </p:nvSpPr>
        <p:spPr>
          <a:xfrm>
            <a:off x="8549640" y="3886200"/>
            <a:ext cx="3108960" cy="685800"/>
          </a:xfrm>
          <a:prstGeom prst="roundRect">
            <a:avLst>
              <a:gd name="adj" fmla="val 10667"/>
            </a:avLst>
          </a:prstGeom>
          <a:solidFill>
            <a:srgbClr val="1A3A60"/>
          </a:solidFill>
          <a:ln w="12700">
            <a:solidFill>
              <a:srgbClr val="1A3A60"/>
            </a:solidFill>
            <a:prstDash val="solid"/>
          </a:ln>
        </p:spPr>
      </p:sp>
      <p:sp>
        <p:nvSpPr>
          <p:cNvPr id="14" name="badge-11"/>
          <p:cNvSpPr/>
          <p:nvPr/>
        </p:nvSpPr>
        <p:spPr>
          <a:xfrm>
            <a:off x="8686800" y="4037076"/>
            <a:ext cx="384048" cy="384048"/>
          </a:xfrm>
          <a:prstGeom prst="ellipse">
            <a:avLst/>
          </a:prstGeom>
          <a:solidFill>
            <a:schemeClr val="accent1"/>
          </a:solidFill>
          <a:ln w="12700">
            <a:solidFill>
              <a:schemeClr val="accent1"/>
            </a:solidFill>
            <a:prstDash val="solid"/>
          </a:ln>
        </p:spPr>
      </p:sp>
      <p:sp>
        <p:nvSpPr>
          <p:cNvPr id="15" name="badgetext-12"/>
          <p:cNvSpPr txBox="1"/>
          <p:nvPr/>
        </p:nvSpPr>
        <p:spPr>
          <a:xfrm>
            <a:off x="8686800" y="4037076"/>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6" name="text-13"/>
          <p:cNvSpPr txBox="1"/>
          <p:nvPr/>
        </p:nvSpPr>
        <p:spPr>
          <a:xfrm>
            <a:off x="9189720" y="3995928"/>
            <a:ext cx="2423160" cy="457200"/>
          </a:xfrm>
          <a:prstGeom prst="rect">
            <a:avLst/>
          </a:prstGeom>
          <a:noFill/>
          <a:ln/>
        </p:spPr>
        <p:txBody>
          <a:bodyPr wrap="square" lIns="0" tIns="0" rIns="0" bIns="0" rtlCol="0" anchor="ctr"/>
          <a:lstStyle/>
          <a:p>
            <a:pPr indent="0" marL="0">
              <a:buNone/>
            </a:pPr>
            <a:r>
              <a:rPr lang="en-US" sz="1400" b="1" dirty="0">
                <a:solidFill>
                  <a:schemeClr val="bg1"/>
                </a:solidFill>
              </a:rPr>
              <a:t>CSM  </a:t>
            </a:r>
            <a:pPr indent="0" marL="0">
              <a:buNone/>
            </a:pPr>
            <a:r>
              <a:rPr lang="en-US" sz="1400" dirty="0">
                <a:solidFill>
                  <a:schemeClr val="accent6"/>
                </a:solidFill>
              </a:rPr>
              <a:t>decides and sends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The request, reframed</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The VP asked for a red/yellow/green health score and an automatic email when an account goes red</a:t>
            </a:r>
            <a:endParaRPr lang="en-US" sz="1600" dirty="0"/>
          </a:p>
        </p:txBody>
      </p:sp>
      <p:sp>
        <p:nvSpPr>
          <p:cNvPr id="4" name="card-14"/>
          <p:cNvSpPr/>
          <p:nvPr/>
        </p:nvSpPr>
        <p:spPr>
          <a:xfrm>
            <a:off x="548640" y="1600200"/>
            <a:ext cx="3291840" cy="4480560"/>
          </a:xfrm>
          <a:prstGeom prst="roundRect">
            <a:avLst>
              <a:gd name="adj" fmla="val 2222"/>
            </a:avLst>
          </a:prstGeom>
          <a:solidFill>
            <a:schemeClr val="tx2"/>
          </a:solidFill>
          <a:ln w="12700">
            <a:solidFill>
              <a:schemeClr val="tx2"/>
            </a:solidFill>
            <a:prstDash val="solid"/>
          </a:ln>
        </p:spPr>
      </p:sp>
      <p:sp>
        <p:nvSpPr>
          <p:cNvPr id="5" name="text-15"/>
          <p:cNvSpPr txBox="1"/>
          <p:nvPr/>
        </p:nvSpPr>
        <p:spPr>
          <a:xfrm>
            <a:off x="822960" y="1645920"/>
            <a:ext cx="914400" cy="822960"/>
          </a:xfrm>
          <a:prstGeom prst="rect">
            <a:avLst/>
          </a:prstGeom>
          <a:noFill/>
          <a:ln/>
        </p:spPr>
        <p:txBody>
          <a:bodyPr wrap="square" lIns="0" tIns="0" rIns="0" bIns="0" rtlCol="0" anchor="t"/>
          <a:lstStyle/>
          <a:p>
            <a:pPr indent="0" marL="0">
              <a:buNone/>
            </a:pPr>
            <a:r>
              <a:rPr lang="en-US" sz="7200" b="1" dirty="0">
                <a:solidFill>
                  <a:schemeClr val="accent1"/>
                </a:solidFill>
              </a:rPr>
              <a:t>“</a:t>
            </a:r>
            <a:endParaRPr lang="en-US" sz="7200" dirty="0"/>
          </a:p>
        </p:txBody>
      </p:sp>
      <p:sp>
        <p:nvSpPr>
          <p:cNvPr id="6" name="text-16"/>
          <p:cNvSpPr txBox="1"/>
          <p:nvPr/>
        </p:nvSpPr>
        <p:spPr>
          <a:xfrm>
            <a:off x="822960" y="2423160"/>
            <a:ext cx="2743200" cy="2194560"/>
          </a:xfrm>
          <a:prstGeom prst="rect">
            <a:avLst/>
          </a:prstGeom>
          <a:noFill/>
          <a:ln/>
        </p:spPr>
        <p:txBody>
          <a:bodyPr wrap="square" lIns="0" tIns="0" rIns="0" bIns="0" rtlCol="0" anchor="t"/>
          <a:lstStyle/>
          <a:p>
            <a:pPr indent="0" marL="0">
              <a:buNone/>
            </a:pPr>
            <a:r>
              <a:rPr lang="en-US" sz="1800" i="1" dirty="0">
                <a:solidFill>
                  <a:schemeClr val="bg1"/>
                </a:solidFill>
              </a:rPr>
              <a:t>A health score per account, red / yellow / green. If an account goes red, the system should email them. That way nothing slips.</a:t>
            </a:r>
            <a:endParaRPr lang="en-US" sz="1800" dirty="0"/>
          </a:p>
        </p:txBody>
      </p:sp>
      <p:sp>
        <p:nvSpPr>
          <p:cNvPr id="7" name="text-17"/>
          <p:cNvSpPr txBox="1"/>
          <p:nvPr/>
        </p:nvSpPr>
        <p:spPr>
          <a:xfrm>
            <a:off x="822960" y="4800600"/>
            <a:ext cx="2743200" cy="1097280"/>
          </a:xfrm>
          <a:prstGeom prst="rect">
            <a:avLst/>
          </a:prstGeom>
          <a:noFill/>
          <a:ln/>
        </p:spPr>
        <p:txBody>
          <a:bodyPr wrap="square" lIns="0" tIns="0" rIns="0" bIns="0" rtlCol="0" anchor="t"/>
          <a:lstStyle/>
          <a:p>
            <a:pPr indent="0" marL="0">
              <a:buNone/>
            </a:pPr>
            <a:r>
              <a:rPr lang="en-US" sz="1300" dirty="0">
                <a:solidFill>
                  <a:schemeClr val="accent6"/>
                </a:solidFill>
              </a:rPr>
              <a:t>The failure behind it: two renewals lost while the warning signs sat in Zendesk and product data</a:t>
            </a:r>
            <a:endParaRPr lang="en-US" sz="1300" dirty="0"/>
          </a:p>
        </p:txBody>
      </p:sp>
      <p:graphicFrame>
        <p:nvGraphicFramePr>
          <p:cNvPr id="3" name="table-18"/>
          <p:cNvGraphicFramePr>
            <a:graphicFrameLocks noGrp="1"/>
          </p:cNvGraphicFramePr>
          <p:nvPr>
            <p:extLst>
              <p:ext uri="{D42A27DB-BD31-4B8C-83A1-F6EECF244321}">
                <p14:modId xmlns:p14="http://schemas.microsoft.com/office/powerpoint/2010/main" val="1579011935"/>
              </p:ext>
            </p:extLst>
          </p:nvPr>
        </p:nvGraphicFramePr>
        <p:xfrm>
          <a:off x="4160520" y="1600200"/>
          <a:ext cx="7479792" cy="914400"/>
        </p:xfrm>
        <a:graphic>
          <a:graphicData uri="http://schemas.openxmlformats.org/drawingml/2006/table">
            <a:tbl>
              <a:tblPr/>
              <a:tblGrid>
                <a:gridCol w="1691640"/>
                <a:gridCol w="3044952"/>
                <a:gridCol w="2743200"/>
              </a:tblGrid>
              <a:tr h="457200">
                <a:tc>
                  <a:txBody>
                    <a:bodyPr/>
                    <a:lstStyle/>
                    <a:p>
                      <a:pPr indent="0" marL="0">
                        <a:buNone/>
                      </a:pPr>
                      <a:r>
                        <a:rPr lang="en-US" sz="1400" b="1" dirty="0">
                          <a:solidFill>
                            <a:schemeClr val="tx2"/>
                          </a:solidFill>
                        </a:rPr>
                        <a:t>Asked for</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tx2"/>
                          </a:solidFill>
                        </a:rPr>
                        <a:t>What Triage does</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accent6"/>
                    </a:solidFill>
                  </a:tcPr>
                </a:tc>
                <a:tc>
                  <a:txBody>
                    <a:bodyPr/>
                    <a:lstStyle/>
                    <a:p>
                      <a:pPr indent="0" marL="0">
                        <a:buNone/>
                      </a:pPr>
                      <a:r>
                        <a:rPr lang="en-US" sz="1400" b="1" dirty="0">
                          <a:solidFill>
                            <a:schemeClr val="tx2"/>
                          </a:solidFill>
                        </a:rPr>
                        <a:t>Why</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accent6"/>
                    </a:solidFill>
                  </a:tcPr>
                </a:tc>
              </a:tr>
              <a:tr h="960120">
                <a:tc>
                  <a:txBody>
                    <a:bodyPr/>
                    <a:lstStyle/>
                    <a:p>
                      <a:pPr indent="0" marL="0">
                        <a:buNone/>
                      </a:pPr>
                      <a:r>
                        <a:rPr lang="en-US" sz="1400" b="1" dirty="0">
                          <a:solidFill>
                            <a:schemeClr val="tx1"/>
                          </a:solidFill>
                        </a:rPr>
                        <a:t>Health score</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Calibrated chance of not renewing, with the reasons</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A colour alone doesn't say what to do</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960120">
                <a:tc>
                  <a:txBody>
                    <a:bodyPr/>
                    <a:lstStyle/>
                    <a:p>
                      <a:pPr indent="0" marL="0">
                        <a:buNone/>
                      </a:pPr>
                      <a:r>
                        <a:rPr lang="en-US" sz="1400" b="1" dirty="0">
                          <a:solidFill>
                            <a:schemeClr val="tx1"/>
                          </a:solidFill>
                        </a:rPr>
                        <a:t>Red / yellow / green</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Red call · Amber watch · Green healthy · Grey can't see</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Red is set by CSM capacity, and missing data is never green</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960120">
                <a:tc>
                  <a:txBody>
                    <a:bodyPr/>
                    <a:lstStyle/>
                    <a:p>
                      <a:pPr indent="0" marL="0">
                        <a:buNone/>
                      </a:pPr>
                      <a:r>
                        <a:rPr lang="en-US" sz="1400" b="1" dirty="0">
                          <a:solidFill>
                            <a:schemeClr val="tx1"/>
                          </a:solidFill>
                        </a:rPr>
                        <a:t>Auto-email on red</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Email drafted from facts; CSM edits, approves and sends</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At ~10% precision an automatic email spams healthy customers</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868680">
                <a:tc>
                  <a:txBody>
                    <a:bodyPr/>
                    <a:lstStyle/>
                    <a:p>
                      <a:pPr indent="0" marL="0">
                        <a:buNone/>
                      </a:pPr>
                      <a:r>
                        <a:rPr lang="en-US" sz="1400" b="1" dirty="0">
                          <a:solidFill>
                            <a:schemeClr val="tx1"/>
                          </a:solidFill>
                        </a:rPr>
                        <a:t>Nothing slips</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Weekly ranked list per CSM, a can't-see section, team view</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Coverage without noise</a:t>
                      </a:r>
                      <a:endParaRPr lang="en-US" sz="1400" dirty="0"/>
                    </a:p>
                  </a:txBody>
                  <a:tcPr marL="101600" marR="101600" marT="50800" marB="508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Results on six months the model never saw</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Weekly replay of the call list: 3 companies, 38 weeks, 167 lost renewals, 15 calls per CSM per week</a:t>
            </a:r>
            <a:endParaRPr lang="en-US" sz="1600" dirty="0"/>
          </a:p>
        </p:txBody>
      </p:sp>
      <p:sp>
        <p:nvSpPr>
          <p:cNvPr id="4" name="card-19"/>
          <p:cNvSpPr/>
          <p:nvPr/>
        </p:nvSpPr>
        <p:spPr>
          <a:xfrm>
            <a:off x="548640" y="1691640"/>
            <a:ext cx="2606040" cy="2880360"/>
          </a:xfrm>
          <a:prstGeom prst="roundRect">
            <a:avLst>
              <a:gd name="adj" fmla="val 2807"/>
            </a:avLst>
          </a:prstGeom>
          <a:solidFill>
            <a:schemeClr val="bg2"/>
          </a:solidFill>
          <a:ln w="12700">
            <a:solidFill>
              <a:schemeClr val="bg2"/>
            </a:solidFill>
            <a:prstDash val="solid"/>
          </a:ln>
        </p:spPr>
      </p:sp>
      <p:sp>
        <p:nvSpPr>
          <p:cNvPr id="5" name="text-20"/>
          <p:cNvSpPr txBox="1"/>
          <p:nvPr/>
        </p:nvSpPr>
        <p:spPr>
          <a:xfrm>
            <a:off x="777240" y="1874520"/>
            <a:ext cx="2148840" cy="914400"/>
          </a:xfrm>
          <a:prstGeom prst="rect">
            <a:avLst/>
          </a:prstGeom>
          <a:noFill/>
          <a:ln/>
        </p:spPr>
        <p:txBody>
          <a:bodyPr wrap="square" lIns="0" tIns="0" rIns="0" bIns="0" rtlCol="0" anchor="t"/>
          <a:lstStyle/>
          <a:p>
            <a:pPr indent="0" marL="0">
              <a:buNone/>
            </a:pPr>
            <a:r>
              <a:rPr lang="en-US" sz="4800" b="1" dirty="0">
                <a:solidFill>
                  <a:schemeClr val="tx2"/>
                </a:solidFill>
              </a:rPr>
              <a:t>75%</a:t>
            </a:r>
            <a:endParaRPr lang="en-US" sz="4800" dirty="0"/>
          </a:p>
        </p:txBody>
      </p:sp>
      <p:sp>
        <p:nvSpPr>
          <p:cNvPr id="6" name="text-21"/>
          <p:cNvSpPr txBox="1"/>
          <p:nvPr/>
        </p:nvSpPr>
        <p:spPr>
          <a:xfrm>
            <a:off x="777240" y="2834640"/>
            <a:ext cx="2148840" cy="914400"/>
          </a:xfrm>
          <a:prstGeom prst="rect">
            <a:avLst/>
          </a:prstGeom>
          <a:noFill/>
          <a:ln/>
        </p:spPr>
        <p:txBody>
          <a:bodyPr wrap="square" lIns="0" tIns="0" rIns="0" bIns="0" rtlCol="0" anchor="t"/>
          <a:lstStyle/>
          <a:p>
            <a:pPr indent="0" marL="0">
              <a:buNone/>
            </a:pPr>
            <a:r>
              <a:rPr lang="en-US" sz="1500" dirty="0">
                <a:solidFill>
                  <a:schemeClr val="tx1"/>
                </a:solidFill>
              </a:rPr>
              <a:t>of churners listed 14–90 days before renewal</a:t>
            </a:r>
            <a:endParaRPr lang="en-US" sz="1500" dirty="0"/>
          </a:p>
        </p:txBody>
      </p:sp>
      <p:sp>
        <p:nvSpPr>
          <p:cNvPr id="7" name="text-22"/>
          <p:cNvSpPr txBox="1"/>
          <p:nvPr/>
        </p:nvSpPr>
        <p:spPr>
          <a:xfrm>
            <a:off x="777240" y="3931920"/>
            <a:ext cx="2148840" cy="457200"/>
          </a:xfrm>
          <a:prstGeom prst="rect">
            <a:avLst/>
          </a:prstGeom>
          <a:noFill/>
          <a:ln/>
        </p:spPr>
        <p:txBody>
          <a:bodyPr wrap="square" lIns="0" tIns="0" rIns="0" bIns="0" rtlCol="0" anchor="t"/>
          <a:lstStyle/>
          <a:p>
            <a:pPr indent="0" marL="0">
              <a:buNone/>
            </a:pPr>
            <a:r>
              <a:rPr lang="en-US" sz="1300" dirty="0">
                <a:solidFill>
                  <a:schemeClr val="accent5"/>
                </a:solidFill>
              </a:rPr>
              <a:t>Red/yellow/green rules: 55%</a:t>
            </a:r>
            <a:endParaRPr lang="en-US" sz="1300" dirty="0"/>
          </a:p>
        </p:txBody>
      </p:sp>
      <p:sp>
        <p:nvSpPr>
          <p:cNvPr id="8" name="card-23"/>
          <p:cNvSpPr/>
          <p:nvPr/>
        </p:nvSpPr>
        <p:spPr>
          <a:xfrm>
            <a:off x="3401568" y="1691640"/>
            <a:ext cx="2606040" cy="2880360"/>
          </a:xfrm>
          <a:prstGeom prst="roundRect">
            <a:avLst>
              <a:gd name="adj" fmla="val 2807"/>
            </a:avLst>
          </a:prstGeom>
          <a:solidFill>
            <a:schemeClr val="bg2"/>
          </a:solidFill>
          <a:ln w="12700">
            <a:solidFill>
              <a:schemeClr val="bg2"/>
            </a:solidFill>
            <a:prstDash val="solid"/>
          </a:ln>
        </p:spPr>
      </p:sp>
      <p:sp>
        <p:nvSpPr>
          <p:cNvPr id="9" name="text-24"/>
          <p:cNvSpPr txBox="1"/>
          <p:nvPr/>
        </p:nvSpPr>
        <p:spPr>
          <a:xfrm>
            <a:off x="3630168" y="1874520"/>
            <a:ext cx="2148840" cy="914400"/>
          </a:xfrm>
          <a:prstGeom prst="rect">
            <a:avLst/>
          </a:prstGeom>
          <a:noFill/>
          <a:ln/>
        </p:spPr>
        <p:txBody>
          <a:bodyPr wrap="square" lIns="0" tIns="0" rIns="0" bIns="0" rtlCol="0" anchor="t"/>
          <a:lstStyle/>
          <a:p>
            <a:pPr indent="0" marL="0">
              <a:buNone/>
            </a:pPr>
            <a:r>
              <a:rPr lang="en-US" sz="4800" b="1" dirty="0">
                <a:solidFill>
                  <a:schemeClr val="tx2"/>
                </a:solidFill>
              </a:rPr>
              <a:t>95%</a:t>
            </a:r>
            <a:endParaRPr lang="en-US" sz="4800" dirty="0"/>
          </a:p>
        </p:txBody>
      </p:sp>
      <p:sp>
        <p:nvSpPr>
          <p:cNvPr id="10" name="text-25"/>
          <p:cNvSpPr txBox="1"/>
          <p:nvPr/>
        </p:nvSpPr>
        <p:spPr>
          <a:xfrm>
            <a:off x="3630168" y="2834640"/>
            <a:ext cx="2148840" cy="914400"/>
          </a:xfrm>
          <a:prstGeom prst="rect">
            <a:avLst/>
          </a:prstGeom>
          <a:noFill/>
          <a:ln/>
        </p:spPr>
        <p:txBody>
          <a:bodyPr wrap="square" lIns="0" tIns="0" rIns="0" bIns="0" rtlCol="0" anchor="t"/>
          <a:lstStyle/>
          <a:p>
            <a:pPr indent="0" marL="0">
              <a:buNone/>
            </a:pPr>
            <a:r>
              <a:rPr lang="en-US" sz="1500" dirty="0">
                <a:solidFill>
                  <a:schemeClr val="tx1"/>
                </a:solidFill>
              </a:rPr>
              <a:t>of churned revenue listed early</a:t>
            </a:r>
            <a:endParaRPr lang="en-US" sz="1500" dirty="0"/>
          </a:p>
        </p:txBody>
      </p:sp>
      <p:sp>
        <p:nvSpPr>
          <p:cNvPr id="11" name="text-26"/>
          <p:cNvSpPr txBox="1"/>
          <p:nvPr/>
        </p:nvSpPr>
        <p:spPr>
          <a:xfrm>
            <a:off x="3630168" y="3931920"/>
            <a:ext cx="2148840" cy="457200"/>
          </a:xfrm>
          <a:prstGeom prst="rect">
            <a:avLst/>
          </a:prstGeom>
          <a:noFill/>
          <a:ln/>
        </p:spPr>
        <p:txBody>
          <a:bodyPr wrap="square" lIns="0" tIns="0" rIns="0" bIns="0" rtlCol="0" anchor="t"/>
          <a:lstStyle/>
          <a:p>
            <a:pPr indent="0" marL="0">
              <a:buNone/>
            </a:pPr>
            <a:r>
              <a:rPr lang="en-US" sz="1300" dirty="0">
                <a:solidFill>
                  <a:schemeClr val="accent5"/>
                </a:solidFill>
              </a:rPr>
              <a:t>Rules: 81%</a:t>
            </a:r>
            <a:endParaRPr lang="en-US" sz="1300" dirty="0"/>
          </a:p>
        </p:txBody>
      </p:sp>
      <p:sp>
        <p:nvSpPr>
          <p:cNvPr id="12" name="card-27"/>
          <p:cNvSpPr/>
          <p:nvPr/>
        </p:nvSpPr>
        <p:spPr>
          <a:xfrm>
            <a:off x="6254496" y="1691640"/>
            <a:ext cx="2606040" cy="2880360"/>
          </a:xfrm>
          <a:prstGeom prst="roundRect">
            <a:avLst>
              <a:gd name="adj" fmla="val 2807"/>
            </a:avLst>
          </a:prstGeom>
          <a:solidFill>
            <a:schemeClr val="bg2"/>
          </a:solidFill>
          <a:ln w="12700">
            <a:solidFill>
              <a:schemeClr val="bg2"/>
            </a:solidFill>
            <a:prstDash val="solid"/>
          </a:ln>
        </p:spPr>
      </p:sp>
      <p:sp>
        <p:nvSpPr>
          <p:cNvPr id="13" name="text-28"/>
          <p:cNvSpPr txBox="1"/>
          <p:nvPr/>
        </p:nvSpPr>
        <p:spPr>
          <a:xfrm>
            <a:off x="6483096" y="1874520"/>
            <a:ext cx="2148840" cy="914400"/>
          </a:xfrm>
          <a:prstGeom prst="rect">
            <a:avLst/>
          </a:prstGeom>
          <a:noFill/>
          <a:ln/>
        </p:spPr>
        <p:txBody>
          <a:bodyPr wrap="square" lIns="0" tIns="0" rIns="0" bIns="0" rtlCol="0" anchor="t"/>
          <a:lstStyle/>
          <a:p>
            <a:pPr indent="0" marL="0">
              <a:buNone/>
            </a:pPr>
            <a:r>
              <a:rPr lang="en-US" sz="4800" b="1" dirty="0">
                <a:solidFill>
                  <a:schemeClr val="tx2"/>
                </a:solidFill>
              </a:rPr>
              <a:t>0.75</a:t>
            </a:r>
            <a:endParaRPr lang="en-US" sz="4800" dirty="0"/>
          </a:p>
        </p:txBody>
      </p:sp>
      <p:sp>
        <p:nvSpPr>
          <p:cNvPr id="14" name="text-29"/>
          <p:cNvSpPr txBox="1"/>
          <p:nvPr/>
        </p:nvSpPr>
        <p:spPr>
          <a:xfrm>
            <a:off x="6483096" y="2834640"/>
            <a:ext cx="2148840" cy="914400"/>
          </a:xfrm>
          <a:prstGeom prst="rect">
            <a:avLst/>
          </a:prstGeom>
          <a:noFill/>
          <a:ln/>
        </p:spPr>
        <p:txBody>
          <a:bodyPr wrap="square" lIns="0" tIns="0" rIns="0" bIns="0" rtlCol="0" anchor="t"/>
          <a:lstStyle/>
          <a:p>
            <a:pPr indent="0" marL="0">
              <a:buNone/>
            </a:pPr>
            <a:r>
              <a:rPr lang="en-US" sz="1500" dirty="0">
                <a:solidFill>
                  <a:schemeClr val="tx1"/>
                </a:solidFill>
              </a:rPr>
              <a:t>ROC AUC on held-out renewals</a:t>
            </a:r>
            <a:endParaRPr lang="en-US" sz="1500" dirty="0"/>
          </a:p>
        </p:txBody>
      </p:sp>
      <p:sp>
        <p:nvSpPr>
          <p:cNvPr id="15" name="text-30"/>
          <p:cNvSpPr txBox="1"/>
          <p:nvPr/>
        </p:nvSpPr>
        <p:spPr>
          <a:xfrm>
            <a:off x="6483096" y="3931920"/>
            <a:ext cx="2148840" cy="457200"/>
          </a:xfrm>
          <a:prstGeom prst="rect">
            <a:avLst/>
          </a:prstGeom>
          <a:noFill/>
          <a:ln/>
        </p:spPr>
        <p:txBody>
          <a:bodyPr wrap="square" lIns="0" tIns="0" rIns="0" bIns="0" rtlCol="0" anchor="t"/>
          <a:lstStyle/>
          <a:p>
            <a:pPr indent="0" marL="0">
              <a:buNone/>
            </a:pPr>
            <a:r>
              <a:rPr lang="en-US" sz="1300" dirty="0">
                <a:solidFill>
                  <a:schemeClr val="accent5"/>
                </a:solidFill>
              </a:rPr>
              <a:t>Rules 0.59 · gradient boosting 0.73</a:t>
            </a:r>
            <a:endParaRPr lang="en-US" sz="1300" dirty="0"/>
          </a:p>
        </p:txBody>
      </p:sp>
      <p:sp>
        <p:nvSpPr>
          <p:cNvPr id="16" name="card-31"/>
          <p:cNvSpPr/>
          <p:nvPr/>
        </p:nvSpPr>
        <p:spPr>
          <a:xfrm>
            <a:off x="9107424" y="1691640"/>
            <a:ext cx="2606040" cy="2880360"/>
          </a:xfrm>
          <a:prstGeom prst="roundRect">
            <a:avLst>
              <a:gd name="adj" fmla="val 2807"/>
            </a:avLst>
          </a:prstGeom>
          <a:solidFill>
            <a:schemeClr val="bg2"/>
          </a:solidFill>
          <a:ln w="12700">
            <a:solidFill>
              <a:schemeClr val="bg2"/>
            </a:solidFill>
            <a:prstDash val="solid"/>
          </a:ln>
        </p:spPr>
      </p:sp>
      <p:sp>
        <p:nvSpPr>
          <p:cNvPr id="17" name="text-32"/>
          <p:cNvSpPr txBox="1"/>
          <p:nvPr/>
        </p:nvSpPr>
        <p:spPr>
          <a:xfrm>
            <a:off x="9336024" y="1874520"/>
            <a:ext cx="2148840" cy="914400"/>
          </a:xfrm>
          <a:prstGeom prst="rect">
            <a:avLst/>
          </a:prstGeom>
          <a:noFill/>
          <a:ln/>
        </p:spPr>
        <p:txBody>
          <a:bodyPr wrap="square" lIns="0" tIns="0" rIns="0" bIns="0" rtlCol="0" anchor="t"/>
          <a:lstStyle/>
          <a:p>
            <a:pPr indent="0" marL="0">
              <a:buNone/>
            </a:pPr>
            <a:r>
              <a:rPr lang="en-US" sz="4800" b="1" dirty="0">
                <a:solidFill>
                  <a:schemeClr val="tx2"/>
                </a:solidFill>
              </a:rPr>
              <a:t>105</a:t>
            </a:r>
            <a:endParaRPr lang="en-US" sz="4800" dirty="0"/>
          </a:p>
        </p:txBody>
      </p:sp>
      <p:sp>
        <p:nvSpPr>
          <p:cNvPr id="18" name="text-33"/>
          <p:cNvSpPr txBox="1"/>
          <p:nvPr/>
        </p:nvSpPr>
        <p:spPr>
          <a:xfrm>
            <a:off x="9336024" y="2834640"/>
            <a:ext cx="2148840" cy="914400"/>
          </a:xfrm>
          <a:prstGeom prst="rect">
            <a:avLst/>
          </a:prstGeom>
          <a:noFill/>
          <a:ln/>
        </p:spPr>
        <p:txBody>
          <a:bodyPr wrap="square" lIns="0" tIns="0" rIns="0" bIns="0" rtlCol="0" anchor="t"/>
          <a:lstStyle/>
          <a:p>
            <a:pPr indent="0" marL="0">
              <a:buNone/>
            </a:pPr>
            <a:r>
              <a:rPr lang="en-US" sz="1500" dirty="0">
                <a:solidFill>
                  <a:schemeClr val="tx1"/>
                </a:solidFill>
              </a:rPr>
              <a:t>days of warning on Kestrel Health, one of the two lost renewals</a:t>
            </a:r>
            <a:endParaRPr lang="en-US" sz="1500" dirty="0"/>
          </a:p>
        </p:txBody>
      </p:sp>
      <p:sp>
        <p:nvSpPr>
          <p:cNvPr id="19" name="text-34"/>
          <p:cNvSpPr txBox="1"/>
          <p:nvPr/>
        </p:nvSpPr>
        <p:spPr>
          <a:xfrm>
            <a:off x="9336024" y="3931920"/>
            <a:ext cx="2148840" cy="457200"/>
          </a:xfrm>
          <a:prstGeom prst="rect">
            <a:avLst/>
          </a:prstGeom>
          <a:noFill/>
          <a:ln/>
        </p:spPr>
        <p:txBody>
          <a:bodyPr wrap="square" lIns="0" tIns="0" rIns="0" bIns="0" rtlCol="0" anchor="t"/>
          <a:lstStyle/>
          <a:p>
            <a:pPr indent="0" marL="0">
              <a:buNone/>
            </a:pPr>
            <a:r>
              <a:rPr lang="en-US" sz="1300" dirty="0">
                <a:solidFill>
                  <a:schemeClr val="accent5"/>
                </a:solidFill>
              </a:rPr>
              <a:t>Rules never listed it</a:t>
            </a:r>
            <a:endParaRPr lang="en-US" sz="1300" dirty="0"/>
          </a:p>
        </p:txBody>
      </p:sp>
      <p:sp>
        <p:nvSpPr>
          <p:cNvPr id="20" name="card-35"/>
          <p:cNvSpPr/>
          <p:nvPr/>
        </p:nvSpPr>
        <p:spPr>
          <a:xfrm>
            <a:off x="548640" y="4892040"/>
            <a:ext cx="11094415" cy="1143000"/>
          </a:xfrm>
          <a:prstGeom prst="roundRect">
            <a:avLst>
              <a:gd name="adj" fmla="val 6400"/>
            </a:avLst>
          </a:prstGeom>
          <a:solidFill>
            <a:schemeClr val="accent6"/>
          </a:solidFill>
          <a:ln w="12700">
            <a:solidFill>
              <a:schemeClr val="accent6"/>
            </a:solidFill>
            <a:prstDash val="solid"/>
          </a:ln>
        </p:spPr>
      </p:sp>
      <p:sp>
        <p:nvSpPr>
          <p:cNvPr id="21" name="text-36"/>
          <p:cNvSpPr txBox="1"/>
          <p:nvPr/>
        </p:nvSpPr>
        <p:spPr>
          <a:xfrm>
            <a:off x="822960" y="5029200"/>
            <a:ext cx="10545775" cy="914400"/>
          </a:xfrm>
          <a:prstGeom prst="rect">
            <a:avLst/>
          </a:prstGeom>
          <a:noFill/>
          <a:ln/>
        </p:spPr>
        <p:txBody>
          <a:bodyPr wrap="square" lIns="0" tIns="0" rIns="0" bIns="0" rtlCol="0" anchor="ctr"/>
          <a:lstStyle/>
          <a:p>
            <a:pPr indent="0" marL="0">
              <a:buNone/>
            </a:pPr>
            <a:r>
              <a:rPr lang="en-US" sz="1500" b="1" dirty="0">
                <a:solidFill>
                  <a:schemeClr val="tx1"/>
                </a:solidFill>
              </a:rPr>
              <a:t>Brightline Logistics</a:t>
            </a:r>
            <a:pPr indent="0" marL="0">
              <a:buNone/>
            </a:pPr>
            <a:r>
              <a:rPr lang="en-US" sz="1500" dirty="0">
                <a:solidFill>
                  <a:schemeClr val="tx1"/>
                </a:solidFill>
              </a:rPr>
              <a:t> (no product data, support storm) was listed from February; the rules waited until May.  </a:t>
            </a:r>
            <a:pPr indent="0" marL="0">
              <a:buNone/>
            </a:pPr>
            <a:r>
              <a:rPr lang="en-US" sz="1500" b="1" dirty="0">
                <a:solidFill>
                  <a:schemeClr val="tx1"/>
                </a:solidFill>
              </a:rPr>
              <a:t>Precision is 9.4%</a:t>
            </a:r>
            <a:pPr indent="0" marL="0">
              <a:buNone/>
            </a:pPr>
            <a:r>
              <a:rPr lang="en-US" sz="1500" dirty="0">
                <a:solidFill>
                  <a:schemeClr val="tx1"/>
                </a:solidFill>
              </a:rPr>
              <a:t> of call slots, against a perfect-foresight ceiling of 16%: few accounts in any 15-call list actually churn.</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What a CSM sees</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Every number on screen traces back to the run, the model version and the source rows behind it</a:t>
            </a:r>
            <a:endParaRPr lang="en-US" sz="1600" dirty="0"/>
          </a:p>
        </p:txBody>
      </p:sp>
      <p:pic>
        <p:nvPicPr>
          <p:cNvPr id="4" name="shot-37" descr="Call list: ranked accounts with risk, reasons and draft status">    </p:cNvPr>
          <p:cNvPicPr>
            <a:picLocks noChangeAspect="1"/>
          </p:cNvPicPr>
          <p:nvPr/>
        </p:nvPicPr>
        <p:blipFill>
          <a:blip r:embed="rId1"/>
          <a:stretch>
            <a:fillRect/>
          </a:stretch>
        </p:blipFill>
        <p:spPr>
          <a:xfrm>
            <a:off x="548640" y="1600200"/>
            <a:ext cx="6126480" cy="3813162"/>
          </a:xfrm>
          <a:prstGeom prst="rect">
            <a:avLst/>
          </a:prstGeom>
        </p:spPr>
      </p:pic>
      <p:pic>
        <p:nvPicPr>
          <p:cNvPr id="5" name="shot-38" descr="Evidence drawer: weekly usage rows behind one signal, with arrival dates">    </p:cNvPr>
          <p:cNvPicPr>
            <a:picLocks noChangeAspect="1"/>
          </p:cNvPicPr>
          <p:nvPr/>
        </p:nvPicPr>
        <p:blipFill>
          <a:blip r:embed="rId2"/>
          <a:stretch>
            <a:fillRect/>
          </a:stretch>
        </p:blipFill>
        <p:spPr>
          <a:xfrm>
            <a:off x="6995160" y="1600200"/>
            <a:ext cx="4647895" cy="2690887"/>
          </a:xfrm>
          <a:prstGeom prst="rect">
            <a:avLst/>
          </a:prstGeom>
        </p:spPr>
      </p:pic>
      <p:sp>
        <p:nvSpPr>
          <p:cNvPr id="6" name="text-39"/>
          <p:cNvSpPr txBox="1"/>
          <p:nvPr/>
        </p:nvSpPr>
        <p:spPr>
          <a:xfrm>
            <a:off x="548640" y="5550522"/>
            <a:ext cx="6126480" cy="548640"/>
          </a:xfrm>
          <a:prstGeom prst="rect">
            <a:avLst/>
          </a:prstGeom>
          <a:noFill/>
          <a:ln/>
        </p:spPr>
        <p:txBody>
          <a:bodyPr wrap="square" lIns="0" tIns="0" rIns="0" bIns="0" rtlCol="0" anchor="t"/>
          <a:lstStyle/>
          <a:p>
            <a:pPr indent="0" marL="0">
              <a:buNone/>
            </a:pPr>
            <a:r>
              <a:rPr lang="en-US" sz="1300" b="1" dirty="0">
                <a:solidFill>
                  <a:schemeClr val="accent5"/>
                </a:solidFill>
              </a:rPr>
              <a:t>Call list. </a:t>
            </a:r>
            <a:pPr indent="0" marL="0">
              <a:buNone/>
            </a:pPr>
            <a:r>
              <a:rPr lang="en-US" sz="1300" dirty="0">
                <a:solidFill>
                  <a:schemeClr val="accent5"/>
                </a:solidFill>
              </a:rPr>
              <a:t>Ranked by risk × revenue × renewal urgency, with the top reasons, the 12-week trend and the draft's status</a:t>
            </a:r>
            <a:endParaRPr lang="en-US" sz="1300" dirty="0"/>
          </a:p>
        </p:txBody>
      </p:sp>
      <p:sp>
        <p:nvSpPr>
          <p:cNvPr id="7" name="text-40"/>
          <p:cNvSpPr txBox="1"/>
          <p:nvPr/>
        </p:nvSpPr>
        <p:spPr>
          <a:xfrm>
            <a:off x="6995160" y="4400815"/>
            <a:ext cx="4647895" cy="548640"/>
          </a:xfrm>
          <a:prstGeom prst="rect">
            <a:avLst/>
          </a:prstGeom>
          <a:noFill/>
          <a:ln/>
        </p:spPr>
        <p:txBody>
          <a:bodyPr wrap="square" lIns="0" tIns="0" rIns="0" bIns="0" rtlCol="0" anchor="t"/>
          <a:lstStyle/>
          <a:p>
            <a:pPr indent="0" marL="0">
              <a:buNone/>
            </a:pPr>
            <a:r>
              <a:rPr lang="en-US" sz="1300" b="1" dirty="0">
                <a:solidFill>
                  <a:schemeClr val="accent5"/>
                </a:solidFill>
              </a:rPr>
              <a:t>Evidence. </a:t>
            </a:r>
            <a:pPr indent="0" marL="0">
              <a:buNone/>
            </a:pPr>
            <a:r>
              <a:rPr lang="en-US" sz="1300" dirty="0">
                <a:solidFill>
                  <a:schemeClr val="accent5"/>
                </a:solidFill>
              </a:rPr>
              <a:t>Click any reason to see the rows the run used, and when each row arrived</a:t>
            </a:r>
            <a:endParaRPr lang="en-US" sz="1300" dirty="0"/>
          </a:p>
        </p:txBody>
      </p:sp>
      <p:sp>
        <p:nvSpPr>
          <p:cNvPr id="8" name="card-41"/>
          <p:cNvSpPr/>
          <p:nvPr/>
        </p:nvSpPr>
        <p:spPr>
          <a:xfrm>
            <a:off x="6995160" y="5068327"/>
            <a:ext cx="4647895" cy="1103873"/>
          </a:xfrm>
          <a:prstGeom prst="roundRect">
            <a:avLst>
              <a:gd name="adj" fmla="val 6627"/>
            </a:avLst>
          </a:prstGeom>
          <a:solidFill>
            <a:schemeClr val="accent6"/>
          </a:solidFill>
          <a:ln w="12700">
            <a:solidFill>
              <a:schemeClr val="accent6"/>
            </a:solidFill>
            <a:prstDash val="solid"/>
          </a:ln>
        </p:spPr>
      </p:sp>
      <p:sp>
        <p:nvSpPr>
          <p:cNvPr id="9" name="text-42"/>
          <p:cNvSpPr txBox="1"/>
          <p:nvPr/>
        </p:nvSpPr>
        <p:spPr>
          <a:xfrm>
            <a:off x="7223760" y="5232919"/>
            <a:ext cx="4190695" cy="829553"/>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Brief cites numbered facts (F3, E1)</a:t>
            </a:r>
            <a:endParaRPr lang="en-US" sz="1400" dirty="0"/>
          </a:p>
          <a:p>
            <a:pPr marL="177800" indent="-177800">
              <a:spcAft>
                <a:spcPts val="500"/>
              </a:spcAft>
              <a:buSzPct val="100000"/>
              <a:buChar char="•"/>
            </a:pPr>
            <a:r>
              <a:rPr lang="en-US" sz="1400" dirty="0">
                <a:solidFill>
                  <a:schemeClr val="tx1"/>
                </a:solidFill>
              </a:rPr>
              <a:t>Draft email: approve, then Open in Gmail</a:t>
            </a:r>
            <a:endParaRPr lang="en-US" sz="1400" dirty="0"/>
          </a:p>
          <a:p>
            <a:pPr marL="177800" indent="-177800">
              <a:spcAft>
                <a:spcPts val="500"/>
              </a:spcAft>
              <a:buSzPct val="100000"/>
              <a:buChar char="•"/>
            </a:pPr>
            <a:r>
              <a:rPr lang="en-US" sz="1400" dirty="0">
                <a:solidFill>
                  <a:schemeClr val="tx1"/>
                </a:solidFill>
              </a:rPr>
              <a:t>Managers: team view, runs, model card</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Stack and architecture</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A batch pipeline feeding a read-mostly app; one Postgres is the system of record for data, decisions and audit</a:t>
            </a:r>
            <a:endParaRPr lang="en-US" sz="1600" dirty="0"/>
          </a:p>
        </p:txBody>
      </p:sp>
      <p:sp>
        <p:nvSpPr>
          <p:cNvPr id="4" name="card-43"/>
          <p:cNvSpPr/>
          <p:nvPr/>
        </p:nvSpPr>
        <p:spPr>
          <a:xfrm>
            <a:off x="548640" y="1691640"/>
            <a:ext cx="1645920" cy="1325880"/>
          </a:xfrm>
          <a:prstGeom prst="roundRect">
            <a:avLst>
              <a:gd name="adj" fmla="val 5517"/>
            </a:avLst>
          </a:prstGeom>
          <a:solidFill>
            <a:schemeClr val="bg2"/>
          </a:solidFill>
          <a:ln w="12700">
            <a:solidFill>
              <a:schemeClr val="bg2"/>
            </a:solidFill>
            <a:prstDash val="solid"/>
          </a:ln>
        </p:spPr>
      </p:sp>
      <p:sp>
        <p:nvSpPr>
          <p:cNvPr id="5" name="text-44"/>
          <p:cNvSpPr txBox="1"/>
          <p:nvPr/>
        </p:nvSpPr>
        <p:spPr>
          <a:xfrm>
            <a:off x="685800" y="1828800"/>
            <a:ext cx="1371600" cy="411480"/>
          </a:xfrm>
          <a:prstGeom prst="rect">
            <a:avLst/>
          </a:prstGeom>
          <a:noFill/>
          <a:ln/>
        </p:spPr>
        <p:txBody>
          <a:bodyPr wrap="square" lIns="0" tIns="0" rIns="0" bIns="0" rtlCol="0" anchor="t"/>
          <a:lstStyle/>
          <a:p>
            <a:pPr indent="0" marL="0">
              <a:buNone/>
            </a:pPr>
            <a:r>
              <a:rPr lang="en-US" sz="1500" b="1" dirty="0">
                <a:solidFill>
                  <a:schemeClr val="tx2"/>
                </a:solidFill>
              </a:rPr>
              <a:t>5 sources</a:t>
            </a:r>
            <a:endParaRPr lang="en-US" sz="1500" dirty="0"/>
          </a:p>
        </p:txBody>
      </p:sp>
      <p:sp>
        <p:nvSpPr>
          <p:cNvPr id="6" name="text-45"/>
          <p:cNvSpPr txBox="1"/>
          <p:nvPr/>
        </p:nvSpPr>
        <p:spPr>
          <a:xfrm>
            <a:off x="685800" y="2240280"/>
            <a:ext cx="1371600" cy="731520"/>
          </a:xfrm>
          <a:prstGeom prst="rect">
            <a:avLst/>
          </a:prstGeom>
          <a:noFill/>
          <a:ln/>
        </p:spPr>
        <p:txBody>
          <a:bodyPr wrap="square" lIns="0" tIns="0" rIns="0" bIns="0" rtlCol="0" anchor="t"/>
          <a:lstStyle/>
          <a:p>
            <a:pPr indent="0" marL="0">
              <a:buNone/>
            </a:pPr>
            <a:r>
              <a:rPr lang="en-US" sz="1200" dirty="0">
                <a:solidFill>
                  <a:schemeClr val="accent5"/>
                </a:solidFill>
              </a:rPr>
              <a:t>Salesforce · Zendesk · Gmail · product · Stripe</a:t>
            </a:r>
            <a:endParaRPr lang="en-US" sz="1200" dirty="0"/>
          </a:p>
        </p:txBody>
      </p:sp>
      <p:sp>
        <p:nvSpPr>
          <p:cNvPr id="7" name="arrow-46"/>
          <p:cNvSpPr/>
          <p:nvPr/>
        </p:nvSpPr>
        <p:spPr>
          <a:xfrm>
            <a:off x="2221992" y="2354580"/>
            <a:ext cx="188915" cy="0"/>
          </a:xfrm>
          <a:prstGeom prst="line">
            <a:avLst/>
          </a:prstGeom>
          <a:noFill/>
          <a:ln w="19050">
            <a:solidFill>
              <a:schemeClr val="accent5"/>
            </a:solidFill>
            <a:prstDash val="solid"/>
            <a:tailEnd type="triangle"/>
          </a:ln>
        </p:spPr>
      </p:sp>
      <p:sp>
        <p:nvSpPr>
          <p:cNvPr id="8" name="card-47"/>
          <p:cNvSpPr/>
          <p:nvPr/>
        </p:nvSpPr>
        <p:spPr>
          <a:xfrm>
            <a:off x="2438339" y="1691640"/>
            <a:ext cx="1645920" cy="1325880"/>
          </a:xfrm>
          <a:prstGeom prst="roundRect">
            <a:avLst>
              <a:gd name="adj" fmla="val 5517"/>
            </a:avLst>
          </a:prstGeom>
          <a:solidFill>
            <a:schemeClr val="bg2"/>
          </a:solidFill>
          <a:ln w="12700">
            <a:solidFill>
              <a:schemeClr val="bg2"/>
            </a:solidFill>
            <a:prstDash val="solid"/>
          </a:ln>
        </p:spPr>
      </p:sp>
      <p:sp>
        <p:nvSpPr>
          <p:cNvPr id="9" name="text-48"/>
          <p:cNvSpPr txBox="1"/>
          <p:nvPr/>
        </p:nvSpPr>
        <p:spPr>
          <a:xfrm>
            <a:off x="2575499" y="1828800"/>
            <a:ext cx="1371600" cy="411480"/>
          </a:xfrm>
          <a:prstGeom prst="rect">
            <a:avLst/>
          </a:prstGeom>
          <a:noFill/>
          <a:ln/>
        </p:spPr>
        <p:txBody>
          <a:bodyPr wrap="square" lIns="0" tIns="0" rIns="0" bIns="0" rtlCol="0" anchor="t"/>
          <a:lstStyle/>
          <a:p>
            <a:pPr indent="0" marL="0">
              <a:buNone/>
            </a:pPr>
            <a:r>
              <a:rPr lang="en-US" sz="1500" b="1" dirty="0">
                <a:solidFill>
                  <a:schemeClr val="tx2"/>
                </a:solidFill>
              </a:rPr>
              <a:t>Landing zone</a:t>
            </a:r>
            <a:endParaRPr lang="en-US" sz="1500" dirty="0"/>
          </a:p>
        </p:txBody>
      </p:sp>
      <p:sp>
        <p:nvSpPr>
          <p:cNvPr id="10" name="text-49"/>
          <p:cNvSpPr txBox="1"/>
          <p:nvPr/>
        </p:nvSpPr>
        <p:spPr>
          <a:xfrm>
            <a:off x="2575499" y="2240280"/>
            <a:ext cx="1371600" cy="731520"/>
          </a:xfrm>
          <a:prstGeom prst="rect">
            <a:avLst/>
          </a:prstGeom>
          <a:noFill/>
          <a:ln/>
        </p:spPr>
        <p:txBody>
          <a:bodyPr wrap="square" lIns="0" tIns="0" rIns="0" bIns="0" rtlCol="0" anchor="t"/>
          <a:lstStyle/>
          <a:p>
            <a:pPr indent="0" marL="0">
              <a:buNone/>
            </a:pPr>
            <a:r>
              <a:rPr lang="en-US" sz="1200" dirty="0">
                <a:solidFill>
                  <a:schemeClr val="accent5"/>
                </a:solidFill>
              </a:rPr>
              <a:t>JSONL, partitioned by arrival date</a:t>
            </a:r>
            <a:endParaRPr lang="en-US" sz="1200" dirty="0"/>
          </a:p>
        </p:txBody>
      </p:sp>
      <p:sp>
        <p:nvSpPr>
          <p:cNvPr id="11" name="arrow-50"/>
          <p:cNvSpPr/>
          <p:nvPr/>
        </p:nvSpPr>
        <p:spPr>
          <a:xfrm>
            <a:off x="4111691" y="2354580"/>
            <a:ext cx="188915" cy="0"/>
          </a:xfrm>
          <a:prstGeom prst="line">
            <a:avLst/>
          </a:prstGeom>
          <a:noFill/>
          <a:ln w="19050">
            <a:solidFill>
              <a:schemeClr val="accent5"/>
            </a:solidFill>
            <a:prstDash val="solid"/>
            <a:tailEnd type="triangle"/>
          </a:ln>
        </p:spPr>
      </p:sp>
      <p:sp>
        <p:nvSpPr>
          <p:cNvPr id="12" name="card-51"/>
          <p:cNvSpPr/>
          <p:nvPr/>
        </p:nvSpPr>
        <p:spPr>
          <a:xfrm>
            <a:off x="4328038" y="1691640"/>
            <a:ext cx="1645920" cy="1325880"/>
          </a:xfrm>
          <a:prstGeom prst="roundRect">
            <a:avLst>
              <a:gd name="adj" fmla="val 5517"/>
            </a:avLst>
          </a:prstGeom>
          <a:solidFill>
            <a:schemeClr val="bg2"/>
          </a:solidFill>
          <a:ln w="12700">
            <a:solidFill>
              <a:schemeClr val="bg2"/>
            </a:solidFill>
            <a:prstDash val="solid"/>
          </a:ln>
        </p:spPr>
      </p:sp>
      <p:sp>
        <p:nvSpPr>
          <p:cNvPr id="13" name="text-52"/>
          <p:cNvSpPr txBox="1"/>
          <p:nvPr/>
        </p:nvSpPr>
        <p:spPr>
          <a:xfrm>
            <a:off x="4465198" y="1828800"/>
            <a:ext cx="1371600" cy="411480"/>
          </a:xfrm>
          <a:prstGeom prst="rect">
            <a:avLst/>
          </a:prstGeom>
          <a:noFill/>
          <a:ln/>
        </p:spPr>
        <p:txBody>
          <a:bodyPr wrap="square" lIns="0" tIns="0" rIns="0" bIns="0" rtlCol="0" anchor="t"/>
          <a:lstStyle/>
          <a:p>
            <a:pPr indent="0" marL="0">
              <a:buNone/>
            </a:pPr>
            <a:r>
              <a:rPr lang="en-US" sz="1500" b="1" dirty="0">
                <a:solidFill>
                  <a:schemeClr val="tx2"/>
                </a:solidFill>
              </a:rPr>
              <a:t>Ingest + identity</a:t>
            </a:r>
            <a:endParaRPr lang="en-US" sz="1500" dirty="0"/>
          </a:p>
        </p:txBody>
      </p:sp>
      <p:sp>
        <p:nvSpPr>
          <p:cNvPr id="14" name="text-53"/>
          <p:cNvSpPr txBox="1"/>
          <p:nvPr/>
        </p:nvSpPr>
        <p:spPr>
          <a:xfrm>
            <a:off x="4465198" y="2240280"/>
            <a:ext cx="1371600" cy="731520"/>
          </a:xfrm>
          <a:prstGeom prst="rect">
            <a:avLst/>
          </a:prstGeom>
          <a:noFill/>
          <a:ln/>
        </p:spPr>
        <p:txBody>
          <a:bodyPr wrap="square" lIns="0" tIns="0" rIns="0" bIns="0" rtlCol="0" anchor="t"/>
          <a:lstStyle/>
          <a:p>
            <a:pPr indent="0" marL="0">
              <a:buNone/>
            </a:pPr>
            <a:r>
              <a:rPr lang="en-US" sz="1200" dirty="0">
                <a:solidFill>
                  <a:schemeClr val="accent5"/>
                </a:solidFill>
              </a:rPr>
              <a:t>dedupe, UTC, schema drift, match to accounts</a:t>
            </a:r>
            <a:endParaRPr lang="en-US" sz="1200" dirty="0"/>
          </a:p>
        </p:txBody>
      </p:sp>
      <p:sp>
        <p:nvSpPr>
          <p:cNvPr id="15" name="arrow-54"/>
          <p:cNvSpPr/>
          <p:nvPr/>
        </p:nvSpPr>
        <p:spPr>
          <a:xfrm>
            <a:off x="6001390" y="2354580"/>
            <a:ext cx="188915" cy="0"/>
          </a:xfrm>
          <a:prstGeom prst="line">
            <a:avLst/>
          </a:prstGeom>
          <a:noFill/>
          <a:ln w="19050">
            <a:solidFill>
              <a:schemeClr val="accent5"/>
            </a:solidFill>
            <a:prstDash val="solid"/>
            <a:tailEnd type="triangle"/>
          </a:ln>
        </p:spPr>
      </p:sp>
      <p:sp>
        <p:nvSpPr>
          <p:cNvPr id="16" name="card-55"/>
          <p:cNvSpPr/>
          <p:nvPr/>
        </p:nvSpPr>
        <p:spPr>
          <a:xfrm>
            <a:off x="6217737" y="1691640"/>
            <a:ext cx="1645920" cy="1325880"/>
          </a:xfrm>
          <a:prstGeom prst="roundRect">
            <a:avLst>
              <a:gd name="adj" fmla="val 5517"/>
            </a:avLst>
          </a:prstGeom>
          <a:solidFill>
            <a:schemeClr val="tx2"/>
          </a:solidFill>
          <a:ln w="12700">
            <a:solidFill>
              <a:schemeClr val="tx2"/>
            </a:solidFill>
            <a:prstDash val="solid"/>
          </a:ln>
        </p:spPr>
      </p:sp>
      <p:sp>
        <p:nvSpPr>
          <p:cNvPr id="17" name="text-56"/>
          <p:cNvSpPr txBox="1"/>
          <p:nvPr/>
        </p:nvSpPr>
        <p:spPr>
          <a:xfrm>
            <a:off x="6354897" y="1828800"/>
            <a:ext cx="1371600" cy="411480"/>
          </a:xfrm>
          <a:prstGeom prst="rect">
            <a:avLst/>
          </a:prstGeom>
          <a:noFill/>
          <a:ln/>
        </p:spPr>
        <p:txBody>
          <a:bodyPr wrap="square" lIns="0" tIns="0" rIns="0" bIns="0" rtlCol="0" anchor="t"/>
          <a:lstStyle/>
          <a:p>
            <a:pPr indent="0" marL="0">
              <a:buNone/>
            </a:pPr>
            <a:r>
              <a:rPr lang="en-US" sz="1500" b="1" dirty="0">
                <a:solidFill>
                  <a:schemeClr val="bg1"/>
                </a:solidFill>
              </a:rPr>
              <a:t>Postgres 16</a:t>
            </a:r>
            <a:endParaRPr lang="en-US" sz="1500" dirty="0"/>
          </a:p>
        </p:txBody>
      </p:sp>
      <p:sp>
        <p:nvSpPr>
          <p:cNvPr id="18" name="text-57"/>
          <p:cNvSpPr txBox="1"/>
          <p:nvPr/>
        </p:nvSpPr>
        <p:spPr>
          <a:xfrm>
            <a:off x="6354897" y="2240280"/>
            <a:ext cx="1371600" cy="731520"/>
          </a:xfrm>
          <a:prstGeom prst="rect">
            <a:avLst/>
          </a:prstGeom>
          <a:noFill/>
          <a:ln/>
        </p:spPr>
        <p:txBody>
          <a:bodyPr wrap="square" lIns="0" tIns="0" rIns="0" bIns="0" rtlCol="0" anchor="t"/>
          <a:lstStyle/>
          <a:p>
            <a:pPr indent="0" marL="0">
              <a:buNone/>
            </a:pPr>
            <a:r>
              <a:rPr lang="en-US" sz="1200" dirty="0">
                <a:solidFill>
                  <a:schemeClr val="accent6"/>
                </a:solidFill>
              </a:rPr>
              <a:t>RLS on every tenant table</a:t>
            </a:r>
            <a:endParaRPr lang="en-US" sz="1200" dirty="0"/>
          </a:p>
        </p:txBody>
      </p:sp>
      <p:sp>
        <p:nvSpPr>
          <p:cNvPr id="19" name="arrow-58"/>
          <p:cNvSpPr/>
          <p:nvPr/>
        </p:nvSpPr>
        <p:spPr>
          <a:xfrm>
            <a:off x="7891089" y="2354580"/>
            <a:ext cx="188915" cy="0"/>
          </a:xfrm>
          <a:prstGeom prst="line">
            <a:avLst/>
          </a:prstGeom>
          <a:noFill/>
          <a:ln w="19050">
            <a:solidFill>
              <a:schemeClr val="accent5"/>
            </a:solidFill>
            <a:prstDash val="solid"/>
            <a:tailEnd type="triangle"/>
          </a:ln>
        </p:spPr>
      </p:sp>
      <p:sp>
        <p:nvSpPr>
          <p:cNvPr id="20" name="card-59"/>
          <p:cNvSpPr/>
          <p:nvPr/>
        </p:nvSpPr>
        <p:spPr>
          <a:xfrm>
            <a:off x="8107436" y="1691640"/>
            <a:ext cx="1645920" cy="1325880"/>
          </a:xfrm>
          <a:prstGeom prst="roundRect">
            <a:avLst>
              <a:gd name="adj" fmla="val 5517"/>
            </a:avLst>
          </a:prstGeom>
          <a:solidFill>
            <a:schemeClr val="tx2"/>
          </a:solidFill>
          <a:ln w="12700">
            <a:solidFill>
              <a:schemeClr val="tx2"/>
            </a:solidFill>
            <a:prstDash val="solid"/>
          </a:ln>
        </p:spPr>
      </p:sp>
      <p:sp>
        <p:nvSpPr>
          <p:cNvPr id="21" name="text-60"/>
          <p:cNvSpPr txBox="1"/>
          <p:nvPr/>
        </p:nvSpPr>
        <p:spPr>
          <a:xfrm>
            <a:off x="8244596" y="1828800"/>
            <a:ext cx="1371600" cy="411480"/>
          </a:xfrm>
          <a:prstGeom prst="rect">
            <a:avLst/>
          </a:prstGeom>
          <a:noFill/>
          <a:ln/>
        </p:spPr>
        <p:txBody>
          <a:bodyPr wrap="square" lIns="0" tIns="0" rIns="0" bIns="0" rtlCol="0" anchor="t"/>
          <a:lstStyle/>
          <a:p>
            <a:pPr indent="0" marL="0">
              <a:buNone/>
            </a:pPr>
            <a:r>
              <a:rPr lang="en-US" sz="1500" b="1" dirty="0">
                <a:solidFill>
                  <a:schemeClr val="bg1"/>
                </a:solidFill>
              </a:rPr>
              <a:t>Nightly agent run</a:t>
            </a:r>
            <a:endParaRPr lang="en-US" sz="1500" dirty="0"/>
          </a:p>
        </p:txBody>
      </p:sp>
      <p:sp>
        <p:nvSpPr>
          <p:cNvPr id="22" name="text-61"/>
          <p:cNvSpPr txBox="1"/>
          <p:nvPr/>
        </p:nvSpPr>
        <p:spPr>
          <a:xfrm>
            <a:off x="8244596" y="2240280"/>
            <a:ext cx="1371600" cy="731520"/>
          </a:xfrm>
          <a:prstGeom prst="rect">
            <a:avLst/>
          </a:prstGeom>
          <a:noFill/>
          <a:ln/>
        </p:spPr>
        <p:txBody>
          <a:bodyPr wrap="square" lIns="0" tIns="0" rIns="0" bIns="0" rtlCol="0" anchor="t"/>
          <a:lstStyle/>
          <a:p>
            <a:pPr indent="0" marL="0">
              <a:buNone/>
            </a:pPr>
            <a:r>
              <a:rPr lang="en-US" sz="1200" dirty="0">
                <a:solidFill>
                  <a:schemeClr val="accent6"/>
                </a:solidFill>
              </a:rPr>
              <a:t>features → model → priority → diff → briefs</a:t>
            </a:r>
            <a:endParaRPr lang="en-US" sz="1200" dirty="0"/>
          </a:p>
        </p:txBody>
      </p:sp>
      <p:sp>
        <p:nvSpPr>
          <p:cNvPr id="23" name="arrow-62"/>
          <p:cNvSpPr/>
          <p:nvPr/>
        </p:nvSpPr>
        <p:spPr>
          <a:xfrm>
            <a:off x="9780788" y="2354580"/>
            <a:ext cx="188915" cy="0"/>
          </a:xfrm>
          <a:prstGeom prst="line">
            <a:avLst/>
          </a:prstGeom>
          <a:noFill/>
          <a:ln w="19050">
            <a:solidFill>
              <a:schemeClr val="accent5"/>
            </a:solidFill>
            <a:prstDash val="solid"/>
            <a:tailEnd type="triangle"/>
          </a:ln>
        </p:spPr>
      </p:sp>
      <p:sp>
        <p:nvSpPr>
          <p:cNvPr id="24" name="card-63"/>
          <p:cNvSpPr/>
          <p:nvPr/>
        </p:nvSpPr>
        <p:spPr>
          <a:xfrm>
            <a:off x="9997135" y="1691640"/>
            <a:ext cx="1645920" cy="1325880"/>
          </a:xfrm>
          <a:prstGeom prst="roundRect">
            <a:avLst>
              <a:gd name="adj" fmla="val 5517"/>
            </a:avLst>
          </a:prstGeom>
          <a:solidFill>
            <a:schemeClr val="bg2"/>
          </a:solidFill>
          <a:ln w="12700">
            <a:solidFill>
              <a:schemeClr val="bg2"/>
            </a:solidFill>
            <a:prstDash val="solid"/>
          </a:ln>
        </p:spPr>
      </p:sp>
      <p:sp>
        <p:nvSpPr>
          <p:cNvPr id="25" name="text-64"/>
          <p:cNvSpPr txBox="1"/>
          <p:nvPr/>
        </p:nvSpPr>
        <p:spPr>
          <a:xfrm>
            <a:off x="10134295" y="1828800"/>
            <a:ext cx="1371600" cy="411480"/>
          </a:xfrm>
          <a:prstGeom prst="rect">
            <a:avLst/>
          </a:prstGeom>
          <a:noFill/>
          <a:ln/>
        </p:spPr>
        <p:txBody>
          <a:bodyPr wrap="square" lIns="0" tIns="0" rIns="0" bIns="0" rtlCol="0" anchor="t"/>
          <a:lstStyle/>
          <a:p>
            <a:pPr indent="0" marL="0">
              <a:buNone/>
            </a:pPr>
            <a:r>
              <a:rPr lang="en-US" sz="1500" b="1" dirty="0">
                <a:solidFill>
                  <a:schemeClr val="tx2"/>
                </a:solidFill>
              </a:rPr>
              <a:t>FastAPI + React</a:t>
            </a:r>
            <a:endParaRPr lang="en-US" sz="1500" dirty="0"/>
          </a:p>
        </p:txBody>
      </p:sp>
      <p:sp>
        <p:nvSpPr>
          <p:cNvPr id="26" name="text-65"/>
          <p:cNvSpPr txBox="1"/>
          <p:nvPr/>
        </p:nvSpPr>
        <p:spPr>
          <a:xfrm>
            <a:off x="10134295" y="2240280"/>
            <a:ext cx="1371600" cy="731520"/>
          </a:xfrm>
          <a:prstGeom prst="rect">
            <a:avLst/>
          </a:prstGeom>
          <a:noFill/>
          <a:ln/>
        </p:spPr>
        <p:txBody>
          <a:bodyPr wrap="square" lIns="0" tIns="0" rIns="0" bIns="0" rtlCol="0" anchor="t"/>
          <a:lstStyle/>
          <a:p>
            <a:pPr indent="0" marL="0">
              <a:buNone/>
            </a:pPr>
            <a:r>
              <a:rPr lang="en-US" sz="1200" dirty="0">
                <a:solidFill>
                  <a:schemeClr val="accent5"/>
                </a:solidFill>
              </a:rPr>
              <a:t>call list, account, evidence, runs, model</a:t>
            </a:r>
            <a:endParaRPr lang="en-US" sz="1200" dirty="0"/>
          </a:p>
        </p:txBody>
      </p:sp>
      <p:graphicFrame>
        <p:nvGraphicFramePr>
          <p:cNvPr id="6" name="table-66"/>
          <p:cNvGraphicFramePr>
            <a:graphicFrameLocks noGrp="1"/>
          </p:cNvGraphicFramePr>
          <p:nvPr>
            <p:extLst>
              <p:ext uri="{D42A27DB-BD31-4B8C-83A1-F6EECF244321}">
                <p14:modId xmlns:p14="http://schemas.microsoft.com/office/powerpoint/2010/main" val="1579011935"/>
              </p:ext>
            </p:extLst>
          </p:nvPr>
        </p:nvGraphicFramePr>
        <p:xfrm>
          <a:off x="548640" y="3337560"/>
          <a:ext cx="6949440" cy="914400"/>
        </p:xfrm>
        <a:graphic>
          <a:graphicData uri="http://schemas.openxmlformats.org/drawingml/2006/table">
            <a:tbl>
              <a:tblPr/>
              <a:tblGrid>
                <a:gridCol w="1554480"/>
                <a:gridCol w="5394960"/>
              </a:tblGrid>
              <a:tr h="384048">
                <a:tc>
                  <a:txBody>
                    <a:bodyPr/>
                    <a:lstStyle/>
                    <a:p>
                      <a:pPr indent="0" marL="0">
                        <a:buNone/>
                      </a:pPr>
                      <a:r>
                        <a:rPr lang="en-US" sz="1400" b="1" dirty="0">
                          <a:solidFill>
                            <a:schemeClr val="tx2"/>
                          </a:solidFill>
                        </a:rPr>
                        <a:t>Backend</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Python 3.12, FastAPI, psycopg 3, pandas, scikit-learn</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384048">
                <a:tc>
                  <a:txBody>
                    <a:bodyPr/>
                    <a:lstStyle/>
                    <a:p>
                      <a:pPr indent="0" marL="0">
                        <a:buNone/>
                      </a:pPr>
                      <a:r>
                        <a:rPr lang="en-US" sz="1400" b="1" dirty="0">
                          <a:solidFill>
                            <a:schemeClr val="tx2"/>
                          </a:solidFill>
                        </a:rPr>
                        <a:t>Data</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Postgres 16: row-level security, plain ordered SQL migrations</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384048">
                <a:tc>
                  <a:txBody>
                    <a:bodyPr/>
                    <a:lstStyle/>
                    <a:p>
                      <a:pPr indent="0" marL="0">
                        <a:buNone/>
                      </a:pPr>
                      <a:r>
                        <a:rPr lang="en-US" sz="1400" b="1" dirty="0">
                          <a:solidFill>
                            <a:schemeClr val="tx2"/>
                          </a:solidFill>
                        </a:rPr>
                        <a:t>LLM</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OpenAI gpt-4o-mini behind a grounding validator; template fallback</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384048">
                <a:tc>
                  <a:txBody>
                    <a:bodyPr/>
                    <a:lstStyle/>
                    <a:p>
                      <a:pPr indent="0" marL="0">
                        <a:buNone/>
                      </a:pPr>
                      <a:r>
                        <a:rPr lang="en-US" sz="1400" b="1" dirty="0">
                          <a:solidFill>
                            <a:schemeClr val="tx2"/>
                          </a:solidFill>
                        </a:rPr>
                        <a:t>Frontend</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React + TypeScript (Vite), served by the API</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384048">
                <a:tc>
                  <a:txBody>
                    <a:bodyPr/>
                    <a:lstStyle/>
                    <a:p>
                      <a:pPr indent="0" marL="0">
                        <a:buNone/>
                      </a:pPr>
                      <a:r>
                        <a:rPr lang="en-US" sz="1400" b="1" dirty="0">
                          <a:solidFill>
                            <a:schemeClr val="tx2"/>
                          </a:solidFill>
                        </a:rPr>
                        <a:t>Runtime</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Docker Compose on one EC2: db · api · scheduler · caddy (TLS)</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384048">
                <a:tc>
                  <a:txBody>
                    <a:bodyPr/>
                    <a:lstStyle/>
                    <a:p>
                      <a:pPr indent="0" marL="0">
                        <a:buNone/>
                      </a:pPr>
                      <a:r>
                        <a:rPr lang="en-US" sz="1400" b="1" dirty="0">
                          <a:solidFill>
                            <a:schemeClr val="tx2"/>
                          </a:solidFill>
                        </a:rPr>
                        <a:t>Observability</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OpenTelemetry, JSON logs with trace_id, API audit table</a:t>
                      </a:r>
                      <a:endParaRPr lang="en-US" sz="14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bl>
          </a:graphicData>
        </a:graphic>
      </p:graphicFrame>
      <p:sp>
        <p:nvSpPr>
          <p:cNvPr id="28" name="card-67"/>
          <p:cNvSpPr/>
          <p:nvPr/>
        </p:nvSpPr>
        <p:spPr>
          <a:xfrm>
            <a:off x="7863840" y="3337560"/>
            <a:ext cx="3779215" cy="2304288"/>
          </a:xfrm>
          <a:prstGeom prst="roundRect">
            <a:avLst>
              <a:gd name="adj" fmla="val 3175"/>
            </a:avLst>
          </a:prstGeom>
          <a:solidFill>
            <a:schemeClr val="accent6"/>
          </a:solidFill>
          <a:ln w="12700">
            <a:solidFill>
              <a:schemeClr val="accent6"/>
            </a:solidFill>
            <a:prstDash val="solid"/>
          </a:ln>
        </p:spPr>
      </p:sp>
      <p:sp>
        <p:nvSpPr>
          <p:cNvPr id="29" name="text-68"/>
          <p:cNvSpPr txBox="1"/>
          <p:nvPr/>
        </p:nvSpPr>
        <p:spPr>
          <a:xfrm>
            <a:off x="8092440" y="3474720"/>
            <a:ext cx="3383280" cy="365760"/>
          </a:xfrm>
          <a:prstGeom prst="rect">
            <a:avLst/>
          </a:prstGeom>
          <a:noFill/>
          <a:ln/>
        </p:spPr>
        <p:txBody>
          <a:bodyPr wrap="square" lIns="0" tIns="0" rIns="0" bIns="0" rtlCol="0" anchor="t"/>
          <a:lstStyle/>
          <a:p>
            <a:pPr indent="0" marL="0">
              <a:buNone/>
            </a:pPr>
            <a:r>
              <a:rPr lang="en-US" sz="1600" b="1" dirty="0">
                <a:solidFill>
                  <a:schemeClr val="tx2"/>
                </a:solidFill>
              </a:rPr>
              <a:t>Why this shape</a:t>
            </a:r>
            <a:endParaRPr lang="en-US" sz="1600" dirty="0"/>
          </a:p>
        </p:txBody>
      </p:sp>
      <p:sp>
        <p:nvSpPr>
          <p:cNvPr id="30" name="text-69"/>
          <p:cNvSpPr txBox="1"/>
          <p:nvPr/>
        </p:nvSpPr>
        <p:spPr>
          <a:xfrm>
            <a:off x="8092440" y="3886200"/>
            <a:ext cx="3383280" cy="16916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The decision is weekly, so a batch run fits; no stream to operate</a:t>
            </a:r>
            <a:endParaRPr lang="en-US" sz="1400" dirty="0"/>
          </a:p>
          <a:p>
            <a:pPr marL="177800" indent="-177800">
              <a:spcAft>
                <a:spcPts val="500"/>
              </a:spcAft>
              <a:buSzPct val="100000"/>
              <a:buChar char="•"/>
            </a:pPr>
            <a:r>
              <a:rPr lang="en-US" sz="1400" dirty="0">
                <a:solidFill>
                  <a:schemeClr val="tx1"/>
                </a:solidFill>
              </a:rPr>
              <a:t>One database keeps scores, evidence and audit joinable</a:t>
            </a:r>
            <a:endParaRPr lang="en-US" sz="1400" dirty="0"/>
          </a:p>
          <a:p>
            <a:pPr marL="177800" indent="-177800">
              <a:spcAft>
                <a:spcPts val="500"/>
              </a:spcAft>
              <a:buSzPct val="100000"/>
              <a:buChar char="•"/>
            </a:pPr>
            <a:r>
              <a:rPr lang="en-US" sz="1400" dirty="0">
                <a:solidFill>
                  <a:schemeClr val="tx1"/>
                </a:solidFill>
              </a:rPr>
              <a:t>Nothing AWS-specific: the same compose file runs anywhere</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Messy data, handled on purpose</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Synthetic, but generated from a hidden weekly health process, so outcomes are learnable and the mess is realistic</a:t>
            </a:r>
            <a:endParaRPr lang="en-US" sz="1600" dirty="0"/>
          </a:p>
        </p:txBody>
      </p:sp>
      <p:sp>
        <p:nvSpPr>
          <p:cNvPr id="4" name="card-70"/>
          <p:cNvSpPr/>
          <p:nvPr/>
        </p:nvSpPr>
        <p:spPr>
          <a:xfrm>
            <a:off x="548640" y="1645920"/>
            <a:ext cx="2514600" cy="914400"/>
          </a:xfrm>
          <a:prstGeom prst="roundRect">
            <a:avLst>
              <a:gd name="adj" fmla="val 8000"/>
            </a:avLst>
          </a:prstGeom>
          <a:solidFill>
            <a:schemeClr val="bg2"/>
          </a:solidFill>
          <a:ln w="12700">
            <a:solidFill>
              <a:schemeClr val="bg2"/>
            </a:solidFill>
            <a:prstDash val="solid"/>
          </a:ln>
        </p:spPr>
      </p:sp>
      <p:sp>
        <p:nvSpPr>
          <p:cNvPr id="5" name="text-71"/>
          <p:cNvSpPr txBox="1"/>
          <p:nvPr/>
        </p:nvSpPr>
        <p:spPr>
          <a:xfrm>
            <a:off x="731520" y="1719072"/>
            <a:ext cx="2194560" cy="502920"/>
          </a:xfrm>
          <a:prstGeom prst="rect">
            <a:avLst/>
          </a:prstGeom>
          <a:noFill/>
          <a:ln/>
        </p:spPr>
        <p:txBody>
          <a:bodyPr wrap="square" lIns="0" tIns="0" rIns="0" bIns="0" rtlCol="0" anchor="t"/>
          <a:lstStyle/>
          <a:p>
            <a:pPr indent="0" marL="0">
              <a:buNone/>
            </a:pPr>
            <a:r>
              <a:rPr lang="en-US" sz="2600" b="1" dirty="0">
                <a:solidFill>
                  <a:schemeClr val="tx2"/>
                </a:solidFill>
              </a:rPr>
              <a:t>1.19M</a:t>
            </a:r>
            <a:endParaRPr lang="en-US" sz="2600" dirty="0"/>
          </a:p>
        </p:txBody>
      </p:sp>
      <p:sp>
        <p:nvSpPr>
          <p:cNvPr id="6" name="text-72"/>
          <p:cNvSpPr txBox="1"/>
          <p:nvPr/>
        </p:nvSpPr>
        <p:spPr>
          <a:xfrm>
            <a:off x="731520" y="2194560"/>
            <a:ext cx="2194560" cy="320040"/>
          </a:xfrm>
          <a:prstGeom prst="rect">
            <a:avLst/>
          </a:prstGeom>
          <a:noFill/>
          <a:ln/>
        </p:spPr>
        <p:txBody>
          <a:bodyPr wrap="square" lIns="0" tIns="0" rIns="0" bIns="0" rtlCol="0" anchor="t"/>
          <a:lstStyle/>
          <a:p>
            <a:pPr indent="0" marL="0">
              <a:buNone/>
            </a:pPr>
            <a:r>
              <a:rPr lang="en-US" sz="1300" dirty="0">
                <a:solidFill>
                  <a:schemeClr val="accent5"/>
                </a:solidFill>
              </a:rPr>
              <a:t>raw records</a:t>
            </a:r>
            <a:endParaRPr lang="en-US" sz="1300" dirty="0"/>
          </a:p>
        </p:txBody>
      </p:sp>
      <p:sp>
        <p:nvSpPr>
          <p:cNvPr id="7" name="card-73"/>
          <p:cNvSpPr/>
          <p:nvPr/>
        </p:nvSpPr>
        <p:spPr>
          <a:xfrm>
            <a:off x="548640" y="2724912"/>
            <a:ext cx="2514600" cy="914400"/>
          </a:xfrm>
          <a:prstGeom prst="roundRect">
            <a:avLst>
              <a:gd name="adj" fmla="val 8000"/>
            </a:avLst>
          </a:prstGeom>
          <a:solidFill>
            <a:schemeClr val="bg2"/>
          </a:solidFill>
          <a:ln w="12700">
            <a:solidFill>
              <a:schemeClr val="bg2"/>
            </a:solidFill>
            <a:prstDash val="solid"/>
          </a:ln>
        </p:spPr>
      </p:sp>
      <p:sp>
        <p:nvSpPr>
          <p:cNvPr id="8" name="text-74"/>
          <p:cNvSpPr txBox="1"/>
          <p:nvPr/>
        </p:nvSpPr>
        <p:spPr>
          <a:xfrm>
            <a:off x="731520" y="2798064"/>
            <a:ext cx="2194560" cy="502920"/>
          </a:xfrm>
          <a:prstGeom prst="rect">
            <a:avLst/>
          </a:prstGeom>
          <a:noFill/>
          <a:ln/>
        </p:spPr>
        <p:txBody>
          <a:bodyPr wrap="square" lIns="0" tIns="0" rIns="0" bIns="0" rtlCol="0" anchor="t"/>
          <a:lstStyle/>
          <a:p>
            <a:pPr indent="0" marL="0">
              <a:buNone/>
            </a:pPr>
            <a:r>
              <a:rPr lang="en-US" sz="2600" b="1" dirty="0">
                <a:solidFill>
                  <a:schemeClr val="tx2"/>
                </a:solidFill>
              </a:rPr>
              <a:t>5,000</a:t>
            </a:r>
            <a:endParaRPr lang="en-US" sz="2600" dirty="0"/>
          </a:p>
        </p:txBody>
      </p:sp>
      <p:sp>
        <p:nvSpPr>
          <p:cNvPr id="9" name="text-75"/>
          <p:cNvSpPr txBox="1"/>
          <p:nvPr/>
        </p:nvSpPr>
        <p:spPr>
          <a:xfrm>
            <a:off x="731520" y="3273552"/>
            <a:ext cx="2194560" cy="320040"/>
          </a:xfrm>
          <a:prstGeom prst="rect">
            <a:avLst/>
          </a:prstGeom>
          <a:noFill/>
          <a:ln/>
        </p:spPr>
        <p:txBody>
          <a:bodyPr wrap="square" lIns="0" tIns="0" rIns="0" bIns="0" rtlCol="0" anchor="t"/>
          <a:lstStyle/>
          <a:p>
            <a:pPr indent="0" marL="0">
              <a:buNone/>
            </a:pPr>
            <a:r>
              <a:rPr lang="en-US" sz="1300" dirty="0">
                <a:solidFill>
                  <a:schemeClr val="accent5"/>
                </a:solidFill>
              </a:rPr>
              <a:t>accounts</a:t>
            </a:r>
            <a:endParaRPr lang="en-US" sz="1300" dirty="0"/>
          </a:p>
        </p:txBody>
      </p:sp>
      <p:sp>
        <p:nvSpPr>
          <p:cNvPr id="10" name="card-76"/>
          <p:cNvSpPr/>
          <p:nvPr/>
        </p:nvSpPr>
        <p:spPr>
          <a:xfrm>
            <a:off x="548640" y="3803904"/>
            <a:ext cx="2514600" cy="914400"/>
          </a:xfrm>
          <a:prstGeom prst="roundRect">
            <a:avLst>
              <a:gd name="adj" fmla="val 8000"/>
            </a:avLst>
          </a:prstGeom>
          <a:solidFill>
            <a:schemeClr val="bg2"/>
          </a:solidFill>
          <a:ln w="12700">
            <a:solidFill>
              <a:schemeClr val="bg2"/>
            </a:solidFill>
            <a:prstDash val="solid"/>
          </a:ln>
        </p:spPr>
      </p:sp>
      <p:sp>
        <p:nvSpPr>
          <p:cNvPr id="11" name="text-77"/>
          <p:cNvSpPr txBox="1"/>
          <p:nvPr/>
        </p:nvSpPr>
        <p:spPr>
          <a:xfrm>
            <a:off x="731520" y="3877056"/>
            <a:ext cx="2194560" cy="502920"/>
          </a:xfrm>
          <a:prstGeom prst="rect">
            <a:avLst/>
          </a:prstGeom>
          <a:noFill/>
          <a:ln/>
        </p:spPr>
        <p:txBody>
          <a:bodyPr wrap="square" lIns="0" tIns="0" rIns="0" bIns="0" rtlCol="0" anchor="t"/>
          <a:lstStyle/>
          <a:p>
            <a:pPr indent="0" marL="0">
              <a:buNone/>
            </a:pPr>
            <a:r>
              <a:rPr lang="en-US" sz="2600" b="1" dirty="0">
                <a:solidFill>
                  <a:schemeClr val="tx2"/>
                </a:solidFill>
              </a:rPr>
              <a:t>3</a:t>
            </a:r>
            <a:endParaRPr lang="en-US" sz="2600" dirty="0"/>
          </a:p>
        </p:txBody>
      </p:sp>
      <p:sp>
        <p:nvSpPr>
          <p:cNvPr id="12" name="text-78"/>
          <p:cNvSpPr txBox="1"/>
          <p:nvPr/>
        </p:nvSpPr>
        <p:spPr>
          <a:xfrm>
            <a:off x="731520" y="4352544"/>
            <a:ext cx="2194560" cy="320040"/>
          </a:xfrm>
          <a:prstGeom prst="rect">
            <a:avLst/>
          </a:prstGeom>
          <a:noFill/>
          <a:ln/>
        </p:spPr>
        <p:txBody>
          <a:bodyPr wrap="square" lIns="0" tIns="0" rIns="0" bIns="0" rtlCol="0" anchor="t"/>
          <a:lstStyle/>
          <a:p>
            <a:pPr indent="0" marL="0">
              <a:buNone/>
            </a:pPr>
            <a:r>
              <a:rPr lang="en-US" sz="1300" dirty="0">
                <a:solidFill>
                  <a:schemeClr val="accent5"/>
                </a:solidFill>
              </a:rPr>
              <a:t>companies, 3 years</a:t>
            </a:r>
            <a:endParaRPr lang="en-US" sz="1300" dirty="0"/>
          </a:p>
        </p:txBody>
      </p:sp>
      <p:sp>
        <p:nvSpPr>
          <p:cNvPr id="13" name="card-79"/>
          <p:cNvSpPr/>
          <p:nvPr/>
        </p:nvSpPr>
        <p:spPr>
          <a:xfrm>
            <a:off x="548640" y="4882896"/>
            <a:ext cx="2514600" cy="914400"/>
          </a:xfrm>
          <a:prstGeom prst="roundRect">
            <a:avLst>
              <a:gd name="adj" fmla="val 8000"/>
            </a:avLst>
          </a:prstGeom>
          <a:solidFill>
            <a:schemeClr val="bg2"/>
          </a:solidFill>
          <a:ln w="12700">
            <a:solidFill>
              <a:schemeClr val="bg2"/>
            </a:solidFill>
            <a:prstDash val="solid"/>
          </a:ln>
        </p:spPr>
      </p:sp>
      <p:sp>
        <p:nvSpPr>
          <p:cNvPr id="14" name="text-80"/>
          <p:cNvSpPr txBox="1"/>
          <p:nvPr/>
        </p:nvSpPr>
        <p:spPr>
          <a:xfrm>
            <a:off x="731520" y="4956048"/>
            <a:ext cx="2194560" cy="502920"/>
          </a:xfrm>
          <a:prstGeom prst="rect">
            <a:avLst/>
          </a:prstGeom>
          <a:noFill/>
          <a:ln/>
        </p:spPr>
        <p:txBody>
          <a:bodyPr wrap="square" lIns="0" tIns="0" rIns="0" bIns="0" rtlCol="0" anchor="t"/>
          <a:lstStyle/>
          <a:p>
            <a:pPr indent="0" marL="0">
              <a:buNone/>
            </a:pPr>
            <a:r>
              <a:rPr lang="en-US" sz="2600" b="1" dirty="0">
                <a:solidFill>
                  <a:schemeClr val="tx2"/>
                </a:solidFill>
              </a:rPr>
              <a:t>956</a:t>
            </a:r>
            <a:endParaRPr lang="en-US" sz="2600" dirty="0"/>
          </a:p>
        </p:txBody>
      </p:sp>
      <p:sp>
        <p:nvSpPr>
          <p:cNvPr id="15" name="text-81"/>
          <p:cNvSpPr txBox="1"/>
          <p:nvPr/>
        </p:nvSpPr>
        <p:spPr>
          <a:xfrm>
            <a:off x="731520" y="5431536"/>
            <a:ext cx="2194560" cy="320040"/>
          </a:xfrm>
          <a:prstGeom prst="rect">
            <a:avLst/>
          </a:prstGeom>
          <a:noFill/>
          <a:ln/>
        </p:spPr>
        <p:txBody>
          <a:bodyPr wrap="square" lIns="0" tIns="0" rIns="0" bIns="0" rtlCol="0" anchor="t"/>
          <a:lstStyle/>
          <a:p>
            <a:pPr indent="0" marL="0">
              <a:buNone/>
            </a:pPr>
            <a:r>
              <a:rPr lang="en-US" sz="1300" dirty="0">
                <a:solidFill>
                  <a:schemeClr val="accent5"/>
                </a:solidFill>
              </a:rPr>
              <a:t>bad lines rejected with a reason</a:t>
            </a:r>
            <a:endParaRPr lang="en-US" sz="1300" dirty="0"/>
          </a:p>
        </p:txBody>
      </p:sp>
      <p:graphicFrame>
        <p:nvGraphicFramePr>
          <p:cNvPr id="7" name="table-82"/>
          <p:cNvGraphicFramePr>
            <a:graphicFrameLocks noGrp="1"/>
          </p:cNvGraphicFramePr>
          <p:nvPr>
            <p:extLst>
              <p:ext uri="{D42A27DB-BD31-4B8C-83A1-F6EECF244321}">
                <p14:modId xmlns:p14="http://schemas.microsoft.com/office/powerpoint/2010/main" val="1579011935"/>
              </p:ext>
            </p:extLst>
          </p:nvPr>
        </p:nvGraphicFramePr>
        <p:xfrm>
          <a:off x="3337560" y="1645920"/>
          <a:ext cx="8305495" cy="914400"/>
        </p:xfrm>
        <a:graphic>
          <a:graphicData uri="http://schemas.openxmlformats.org/drawingml/2006/table">
            <a:tbl>
              <a:tblPr/>
              <a:tblGrid>
                <a:gridCol w="3291840"/>
                <a:gridCol w="5013655"/>
              </a:tblGrid>
              <a:tr h="384048">
                <a:tc>
                  <a:txBody>
                    <a:bodyPr/>
                    <a:lstStyle/>
                    <a:p>
                      <a:pPr indent="0" marL="0">
                        <a:buNone/>
                      </a:pPr>
                      <a:r>
                        <a:rPr lang="en-US" sz="1300" b="1" dirty="0">
                          <a:solidFill>
                            <a:schemeClr val="tx2"/>
                          </a:solidFill>
                        </a:rPr>
                        <a:t>What the data does</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accent6"/>
                    </a:solidFill>
                  </a:tcPr>
                </a:tc>
                <a:tc>
                  <a:txBody>
                    <a:bodyPr/>
                    <a:lstStyle/>
                    <a:p>
                      <a:pPr indent="0" marL="0">
                        <a:buNone/>
                      </a:pPr>
                      <a:r>
                        <a:rPr lang="en-US" sz="1300" b="1" dirty="0">
                          <a:solidFill>
                            <a:schemeClr val="tx2"/>
                          </a:solidFill>
                        </a:rPr>
                        <a:t>How Triage handles it</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accent6"/>
                    </a:solidFill>
                  </a:tcPr>
                </a:tc>
              </a:tr>
              <a:tr h="658368">
                <a:tc>
                  <a:txBody>
                    <a:bodyPr/>
                    <a:lstStyle/>
                    <a:p>
                      <a:pPr indent="0" marL="0">
                        <a:buNone/>
                      </a:pPr>
                      <a:r>
                        <a:rPr lang="en-US" sz="1300" dirty="0">
                          <a:solidFill>
                            <a:schemeClr val="tx1"/>
                          </a:solidFill>
                        </a:rPr>
                        <a:t>Duplicates: webhook retries, same email in two mailboxes</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Three-level idempotency: file, record hash, semantic key</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658368">
                <a:tc>
                  <a:txBody>
                    <a:bodyPr/>
                    <a:lstStyle/>
                    <a:p>
                      <a:pPr indent="0" marL="0">
                        <a:buNone/>
                      </a:pPr>
                      <a:r>
                        <a:rPr lang="en-US" sz="1300" dirty="0">
                          <a:solidFill>
                            <a:schemeClr val="tx1"/>
                          </a:solidFill>
                        </a:rPr>
                        <a:t>Late and out-of-order data (2-week telemetry outage backfilled)</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Files by arrival date; every row keeps arrived_at; features are point-in-time</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300" dirty="0">
                          <a:solidFill>
                            <a:schemeClr val="tx1"/>
                          </a:solidFill>
                        </a:rPr>
                        <a:t>5 timestamp conventions, 3 schema changes</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Per-source parsers normalise to UTC and one schema</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777240">
                <a:tc>
                  <a:txBody>
                    <a:bodyPr/>
                    <a:lstStyle/>
                    <a:p>
                      <a:pPr indent="0" marL="0">
                        <a:buNone/>
                      </a:pPr>
                      <a:r>
                        <a:rPr lang="en-US" sz="1300" dirty="0">
                          <a:solidFill>
                            <a:schemeClr val="tx1"/>
                          </a:solidFill>
                        </a:rPr>
                        <a:t>IDs that don't match across systems</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Match cascade (explicit id → email → domain → fuzzy ≥92); else unresolved, never guessed. 2 wrong out of ~14k checked</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300" dirty="0">
                          <a:solidFill>
                            <a:schemeClr val="tx1"/>
                          </a:solidFill>
                        </a:rPr>
                        <a:t>Stale CRM renewal dates (~15%)</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Fall back to contract anniversary, flagged in the UI</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300" dirty="0">
                          <a:solidFill>
                            <a:schemeClr val="tx1"/>
                          </a:solidFill>
                        </a:rPr>
                        <a:t>Sparse accounts with no usage or contact</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300" dirty="0">
                          <a:solidFill>
                            <a:schemeClr val="tx1"/>
                          </a:solidFill>
                        </a:rPr>
                        <a:t>Shown as Grey (can't see), never scored as healthy</a:t>
                      </a:r>
                      <a:endParaRPr lang="en-US" sz="1300" dirty="0"/>
                    </a:p>
                  </a:txBody>
                  <a:tcPr marL="101600" marR="1016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Data model</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26 tables in five layers. tenant_id on every row; facts are append-only, decisions reference the run that made them</a:t>
            </a:r>
            <a:endParaRPr lang="en-US" sz="1600" dirty="0"/>
          </a:p>
        </p:txBody>
      </p:sp>
      <p:sp>
        <p:nvSpPr>
          <p:cNvPr id="4" name="card-83"/>
          <p:cNvSpPr/>
          <p:nvPr/>
        </p:nvSpPr>
        <p:spPr>
          <a:xfrm>
            <a:off x="548640" y="1691640"/>
            <a:ext cx="2057400" cy="2651760"/>
          </a:xfrm>
          <a:prstGeom prst="roundRect">
            <a:avLst>
              <a:gd name="adj" fmla="val 3556"/>
            </a:avLst>
          </a:prstGeom>
          <a:solidFill>
            <a:schemeClr val="bg2"/>
          </a:solidFill>
          <a:ln w="12700">
            <a:solidFill>
              <a:schemeClr val="bg2"/>
            </a:solidFill>
            <a:prstDash val="solid"/>
          </a:ln>
        </p:spPr>
      </p:sp>
      <p:sp>
        <p:nvSpPr>
          <p:cNvPr id="5" name="text-84"/>
          <p:cNvSpPr txBox="1"/>
          <p:nvPr/>
        </p:nvSpPr>
        <p:spPr>
          <a:xfrm>
            <a:off x="713232" y="1828800"/>
            <a:ext cx="1728216" cy="365760"/>
          </a:xfrm>
          <a:prstGeom prst="rect">
            <a:avLst/>
          </a:prstGeom>
          <a:noFill/>
          <a:ln/>
        </p:spPr>
        <p:txBody>
          <a:bodyPr wrap="square" lIns="0" tIns="0" rIns="0" bIns="0" rtlCol="0" anchor="t"/>
          <a:lstStyle/>
          <a:p>
            <a:pPr indent="0" marL="0">
              <a:buNone/>
            </a:pPr>
            <a:r>
              <a:rPr lang="en-US" sz="1600" b="1" dirty="0">
                <a:solidFill>
                  <a:schemeClr val="tx2"/>
                </a:solidFill>
              </a:rPr>
              <a:t>Raw</a:t>
            </a:r>
            <a:endParaRPr lang="en-US" sz="1600" dirty="0"/>
          </a:p>
        </p:txBody>
      </p:sp>
      <p:sp>
        <p:nvSpPr>
          <p:cNvPr id="6" name="text-85"/>
          <p:cNvSpPr txBox="1"/>
          <p:nvPr/>
        </p:nvSpPr>
        <p:spPr>
          <a:xfrm>
            <a:off x="713232" y="2240280"/>
            <a:ext cx="1728216" cy="196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landing_files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raw_records (sha256)</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rejected_records</a:t>
            </a:r>
            <a:endParaRPr lang="en-US" sz="1300" dirty="0"/>
          </a:p>
        </p:txBody>
      </p:sp>
      <p:sp>
        <p:nvSpPr>
          <p:cNvPr id="7" name="arrow-86"/>
          <p:cNvSpPr/>
          <p:nvPr/>
        </p:nvSpPr>
        <p:spPr>
          <a:xfrm>
            <a:off x="2624328" y="3017520"/>
            <a:ext cx="165278" cy="0"/>
          </a:xfrm>
          <a:prstGeom prst="line">
            <a:avLst/>
          </a:prstGeom>
          <a:noFill/>
          <a:ln w="19050">
            <a:solidFill>
              <a:schemeClr val="accent5"/>
            </a:solidFill>
            <a:prstDash val="solid"/>
            <a:tailEnd type="triangle"/>
          </a:ln>
        </p:spPr>
      </p:sp>
      <p:sp>
        <p:nvSpPr>
          <p:cNvPr id="8" name="card-87"/>
          <p:cNvSpPr/>
          <p:nvPr/>
        </p:nvSpPr>
        <p:spPr>
          <a:xfrm>
            <a:off x="2807894" y="1691640"/>
            <a:ext cx="2057400" cy="2651760"/>
          </a:xfrm>
          <a:prstGeom prst="roundRect">
            <a:avLst>
              <a:gd name="adj" fmla="val 3556"/>
            </a:avLst>
          </a:prstGeom>
          <a:solidFill>
            <a:schemeClr val="bg2"/>
          </a:solidFill>
          <a:ln w="12700">
            <a:solidFill>
              <a:schemeClr val="bg2"/>
            </a:solidFill>
            <a:prstDash val="solid"/>
          </a:ln>
        </p:spPr>
      </p:sp>
      <p:sp>
        <p:nvSpPr>
          <p:cNvPr id="9" name="text-88"/>
          <p:cNvSpPr txBox="1"/>
          <p:nvPr/>
        </p:nvSpPr>
        <p:spPr>
          <a:xfrm>
            <a:off x="2972486" y="1828800"/>
            <a:ext cx="1728216" cy="365760"/>
          </a:xfrm>
          <a:prstGeom prst="rect">
            <a:avLst/>
          </a:prstGeom>
          <a:noFill/>
          <a:ln/>
        </p:spPr>
        <p:txBody>
          <a:bodyPr wrap="square" lIns="0" tIns="0" rIns="0" bIns="0" rtlCol="0" anchor="t"/>
          <a:lstStyle/>
          <a:p>
            <a:pPr indent="0" marL="0">
              <a:buNone/>
            </a:pPr>
            <a:r>
              <a:rPr lang="en-US" sz="1600" b="1" dirty="0">
                <a:solidFill>
                  <a:schemeClr val="tx2"/>
                </a:solidFill>
              </a:rPr>
              <a:t>Normalised</a:t>
            </a:r>
            <a:endParaRPr lang="en-US" sz="1600" dirty="0"/>
          </a:p>
        </p:txBody>
      </p:sp>
      <p:sp>
        <p:nvSpPr>
          <p:cNvPr id="10" name="text-89"/>
          <p:cNvSpPr txBox="1"/>
          <p:nvPr/>
        </p:nvSpPr>
        <p:spPr>
          <a:xfrm>
            <a:off x="2972486" y="2240280"/>
            <a:ext cx="1728216" cy="196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crm_account_versions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accounts · crm_contacts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crm_opportunities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tickets · emails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usage_weekly</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billing_events</a:t>
            </a:r>
            <a:endParaRPr lang="en-US" sz="1300" dirty="0"/>
          </a:p>
        </p:txBody>
      </p:sp>
      <p:sp>
        <p:nvSpPr>
          <p:cNvPr id="11" name="arrow-90"/>
          <p:cNvSpPr/>
          <p:nvPr/>
        </p:nvSpPr>
        <p:spPr>
          <a:xfrm>
            <a:off x="4883582" y="3017520"/>
            <a:ext cx="165278" cy="0"/>
          </a:xfrm>
          <a:prstGeom prst="line">
            <a:avLst/>
          </a:prstGeom>
          <a:noFill/>
          <a:ln w="19050">
            <a:solidFill>
              <a:schemeClr val="accent5"/>
            </a:solidFill>
            <a:prstDash val="solid"/>
            <a:tailEnd type="triangle"/>
          </a:ln>
        </p:spPr>
      </p:sp>
      <p:sp>
        <p:nvSpPr>
          <p:cNvPr id="12" name="card-91"/>
          <p:cNvSpPr/>
          <p:nvPr/>
        </p:nvSpPr>
        <p:spPr>
          <a:xfrm>
            <a:off x="5067148" y="1691640"/>
            <a:ext cx="2057400" cy="2651760"/>
          </a:xfrm>
          <a:prstGeom prst="roundRect">
            <a:avLst>
              <a:gd name="adj" fmla="val 3556"/>
            </a:avLst>
          </a:prstGeom>
          <a:solidFill>
            <a:schemeClr val="bg2"/>
          </a:solidFill>
          <a:ln w="12700">
            <a:solidFill>
              <a:schemeClr val="bg2"/>
            </a:solidFill>
            <a:prstDash val="solid"/>
          </a:ln>
        </p:spPr>
      </p:sp>
      <p:sp>
        <p:nvSpPr>
          <p:cNvPr id="13" name="text-92"/>
          <p:cNvSpPr txBox="1"/>
          <p:nvPr/>
        </p:nvSpPr>
        <p:spPr>
          <a:xfrm>
            <a:off x="5231740" y="1828800"/>
            <a:ext cx="1728216" cy="365760"/>
          </a:xfrm>
          <a:prstGeom prst="rect">
            <a:avLst/>
          </a:prstGeom>
          <a:noFill/>
          <a:ln/>
        </p:spPr>
        <p:txBody>
          <a:bodyPr wrap="square" lIns="0" tIns="0" rIns="0" bIns="0" rtlCol="0" anchor="t"/>
          <a:lstStyle/>
          <a:p>
            <a:pPr indent="0" marL="0">
              <a:buNone/>
            </a:pPr>
            <a:r>
              <a:rPr lang="en-US" sz="1600" b="1" dirty="0">
                <a:solidFill>
                  <a:schemeClr val="tx2"/>
                </a:solidFill>
              </a:rPr>
              <a:t>Identity</a:t>
            </a:r>
            <a:endParaRPr lang="en-US" sz="1600" dirty="0"/>
          </a:p>
        </p:txBody>
      </p:sp>
      <p:sp>
        <p:nvSpPr>
          <p:cNvPr id="14" name="text-93"/>
          <p:cNvSpPr txBox="1"/>
          <p:nvPr/>
        </p:nvSpPr>
        <p:spPr>
          <a:xfrm>
            <a:off x="5231740" y="2240280"/>
            <a:ext cx="1728216" cy="196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identity_links</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method + confidence</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 evidence per link</a:t>
            </a:r>
            <a:endParaRPr lang="en-US" sz="1300" dirty="0"/>
          </a:p>
        </p:txBody>
      </p:sp>
      <p:sp>
        <p:nvSpPr>
          <p:cNvPr id="15" name="arrow-94"/>
          <p:cNvSpPr/>
          <p:nvPr/>
        </p:nvSpPr>
        <p:spPr>
          <a:xfrm>
            <a:off x="7142836" y="3017520"/>
            <a:ext cx="165278" cy="0"/>
          </a:xfrm>
          <a:prstGeom prst="line">
            <a:avLst/>
          </a:prstGeom>
          <a:noFill/>
          <a:ln w="19050">
            <a:solidFill>
              <a:schemeClr val="accent5"/>
            </a:solidFill>
            <a:prstDash val="solid"/>
            <a:tailEnd type="triangle"/>
          </a:ln>
        </p:spPr>
      </p:sp>
      <p:sp>
        <p:nvSpPr>
          <p:cNvPr id="16" name="card-95"/>
          <p:cNvSpPr/>
          <p:nvPr/>
        </p:nvSpPr>
        <p:spPr>
          <a:xfrm>
            <a:off x="7326401" y="1691640"/>
            <a:ext cx="2057400" cy="2651760"/>
          </a:xfrm>
          <a:prstGeom prst="roundRect">
            <a:avLst>
              <a:gd name="adj" fmla="val 3556"/>
            </a:avLst>
          </a:prstGeom>
          <a:solidFill>
            <a:schemeClr val="tx2"/>
          </a:solidFill>
          <a:ln w="12700">
            <a:solidFill>
              <a:schemeClr val="tx2"/>
            </a:solidFill>
            <a:prstDash val="solid"/>
          </a:ln>
        </p:spPr>
      </p:sp>
      <p:sp>
        <p:nvSpPr>
          <p:cNvPr id="17" name="text-96"/>
          <p:cNvSpPr txBox="1"/>
          <p:nvPr/>
        </p:nvSpPr>
        <p:spPr>
          <a:xfrm>
            <a:off x="7490993" y="1828800"/>
            <a:ext cx="1728216" cy="365760"/>
          </a:xfrm>
          <a:prstGeom prst="rect">
            <a:avLst/>
          </a:prstGeom>
          <a:noFill/>
          <a:ln/>
        </p:spPr>
        <p:txBody>
          <a:bodyPr wrap="square" lIns="0" tIns="0" rIns="0" bIns="0" rtlCol="0" anchor="t"/>
          <a:lstStyle/>
          <a:p>
            <a:pPr indent="0" marL="0">
              <a:buNone/>
            </a:pPr>
            <a:r>
              <a:rPr lang="en-US" sz="1600" b="1" dirty="0">
                <a:solidFill>
                  <a:schemeClr val="accent1"/>
                </a:solidFill>
              </a:rPr>
              <a:t>Decisions</a:t>
            </a:r>
            <a:endParaRPr lang="en-US" sz="1600" dirty="0"/>
          </a:p>
        </p:txBody>
      </p:sp>
      <p:sp>
        <p:nvSpPr>
          <p:cNvPr id="18" name="text-97"/>
          <p:cNvSpPr txBox="1"/>
          <p:nvPr/>
        </p:nvSpPr>
        <p:spPr>
          <a:xfrm>
            <a:off x="7490993" y="2240280"/>
            <a:ext cx="1728216" cy="196596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models</a:t>
            </a:r>
            <a:endParaRPr lang="en-US" sz="1300" dirty="0"/>
          </a:p>
          <a:p>
            <a:pPr indent="0" marL="0">
              <a:buNone/>
            </a:pPr>
            <a:r>
              <a:rPr lang="en-US" sz="1300" dirty="0">
                <a:solidFill>
                  <a:schemeClr val="bg1"/>
                </a:solidFill>
                <a:latin typeface="Calibri" pitchFamily="34" charset="0"/>
                <a:ea typeface="Calibri" pitchFamily="34" charset="-122"/>
                <a:cs typeface="Calibri" pitchFamily="34" charset="-120"/>
              </a:rPr>
              <a:t>agent_runs (steps, heartbeat)</a:t>
            </a:r>
            <a:endParaRPr lang="en-US" sz="1300" dirty="0"/>
          </a:p>
          <a:p>
            <a:pPr indent="0" marL="0">
              <a:buNone/>
            </a:pPr>
            <a:r>
              <a:rPr lang="en-US" sz="1300" dirty="0">
                <a:solidFill>
                  <a:schemeClr val="bg1"/>
                </a:solidFill>
                <a:latin typeface="Calibri" pitchFamily="34" charset="0"/>
                <a:ea typeface="Calibri" pitchFamily="34" charset="-122"/>
                <a:cs typeface="Calibri" pitchFamily="34" charset="-120"/>
              </a:rPr>
              <a:t>feature_snapshots</a:t>
            </a:r>
            <a:endParaRPr lang="en-US" sz="1300" dirty="0"/>
          </a:p>
          <a:p>
            <a:pPr indent="0" marL="0">
              <a:buNone/>
            </a:pPr>
            <a:r>
              <a:rPr lang="en-US" sz="1300" dirty="0">
                <a:solidFill>
                  <a:schemeClr val="bg1"/>
                </a:solidFill>
                <a:latin typeface="Calibri" pitchFamily="34" charset="0"/>
                <a:ea typeface="Calibri" pitchFamily="34" charset="-122"/>
                <a:cs typeface="Calibri" pitchFamily="34" charset="-120"/>
              </a:rPr>
              <a:t>account_scores</a:t>
            </a:r>
            <a:endParaRPr lang="en-US" sz="1300" dirty="0"/>
          </a:p>
          <a:p>
            <a:pPr indent="0" marL="0">
              <a:buNone/>
            </a:pPr>
            <a:r>
              <a:rPr lang="en-US" sz="1300" dirty="0">
                <a:solidFill>
                  <a:schemeClr val="bg1"/>
                </a:solidFill>
                <a:latin typeface="Calibri" pitchFamily="34" charset="0"/>
                <a:ea typeface="Calibri" pitchFamily="34" charset="-122"/>
                <a:cs typeface="Calibri" pitchFamily="34" charset="-120"/>
              </a:rPr>
              <a:t>briefs · outreach_drafts</a:t>
            </a:r>
            <a:endParaRPr lang="en-US" sz="1300" dirty="0"/>
          </a:p>
        </p:txBody>
      </p:sp>
      <p:sp>
        <p:nvSpPr>
          <p:cNvPr id="19" name="arrow-98"/>
          <p:cNvSpPr/>
          <p:nvPr/>
        </p:nvSpPr>
        <p:spPr>
          <a:xfrm>
            <a:off x="9402089" y="3017520"/>
            <a:ext cx="165278" cy="0"/>
          </a:xfrm>
          <a:prstGeom prst="line">
            <a:avLst/>
          </a:prstGeom>
          <a:noFill/>
          <a:ln w="19050">
            <a:solidFill>
              <a:schemeClr val="accent5"/>
            </a:solidFill>
            <a:prstDash val="solid"/>
            <a:tailEnd type="triangle"/>
          </a:ln>
        </p:spPr>
      </p:sp>
      <p:sp>
        <p:nvSpPr>
          <p:cNvPr id="20" name="card-99"/>
          <p:cNvSpPr/>
          <p:nvPr/>
        </p:nvSpPr>
        <p:spPr>
          <a:xfrm>
            <a:off x="9585655" y="1691640"/>
            <a:ext cx="2057400" cy="2651760"/>
          </a:xfrm>
          <a:prstGeom prst="roundRect">
            <a:avLst>
              <a:gd name="adj" fmla="val 3556"/>
            </a:avLst>
          </a:prstGeom>
          <a:solidFill>
            <a:schemeClr val="bg2"/>
          </a:solidFill>
          <a:ln w="12700">
            <a:solidFill>
              <a:schemeClr val="bg2"/>
            </a:solidFill>
            <a:prstDash val="solid"/>
          </a:ln>
        </p:spPr>
      </p:sp>
      <p:sp>
        <p:nvSpPr>
          <p:cNvPr id="21" name="text-100"/>
          <p:cNvSpPr txBox="1"/>
          <p:nvPr/>
        </p:nvSpPr>
        <p:spPr>
          <a:xfrm>
            <a:off x="9750247" y="1828800"/>
            <a:ext cx="1728216" cy="365760"/>
          </a:xfrm>
          <a:prstGeom prst="rect">
            <a:avLst/>
          </a:prstGeom>
          <a:noFill/>
          <a:ln/>
        </p:spPr>
        <p:txBody>
          <a:bodyPr wrap="square" lIns="0" tIns="0" rIns="0" bIns="0" rtlCol="0" anchor="t"/>
          <a:lstStyle/>
          <a:p>
            <a:pPr indent="0" marL="0">
              <a:buNone/>
            </a:pPr>
            <a:r>
              <a:rPr lang="en-US" sz="1600" b="1" dirty="0">
                <a:solidFill>
                  <a:schemeClr val="tx2"/>
                </a:solidFill>
              </a:rPr>
              <a:t>Audit</a:t>
            </a:r>
            <a:endParaRPr lang="en-US" sz="1600" dirty="0"/>
          </a:p>
        </p:txBody>
      </p:sp>
      <p:sp>
        <p:nvSpPr>
          <p:cNvPr id="22" name="text-101"/>
          <p:cNvSpPr txBox="1"/>
          <p:nvPr/>
        </p:nvSpPr>
        <p:spPr>
          <a:xfrm>
            <a:off x="9750247" y="2240280"/>
            <a:ext cx="1728216" cy="19659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audit_log (who did what)</a:t>
            </a:r>
            <a:endParaRPr lang="en-US" sz="1300" dirty="0"/>
          </a:p>
          <a:p>
            <a:pPr indent="0" marL="0">
              <a:buNone/>
            </a:pPr>
            <a:r>
              <a:rPr lang="en-US" sz="1300" dirty="0">
                <a:solidFill>
                  <a:schemeClr val="tx1"/>
                </a:solidFill>
                <a:latin typeface="Calibri" pitchFamily="34" charset="0"/>
                <a:ea typeface="Calibri" pitchFamily="34" charset="-122"/>
                <a:cs typeface="Calibri" pitchFamily="34" charset="-120"/>
              </a:rPr>
              <a:t>api_requests (user, trace_id, latency)</a:t>
            </a:r>
            <a:endParaRPr lang="en-US" sz="1300" dirty="0"/>
          </a:p>
        </p:txBody>
      </p:sp>
      <p:sp>
        <p:nvSpPr>
          <p:cNvPr id="23" name="badge-102"/>
          <p:cNvSpPr/>
          <p:nvPr/>
        </p:nvSpPr>
        <p:spPr>
          <a:xfrm>
            <a:off x="548640" y="4617720"/>
            <a:ext cx="384048" cy="384048"/>
          </a:xfrm>
          <a:prstGeom prst="ellipse">
            <a:avLst/>
          </a:prstGeom>
          <a:solidFill>
            <a:schemeClr val="accent1"/>
          </a:solidFill>
          <a:ln w="12700">
            <a:solidFill>
              <a:schemeClr val="accent1"/>
            </a:solidFill>
            <a:prstDash val="solid"/>
          </a:ln>
        </p:spPr>
      </p:sp>
      <p:sp>
        <p:nvSpPr>
          <p:cNvPr id="24" name="badgetext-103"/>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5" name="text-104"/>
          <p:cNvSpPr txBox="1"/>
          <p:nvPr/>
        </p:nvSpPr>
        <p:spPr>
          <a:xfrm>
            <a:off x="1051560" y="4617720"/>
            <a:ext cx="3108960" cy="384048"/>
          </a:xfrm>
          <a:prstGeom prst="rect">
            <a:avLst/>
          </a:prstGeom>
          <a:noFill/>
          <a:ln/>
        </p:spPr>
        <p:txBody>
          <a:bodyPr wrap="square" lIns="0" tIns="0" rIns="0" bIns="0" rtlCol="0" anchor="ctr"/>
          <a:lstStyle/>
          <a:p>
            <a:pPr indent="0" marL="0">
              <a:buNone/>
            </a:pPr>
            <a:r>
              <a:rPr lang="en-US" sz="1500" b="1" dirty="0">
                <a:solidFill>
                  <a:schemeClr val="tx2"/>
                </a:solidFill>
              </a:rPr>
              <a:t>Point in time</a:t>
            </a:r>
            <a:endParaRPr lang="en-US" sz="1500" dirty="0"/>
          </a:p>
        </p:txBody>
      </p:sp>
      <p:sp>
        <p:nvSpPr>
          <p:cNvPr id="26" name="text-105"/>
          <p:cNvSpPr txBox="1"/>
          <p:nvPr/>
        </p:nvSpPr>
        <p:spPr>
          <a:xfrm>
            <a:off x="1051560" y="5029200"/>
            <a:ext cx="3154680" cy="1005840"/>
          </a:xfrm>
          <a:prstGeom prst="rect">
            <a:avLst/>
          </a:prstGeom>
          <a:noFill/>
          <a:ln/>
        </p:spPr>
        <p:txBody>
          <a:bodyPr wrap="square" lIns="0" tIns="0" rIns="0" bIns="0" rtlCol="0" anchor="t"/>
          <a:lstStyle/>
          <a:p>
            <a:pPr indent="0" marL="0">
              <a:buNone/>
            </a:pPr>
            <a:r>
              <a:rPr lang="en-US" sz="1300" dirty="0">
                <a:solidFill>
                  <a:schemeClr val="tx1"/>
                </a:solidFill>
              </a:rPr>
              <a:t>Every normalised row keeps event time and arrived_at; CRM changes are stored as versions, never overwritten</a:t>
            </a:r>
            <a:endParaRPr lang="en-US" sz="1300" dirty="0"/>
          </a:p>
        </p:txBody>
      </p:sp>
      <p:sp>
        <p:nvSpPr>
          <p:cNvPr id="27" name="badge-106"/>
          <p:cNvSpPr/>
          <p:nvPr/>
        </p:nvSpPr>
        <p:spPr>
          <a:xfrm>
            <a:off x="4325112" y="4617720"/>
            <a:ext cx="384048" cy="384048"/>
          </a:xfrm>
          <a:prstGeom prst="ellipse">
            <a:avLst/>
          </a:prstGeom>
          <a:solidFill>
            <a:schemeClr val="accent1"/>
          </a:solidFill>
          <a:ln w="12700">
            <a:solidFill>
              <a:schemeClr val="accent1"/>
            </a:solidFill>
            <a:prstDash val="solid"/>
          </a:ln>
        </p:spPr>
      </p:sp>
      <p:sp>
        <p:nvSpPr>
          <p:cNvPr id="28" name="badgetext-107"/>
          <p:cNvSpPr txBox="1"/>
          <p:nvPr/>
        </p:nvSpPr>
        <p:spPr>
          <a:xfrm>
            <a:off x="4325112" y="46177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29" name="text-108"/>
          <p:cNvSpPr txBox="1"/>
          <p:nvPr/>
        </p:nvSpPr>
        <p:spPr>
          <a:xfrm>
            <a:off x="4828032" y="4617720"/>
            <a:ext cx="3108960" cy="384048"/>
          </a:xfrm>
          <a:prstGeom prst="rect">
            <a:avLst/>
          </a:prstGeom>
          <a:noFill/>
          <a:ln/>
        </p:spPr>
        <p:txBody>
          <a:bodyPr wrap="square" lIns="0" tIns="0" rIns="0" bIns="0" rtlCol="0" anchor="ctr"/>
          <a:lstStyle/>
          <a:p>
            <a:pPr indent="0" marL="0">
              <a:buNone/>
            </a:pPr>
            <a:r>
              <a:rPr lang="en-US" sz="1500" b="1" dirty="0">
                <a:solidFill>
                  <a:schemeClr val="tx2"/>
                </a:solidFill>
              </a:rPr>
              <a:t>Reproducible</a:t>
            </a:r>
            <a:endParaRPr lang="en-US" sz="1500" dirty="0"/>
          </a:p>
        </p:txBody>
      </p:sp>
      <p:sp>
        <p:nvSpPr>
          <p:cNvPr id="30" name="text-109"/>
          <p:cNvSpPr txBox="1"/>
          <p:nvPr/>
        </p:nvSpPr>
        <p:spPr>
          <a:xfrm>
            <a:off x="4828032" y="5029200"/>
            <a:ext cx="3154680" cy="1005840"/>
          </a:xfrm>
          <a:prstGeom prst="rect">
            <a:avLst/>
          </a:prstGeom>
          <a:noFill/>
          <a:ln/>
        </p:spPr>
        <p:txBody>
          <a:bodyPr wrap="square" lIns="0" tIns="0" rIns="0" bIns="0" rtlCol="0" anchor="t"/>
          <a:lstStyle/>
          <a:p>
            <a:pPr indent="0" marL="0">
              <a:buNone/>
            </a:pPr>
            <a:r>
              <a:rPr lang="en-US" sz="1300" dirty="0">
                <a:solidFill>
                  <a:schemeClr val="tx1"/>
                </a:solidFill>
              </a:rPr>
              <a:t>Each score row stores run_id and model_version; the run stores the exact feature values it used</a:t>
            </a:r>
            <a:endParaRPr lang="en-US" sz="1300" dirty="0"/>
          </a:p>
        </p:txBody>
      </p:sp>
      <p:sp>
        <p:nvSpPr>
          <p:cNvPr id="31" name="badge-110"/>
          <p:cNvSpPr/>
          <p:nvPr/>
        </p:nvSpPr>
        <p:spPr>
          <a:xfrm>
            <a:off x="8101584" y="4617720"/>
            <a:ext cx="384048" cy="384048"/>
          </a:xfrm>
          <a:prstGeom prst="ellipse">
            <a:avLst/>
          </a:prstGeom>
          <a:solidFill>
            <a:schemeClr val="accent1"/>
          </a:solidFill>
          <a:ln w="12700">
            <a:solidFill>
              <a:schemeClr val="accent1"/>
            </a:solidFill>
            <a:prstDash val="solid"/>
          </a:ln>
        </p:spPr>
      </p:sp>
      <p:sp>
        <p:nvSpPr>
          <p:cNvPr id="32" name="badgetext-111"/>
          <p:cNvSpPr txBox="1"/>
          <p:nvPr/>
        </p:nvSpPr>
        <p:spPr>
          <a:xfrm>
            <a:off x="8101584" y="46177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33" name="text-112"/>
          <p:cNvSpPr txBox="1"/>
          <p:nvPr/>
        </p:nvSpPr>
        <p:spPr>
          <a:xfrm>
            <a:off x="8604504" y="4617720"/>
            <a:ext cx="3108960" cy="384048"/>
          </a:xfrm>
          <a:prstGeom prst="rect">
            <a:avLst/>
          </a:prstGeom>
          <a:noFill/>
          <a:ln/>
        </p:spPr>
        <p:txBody>
          <a:bodyPr wrap="square" lIns="0" tIns="0" rIns="0" bIns="0" rtlCol="0" anchor="ctr"/>
          <a:lstStyle/>
          <a:p>
            <a:pPr indent="0" marL="0">
              <a:buNone/>
            </a:pPr>
            <a:r>
              <a:rPr lang="en-US" sz="1500" b="1" dirty="0">
                <a:solidFill>
                  <a:schemeClr val="tx2"/>
                </a:solidFill>
              </a:rPr>
              <a:t>Isolated</a:t>
            </a:r>
            <a:endParaRPr lang="en-US" sz="1500" dirty="0"/>
          </a:p>
        </p:txBody>
      </p:sp>
      <p:sp>
        <p:nvSpPr>
          <p:cNvPr id="34" name="text-113"/>
          <p:cNvSpPr txBox="1"/>
          <p:nvPr/>
        </p:nvSpPr>
        <p:spPr>
          <a:xfrm>
            <a:off x="8604504" y="5029200"/>
            <a:ext cx="3154680" cy="1005840"/>
          </a:xfrm>
          <a:prstGeom prst="rect">
            <a:avLst/>
          </a:prstGeom>
          <a:noFill/>
          <a:ln/>
        </p:spPr>
        <p:txBody>
          <a:bodyPr wrap="square" lIns="0" tIns="0" rIns="0" bIns="0" rtlCol="0" anchor="t"/>
          <a:lstStyle/>
          <a:p>
            <a:pPr indent="0" marL="0">
              <a:buNone/>
            </a:pPr>
            <a:r>
              <a:rPr lang="en-US" sz="1300" dirty="0">
                <a:solidFill>
                  <a:schemeClr val="tx1"/>
                </a:solidFill>
              </a:rPr>
              <a:t>Postgres row-level security is forced on every tenant table; with no tenant set, queries return nothing</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How an account's state is represented</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State is not a stored status; it is recomputed each run from what was known at that moment</a:t>
            </a:r>
            <a:endParaRPr lang="en-US" sz="1600" dirty="0"/>
          </a:p>
        </p:txBody>
      </p:sp>
      <p:sp>
        <p:nvSpPr>
          <p:cNvPr id="4" name="card-114"/>
          <p:cNvSpPr/>
          <p:nvPr/>
        </p:nvSpPr>
        <p:spPr>
          <a:xfrm>
            <a:off x="548640" y="1645920"/>
            <a:ext cx="5074920" cy="4434840"/>
          </a:xfrm>
          <a:prstGeom prst="roundRect">
            <a:avLst>
              <a:gd name="adj" fmla="val 1649"/>
            </a:avLst>
          </a:prstGeom>
          <a:solidFill>
            <a:schemeClr val="bg2"/>
          </a:solidFill>
          <a:ln w="12700">
            <a:solidFill>
              <a:schemeClr val="bg2"/>
            </a:solidFill>
            <a:prstDash val="solid"/>
          </a:ln>
        </p:spPr>
      </p:sp>
      <p:sp>
        <p:nvSpPr>
          <p:cNvPr id="5" name="text-115"/>
          <p:cNvSpPr txBox="1"/>
          <p:nvPr/>
        </p:nvSpPr>
        <p:spPr>
          <a:xfrm>
            <a:off x="822960" y="1783080"/>
            <a:ext cx="4572000" cy="411480"/>
          </a:xfrm>
          <a:prstGeom prst="rect">
            <a:avLst/>
          </a:prstGeom>
          <a:noFill/>
          <a:ln/>
        </p:spPr>
        <p:txBody>
          <a:bodyPr wrap="square" lIns="0" tIns="0" rIns="0" bIns="0" rtlCol="0" anchor="t"/>
          <a:lstStyle/>
          <a:p>
            <a:pPr indent="0" marL="0">
              <a:buNone/>
            </a:pPr>
            <a:r>
              <a:rPr lang="en-US" sz="1700" b="1" dirty="0">
                <a:solidFill>
                  <a:schemeClr val="tx2"/>
                </a:solidFill>
              </a:rPr>
              <a:t>Point-in-time snapshot: 24 signals</a:t>
            </a:r>
            <a:endParaRPr lang="en-US" sz="1700" dirty="0"/>
          </a:p>
        </p:txBody>
      </p:sp>
      <p:sp>
        <p:nvSpPr>
          <p:cNvPr id="6" name="text-116"/>
          <p:cNvSpPr txBox="1"/>
          <p:nvPr/>
        </p:nvSpPr>
        <p:spPr>
          <a:xfrm>
            <a:off x="822960" y="2194560"/>
            <a:ext cx="4572000" cy="365760"/>
          </a:xfrm>
          <a:prstGeom prst="rect">
            <a:avLst/>
          </a:prstGeom>
          <a:noFill/>
          <a:ln/>
        </p:spPr>
        <p:txBody>
          <a:bodyPr wrap="square" lIns="0" tIns="0" rIns="0" bIns="0" rtlCol="0" anchor="t"/>
          <a:lstStyle/>
          <a:p>
            <a:pPr indent="0" marL="0">
              <a:buNone/>
            </a:pPr>
            <a:r>
              <a:rPr lang="en-US" sz="1300" dirty="0">
                <a:solidFill>
                  <a:schemeClr val="accent5"/>
                </a:solidFill>
              </a:rPr>
              <a:t>Uses only rows with event_time &lt; as_of and arrived_at ≤ as_of</a:t>
            </a:r>
            <a:endParaRPr lang="en-US" sz="1300" dirty="0"/>
          </a:p>
        </p:txBody>
      </p:sp>
      <p:sp>
        <p:nvSpPr>
          <p:cNvPr id="7" name="badge-117"/>
          <p:cNvSpPr/>
          <p:nvPr/>
        </p:nvSpPr>
        <p:spPr>
          <a:xfrm>
            <a:off x="822960" y="2734056"/>
            <a:ext cx="384048" cy="384048"/>
          </a:xfrm>
          <a:prstGeom prst="ellipse">
            <a:avLst/>
          </a:prstGeom>
          <a:solidFill>
            <a:schemeClr val="tx2"/>
          </a:solidFill>
          <a:ln w="12700">
            <a:solidFill>
              <a:schemeClr val="tx2"/>
            </a:solidFill>
            <a:prstDash val="solid"/>
          </a:ln>
        </p:spPr>
      </p:sp>
      <p:sp>
        <p:nvSpPr>
          <p:cNvPr id="8" name="badgetext-118"/>
          <p:cNvSpPr txBox="1"/>
          <p:nvPr/>
        </p:nvSpPr>
        <p:spPr>
          <a:xfrm>
            <a:off x="822960" y="2734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9" name="text-119"/>
          <p:cNvSpPr txBox="1"/>
          <p:nvPr/>
        </p:nvSpPr>
        <p:spPr>
          <a:xfrm>
            <a:off x="1371600" y="2697480"/>
            <a:ext cx="4114800" cy="457200"/>
          </a:xfrm>
          <a:prstGeom prst="rect">
            <a:avLst/>
          </a:prstGeom>
          <a:noFill/>
          <a:ln/>
        </p:spPr>
        <p:txBody>
          <a:bodyPr wrap="square" lIns="0" tIns="0" rIns="0" bIns="0" rtlCol="0" anchor="ctr"/>
          <a:lstStyle/>
          <a:p>
            <a:pPr indent="0" marL="0">
              <a:buNone/>
            </a:pPr>
            <a:r>
              <a:rPr lang="en-US" sz="1400" b="1" dirty="0">
                <a:solidFill>
                  <a:schemeClr val="tx1"/>
                </a:solidFill>
              </a:rPr>
              <a:t>Usage  </a:t>
            </a:r>
            <a:pPr indent="0" marL="0">
              <a:buNone/>
            </a:pPr>
            <a:r>
              <a:rPr lang="en-US" sz="1400" dirty="0">
                <a:solidFill>
                  <a:schemeClr val="accent5"/>
                </a:solidFill>
              </a:rPr>
              <a:t>seat use, active-user trend, weeks since usage</a:t>
            </a:r>
            <a:endParaRPr lang="en-US" sz="1400" dirty="0"/>
          </a:p>
        </p:txBody>
      </p:sp>
      <p:sp>
        <p:nvSpPr>
          <p:cNvPr id="10" name="badge-120"/>
          <p:cNvSpPr/>
          <p:nvPr/>
        </p:nvSpPr>
        <p:spPr>
          <a:xfrm>
            <a:off x="822960" y="3392424"/>
            <a:ext cx="384048" cy="384048"/>
          </a:xfrm>
          <a:prstGeom prst="ellipse">
            <a:avLst/>
          </a:prstGeom>
          <a:solidFill>
            <a:schemeClr val="tx2"/>
          </a:solidFill>
          <a:ln w="12700">
            <a:solidFill>
              <a:schemeClr val="tx2"/>
            </a:solidFill>
            <a:prstDash val="solid"/>
          </a:ln>
        </p:spPr>
      </p:sp>
      <p:sp>
        <p:nvSpPr>
          <p:cNvPr id="11" name="badgetext-121"/>
          <p:cNvSpPr txBox="1"/>
          <p:nvPr/>
        </p:nvSpPr>
        <p:spPr>
          <a:xfrm>
            <a:off x="822960" y="33924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2" name="text-122"/>
          <p:cNvSpPr txBox="1"/>
          <p:nvPr/>
        </p:nvSpPr>
        <p:spPr>
          <a:xfrm>
            <a:off x="1371600" y="3355848"/>
            <a:ext cx="4114800" cy="457200"/>
          </a:xfrm>
          <a:prstGeom prst="rect">
            <a:avLst/>
          </a:prstGeom>
          <a:noFill/>
          <a:ln/>
        </p:spPr>
        <p:txBody>
          <a:bodyPr wrap="square" lIns="0" tIns="0" rIns="0" bIns="0" rtlCol="0" anchor="ctr"/>
          <a:lstStyle/>
          <a:p>
            <a:pPr indent="0" marL="0">
              <a:buNone/>
            </a:pPr>
            <a:r>
              <a:rPr lang="en-US" sz="1400" b="1" dirty="0">
                <a:solidFill>
                  <a:schemeClr val="tx1"/>
                </a:solidFill>
              </a:rPr>
              <a:t>Support  </a:t>
            </a:r>
            <a:pPr indent="0" marL="0">
              <a:buNone/>
            </a:pPr>
            <a:r>
              <a:rPr lang="en-US" sz="1400" dirty="0">
                <a:solidFill>
                  <a:schemeClr val="accent5"/>
                </a:solidFill>
              </a:rPr>
              <a:t>tickets, urgent tickets, bad CSAT, export requests</a:t>
            </a:r>
            <a:endParaRPr lang="en-US" sz="1400" dirty="0"/>
          </a:p>
        </p:txBody>
      </p:sp>
      <p:sp>
        <p:nvSpPr>
          <p:cNvPr id="13" name="badge-123"/>
          <p:cNvSpPr/>
          <p:nvPr/>
        </p:nvSpPr>
        <p:spPr>
          <a:xfrm>
            <a:off x="822960" y="4050792"/>
            <a:ext cx="384048" cy="384048"/>
          </a:xfrm>
          <a:prstGeom prst="ellipse">
            <a:avLst/>
          </a:prstGeom>
          <a:solidFill>
            <a:schemeClr val="tx2"/>
          </a:solidFill>
          <a:ln w="12700">
            <a:solidFill>
              <a:schemeClr val="tx2"/>
            </a:solidFill>
            <a:prstDash val="solid"/>
          </a:ln>
        </p:spPr>
      </p:sp>
      <p:sp>
        <p:nvSpPr>
          <p:cNvPr id="14" name="badgetext-124"/>
          <p:cNvSpPr txBox="1"/>
          <p:nvPr/>
        </p:nvSpPr>
        <p:spPr>
          <a:xfrm>
            <a:off x="822960" y="40507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5" name="text-125"/>
          <p:cNvSpPr txBox="1"/>
          <p:nvPr/>
        </p:nvSpPr>
        <p:spPr>
          <a:xfrm>
            <a:off x="1371600" y="4014216"/>
            <a:ext cx="4114800" cy="457200"/>
          </a:xfrm>
          <a:prstGeom prst="rect">
            <a:avLst/>
          </a:prstGeom>
          <a:noFill/>
          <a:ln/>
        </p:spPr>
        <p:txBody>
          <a:bodyPr wrap="square" lIns="0" tIns="0" rIns="0" bIns="0" rtlCol="0" anchor="ctr"/>
          <a:lstStyle/>
          <a:p>
            <a:pPr indent="0" marL="0">
              <a:buNone/>
            </a:pPr>
            <a:r>
              <a:rPr lang="en-US" sz="1400" b="1" dirty="0">
                <a:solidFill>
                  <a:schemeClr val="tx1"/>
                </a:solidFill>
              </a:rPr>
              <a:t>Email  </a:t>
            </a:r>
            <a:pPr indent="0" marL="0">
              <a:buNone/>
            </a:pPr>
            <a:r>
              <a:rPr lang="en-US" sz="1400" dirty="0">
                <a:solidFill>
                  <a:schemeClr val="accent5"/>
                </a:solidFill>
              </a:rPr>
              <a:t>inbound trend, champion silence, negative language</a:t>
            </a:r>
            <a:endParaRPr lang="en-US" sz="1400" dirty="0"/>
          </a:p>
        </p:txBody>
      </p:sp>
      <p:sp>
        <p:nvSpPr>
          <p:cNvPr id="16" name="badge-126"/>
          <p:cNvSpPr/>
          <p:nvPr/>
        </p:nvSpPr>
        <p:spPr>
          <a:xfrm>
            <a:off x="822960" y="4709160"/>
            <a:ext cx="384048" cy="384048"/>
          </a:xfrm>
          <a:prstGeom prst="ellipse">
            <a:avLst/>
          </a:prstGeom>
          <a:solidFill>
            <a:schemeClr val="tx2"/>
          </a:solidFill>
          <a:ln w="12700">
            <a:solidFill>
              <a:schemeClr val="tx2"/>
            </a:solidFill>
            <a:prstDash val="solid"/>
          </a:ln>
        </p:spPr>
      </p:sp>
      <p:sp>
        <p:nvSpPr>
          <p:cNvPr id="17" name="badgetext-127"/>
          <p:cNvSpPr txBox="1"/>
          <p:nvPr/>
        </p:nvSpPr>
        <p:spPr>
          <a:xfrm>
            <a:off x="82296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128"/>
          <p:cNvSpPr txBox="1"/>
          <p:nvPr/>
        </p:nvSpPr>
        <p:spPr>
          <a:xfrm>
            <a:off x="1371600" y="4672584"/>
            <a:ext cx="4114800" cy="457200"/>
          </a:xfrm>
          <a:prstGeom prst="rect">
            <a:avLst/>
          </a:prstGeom>
          <a:noFill/>
          <a:ln/>
        </p:spPr>
        <p:txBody>
          <a:bodyPr wrap="square" lIns="0" tIns="0" rIns="0" bIns="0" rtlCol="0" anchor="ctr"/>
          <a:lstStyle/>
          <a:p>
            <a:pPr indent="0" marL="0">
              <a:buNone/>
            </a:pPr>
            <a:r>
              <a:rPr lang="en-US" sz="1400" b="1" dirty="0">
                <a:solidFill>
                  <a:schemeClr val="tx1"/>
                </a:solidFill>
              </a:rPr>
              <a:t>Billing  </a:t>
            </a:r>
            <a:pPr indent="0" marL="0">
              <a:buNone/>
            </a:pPr>
            <a:r>
              <a:rPr lang="en-US" sz="1400" dirty="0">
                <a:solidFill>
                  <a:schemeClr val="accent5"/>
                </a:solidFill>
              </a:rPr>
              <a:t>failed payments, seat contraction</a:t>
            </a:r>
            <a:endParaRPr lang="en-US" sz="1400" dirty="0"/>
          </a:p>
        </p:txBody>
      </p:sp>
      <p:sp>
        <p:nvSpPr>
          <p:cNvPr id="19" name="badge-129"/>
          <p:cNvSpPr/>
          <p:nvPr/>
        </p:nvSpPr>
        <p:spPr>
          <a:xfrm>
            <a:off x="822960" y="5367528"/>
            <a:ext cx="384048" cy="384048"/>
          </a:xfrm>
          <a:prstGeom prst="ellipse">
            <a:avLst/>
          </a:prstGeom>
          <a:solidFill>
            <a:schemeClr val="tx2"/>
          </a:solidFill>
          <a:ln w="12700">
            <a:solidFill>
              <a:schemeClr val="tx2"/>
            </a:solidFill>
            <a:prstDash val="solid"/>
          </a:ln>
        </p:spPr>
      </p:sp>
      <p:sp>
        <p:nvSpPr>
          <p:cNvPr id="20" name="badgetext-130"/>
          <p:cNvSpPr txBox="1"/>
          <p:nvPr/>
        </p:nvSpPr>
        <p:spPr>
          <a:xfrm>
            <a:off x="822960" y="5367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131"/>
          <p:cNvSpPr txBox="1"/>
          <p:nvPr/>
        </p:nvSpPr>
        <p:spPr>
          <a:xfrm>
            <a:off x="1371600" y="5330952"/>
            <a:ext cx="4114800" cy="457200"/>
          </a:xfrm>
          <a:prstGeom prst="rect">
            <a:avLst/>
          </a:prstGeom>
          <a:noFill/>
          <a:ln/>
        </p:spPr>
        <p:txBody>
          <a:bodyPr wrap="square" lIns="0" tIns="0" rIns="0" bIns="0" rtlCol="0" anchor="ctr"/>
          <a:lstStyle/>
          <a:p>
            <a:pPr indent="0" marL="0">
              <a:buNone/>
            </a:pPr>
            <a:r>
              <a:rPr lang="en-US" sz="1400" b="1" dirty="0">
                <a:solidFill>
                  <a:schemeClr val="tx1"/>
                </a:solidFill>
              </a:rPr>
              <a:t>CRM  </a:t>
            </a:r>
            <a:pPr indent="0" marL="0">
              <a:buNone/>
            </a:pPr>
            <a:r>
              <a:rPr lang="en-US" sz="1400" dirty="0">
                <a:solidFill>
                  <a:schemeClr val="accent5"/>
                </a:solidFill>
              </a:rPr>
              <a:t>ARR, tenure, segment</a:t>
            </a:r>
            <a:endParaRPr lang="en-US" sz="1400" dirty="0"/>
          </a:p>
        </p:txBody>
      </p:sp>
      <p:sp>
        <p:nvSpPr>
          <p:cNvPr id="22" name="card-132"/>
          <p:cNvSpPr/>
          <p:nvPr/>
        </p:nvSpPr>
        <p:spPr>
          <a:xfrm>
            <a:off x="5897880" y="1645920"/>
            <a:ext cx="5745175" cy="2697480"/>
          </a:xfrm>
          <a:prstGeom prst="roundRect">
            <a:avLst>
              <a:gd name="adj" fmla="val 2712"/>
            </a:avLst>
          </a:prstGeom>
          <a:solidFill>
            <a:schemeClr val="tx2"/>
          </a:solidFill>
          <a:ln w="12700">
            <a:solidFill>
              <a:schemeClr val="tx2"/>
            </a:solidFill>
            <a:prstDash val="solid"/>
          </a:ln>
        </p:spPr>
      </p:sp>
      <p:sp>
        <p:nvSpPr>
          <p:cNvPr id="23" name="text-133"/>
          <p:cNvSpPr txBox="1"/>
          <p:nvPr/>
        </p:nvSpPr>
        <p:spPr>
          <a:xfrm>
            <a:off x="6126480" y="1783080"/>
            <a:ext cx="5303520" cy="411480"/>
          </a:xfrm>
          <a:prstGeom prst="rect">
            <a:avLst/>
          </a:prstGeom>
          <a:noFill/>
          <a:ln/>
        </p:spPr>
        <p:txBody>
          <a:bodyPr wrap="square" lIns="0" tIns="0" rIns="0" bIns="0" rtlCol="0" anchor="t"/>
          <a:lstStyle/>
          <a:p>
            <a:pPr indent="0" marL="0">
              <a:buNone/>
            </a:pPr>
            <a:r>
              <a:rPr lang="en-US" sz="1700" b="1" dirty="0">
                <a:solidFill>
                  <a:schemeClr val="bg1"/>
                </a:solidFill>
              </a:rPr>
              <a:t>Each run writes one score row per account</a:t>
            </a:r>
            <a:endParaRPr lang="en-US" sz="1700" dirty="0"/>
          </a:p>
        </p:txBody>
      </p:sp>
      <p:sp>
        <p:nvSpPr>
          <p:cNvPr id="24" name="text-134"/>
          <p:cNvSpPr txBox="1"/>
          <p:nvPr/>
        </p:nvSpPr>
        <p:spPr>
          <a:xfrm>
            <a:off x="6126480" y="2240280"/>
            <a:ext cx="5303520" cy="2011680"/>
          </a:xfrm>
          <a:prstGeom prst="rect">
            <a:avLst/>
          </a:prstGeom>
          <a:noFill/>
          <a:ln/>
        </p:spPr>
        <p:txBody>
          <a:bodyPr wrap="square" lIns="0" tIns="0" rIns="0" bIns="0" rtlCol="0" anchor="t"/>
          <a:lstStyle/>
          <a:p>
            <a:pPr marL="177800" indent="-177800">
              <a:spcAft>
                <a:spcPts val="300"/>
              </a:spcAft>
              <a:buSzPct val="100000"/>
              <a:buChar char="•"/>
            </a:pPr>
            <a:r>
              <a:rPr lang="en-US" sz="1400" b="1" dirty="0">
                <a:solidFill>
                  <a:schemeClr val="bg1"/>
                </a:solidFill>
              </a:rPr>
              <a:t>p_churn</a:t>
            </a:r>
            <a:pPr indent="0" marL="0">
              <a:buNone/>
            </a:pPr>
            <a:r>
              <a:rPr lang="en-US" sz="1400" dirty="0">
                <a:solidFill>
                  <a:schemeClr val="bg1"/>
                </a:solidFill>
              </a:rPr>
              <a:t>: calibrated chance of not renewing</a:t>
            </a:r>
            <a:endParaRPr lang="en-US" sz="1400" dirty="0"/>
          </a:p>
          <a:p>
            <a:pPr marL="177800" indent="-177800">
              <a:spcAft>
                <a:spcPts val="300"/>
              </a:spcAft>
              <a:buSzPct val="100000"/>
              <a:buChar char="•"/>
            </a:pPr>
            <a:r>
              <a:rPr lang="en-US" sz="1400" b="1" dirty="0">
                <a:solidFill>
                  <a:schemeClr val="bg1"/>
                </a:solidFill>
              </a:rPr>
              <a:t>drivers</a:t>
            </a:r>
            <a:pPr indent="0" marL="0">
              <a:buNone/>
            </a:pPr>
            <a:r>
              <a:rPr lang="en-US" sz="1400" dirty="0">
                <a:solidFill>
                  <a:schemeClr val="bg1"/>
                </a:solidFill>
              </a:rPr>
              <a:t>: exact per-account contributions</a:t>
            </a:r>
            <a:endParaRPr lang="en-US" sz="1400" dirty="0"/>
          </a:p>
          <a:p>
            <a:pPr marL="177800" indent="-177800">
              <a:spcAft>
                <a:spcPts val="300"/>
              </a:spcAft>
              <a:buSzPct val="100000"/>
              <a:buChar char="•"/>
            </a:pPr>
            <a:r>
              <a:rPr lang="en-US" sz="1400" b="1" dirty="0">
                <a:solidFill>
                  <a:schemeClr val="bg1"/>
                </a:solidFill>
              </a:rPr>
              <a:t>changes</a:t>
            </a:r>
            <a:pPr indent="0" marL="0">
              <a:buNone/>
            </a:pPr>
            <a:r>
              <a:rPr lang="en-US" sz="1400" dirty="0">
                <a:solidFill>
                  <a:schemeClr val="bg1"/>
                </a:solidFill>
              </a:rPr>
              <a:t>: diff against the previous run</a:t>
            </a:r>
            <a:endParaRPr lang="en-US" sz="1400" dirty="0"/>
          </a:p>
          <a:p>
            <a:pPr marL="177800" indent="-177800">
              <a:spcAft>
                <a:spcPts val="300"/>
              </a:spcAft>
              <a:buSzPct val="100000"/>
              <a:buChar char="•"/>
            </a:pPr>
            <a:r>
              <a:rPr lang="en-US" sz="1400" b="1" dirty="0">
                <a:solidFill>
                  <a:schemeClr val="bg1"/>
                </a:solidFill>
              </a:rPr>
              <a:t>coverage</a:t>
            </a:r>
            <a:pPr indent="0" marL="0">
              <a:buNone/>
            </a:pPr>
            <a:r>
              <a:rPr lang="en-US" sz="1400" dirty="0">
                <a:solidFill>
                  <a:schemeClr val="bg1"/>
                </a:solidFill>
              </a:rPr>
              <a:t>: which sources we can see</a:t>
            </a:r>
            <a:endParaRPr lang="en-US" sz="1400" dirty="0"/>
          </a:p>
          <a:p>
            <a:pPr marL="177800" indent="-177800">
              <a:spcAft>
                <a:spcPts val="300"/>
              </a:spcAft>
              <a:buSzPct val="100000"/>
              <a:buChar char="•"/>
            </a:pPr>
            <a:r>
              <a:rPr lang="en-US" sz="1400" b="1" dirty="0">
                <a:solidFill>
                  <a:schemeClr val="bg1"/>
                </a:solidFill>
              </a:rPr>
              <a:t>priority, band, rank</a:t>
            </a:r>
            <a:pPr indent="0" marL="0">
              <a:buNone/>
            </a:pPr>
            <a:r>
              <a:rPr lang="en-US" sz="1400" dirty="0">
                <a:solidFill>
                  <a:schemeClr val="bg1"/>
                </a:solidFill>
              </a:rPr>
              <a:t> + run_id, model_version</a:t>
            </a:r>
            <a:endParaRPr lang="en-US" sz="1400" dirty="0"/>
          </a:p>
        </p:txBody>
      </p:sp>
      <p:sp>
        <p:nvSpPr>
          <p:cNvPr id="25" name="card-135"/>
          <p:cNvSpPr/>
          <p:nvPr/>
        </p:nvSpPr>
        <p:spPr>
          <a:xfrm>
            <a:off x="5897880" y="4526280"/>
            <a:ext cx="2743200" cy="685800"/>
          </a:xfrm>
          <a:prstGeom prst="roundRect">
            <a:avLst>
              <a:gd name="adj" fmla="val 10667"/>
            </a:avLst>
          </a:prstGeom>
          <a:solidFill>
            <a:schemeClr val="bg2"/>
          </a:solidFill>
          <a:ln w="12700">
            <a:solidFill>
              <a:schemeClr val="bg2"/>
            </a:solidFill>
            <a:prstDash val="solid"/>
          </a:ln>
        </p:spPr>
      </p:sp>
      <p:sp>
        <p:nvSpPr>
          <p:cNvPr id="26" name="dot-136"/>
          <p:cNvSpPr/>
          <p:nvPr/>
        </p:nvSpPr>
        <p:spPr>
          <a:xfrm>
            <a:off x="6062472" y="4754880"/>
            <a:ext cx="228600" cy="228600"/>
          </a:xfrm>
          <a:prstGeom prst="ellipse">
            <a:avLst/>
          </a:prstGeom>
          <a:solidFill>
            <a:schemeClr val="accent4"/>
          </a:solidFill>
          <a:ln w="12700">
            <a:solidFill>
              <a:schemeClr val="accent4"/>
            </a:solidFill>
            <a:prstDash val="solid"/>
          </a:ln>
        </p:spPr>
      </p:sp>
      <p:sp>
        <p:nvSpPr>
          <p:cNvPr id="27" name="text-137"/>
          <p:cNvSpPr txBox="1"/>
          <p:nvPr/>
        </p:nvSpPr>
        <p:spPr>
          <a:xfrm>
            <a:off x="6400800" y="4572000"/>
            <a:ext cx="2148840" cy="594360"/>
          </a:xfrm>
          <a:prstGeom prst="rect">
            <a:avLst/>
          </a:prstGeom>
          <a:noFill/>
          <a:ln/>
        </p:spPr>
        <p:txBody>
          <a:bodyPr wrap="square" lIns="0" tIns="0" rIns="0" bIns="0" rtlCol="0" anchor="ctr"/>
          <a:lstStyle/>
          <a:p>
            <a:pPr indent="0" marL="0">
              <a:buNone/>
            </a:pPr>
            <a:r>
              <a:rPr lang="en-US" sz="1300" b="1" dirty="0">
                <a:solidFill>
                  <a:schemeClr val="tx1"/>
                </a:solidFill>
              </a:rPr>
              <a:t>Red  </a:t>
            </a:r>
            <a:pPr indent="0" marL="0">
              <a:buNone/>
            </a:pPr>
            <a:r>
              <a:rPr lang="en-US" sz="1300" dirty="0">
                <a:solidFill>
                  <a:schemeClr val="accent5"/>
                </a:solidFill>
              </a:rPr>
              <a:t>top 15 by priority per CSM</a:t>
            </a:r>
            <a:endParaRPr lang="en-US" sz="1300" dirty="0"/>
          </a:p>
        </p:txBody>
      </p:sp>
      <p:sp>
        <p:nvSpPr>
          <p:cNvPr id="28" name="card-138"/>
          <p:cNvSpPr/>
          <p:nvPr/>
        </p:nvSpPr>
        <p:spPr>
          <a:xfrm>
            <a:off x="8796528" y="4526280"/>
            <a:ext cx="2743200" cy="685800"/>
          </a:xfrm>
          <a:prstGeom prst="roundRect">
            <a:avLst>
              <a:gd name="adj" fmla="val 10667"/>
            </a:avLst>
          </a:prstGeom>
          <a:solidFill>
            <a:schemeClr val="bg2"/>
          </a:solidFill>
          <a:ln w="12700">
            <a:solidFill>
              <a:schemeClr val="bg2"/>
            </a:solidFill>
            <a:prstDash val="solid"/>
          </a:ln>
        </p:spPr>
      </p:sp>
      <p:sp>
        <p:nvSpPr>
          <p:cNvPr id="29" name="dot-139"/>
          <p:cNvSpPr/>
          <p:nvPr/>
        </p:nvSpPr>
        <p:spPr>
          <a:xfrm>
            <a:off x="8961120" y="4754880"/>
            <a:ext cx="228600" cy="228600"/>
          </a:xfrm>
          <a:prstGeom prst="ellipse">
            <a:avLst/>
          </a:prstGeom>
          <a:solidFill>
            <a:schemeClr val="accent1"/>
          </a:solidFill>
          <a:ln w="12700">
            <a:solidFill>
              <a:schemeClr val="accent1"/>
            </a:solidFill>
            <a:prstDash val="solid"/>
          </a:ln>
        </p:spPr>
      </p:sp>
      <p:sp>
        <p:nvSpPr>
          <p:cNvPr id="30" name="text-140"/>
          <p:cNvSpPr txBox="1"/>
          <p:nvPr/>
        </p:nvSpPr>
        <p:spPr>
          <a:xfrm>
            <a:off x="9299448" y="4572000"/>
            <a:ext cx="2148840" cy="594360"/>
          </a:xfrm>
          <a:prstGeom prst="rect">
            <a:avLst/>
          </a:prstGeom>
          <a:noFill/>
          <a:ln/>
        </p:spPr>
        <p:txBody>
          <a:bodyPr wrap="square" lIns="0" tIns="0" rIns="0" bIns="0" rtlCol="0" anchor="ctr"/>
          <a:lstStyle/>
          <a:p>
            <a:pPr indent="0" marL="0">
              <a:buNone/>
            </a:pPr>
            <a:r>
              <a:rPr lang="en-US" sz="1300" b="1" dirty="0">
                <a:solidFill>
                  <a:schemeClr val="tx1"/>
                </a:solidFill>
              </a:rPr>
              <a:t>Amber  </a:t>
            </a:r>
            <a:pPr indent="0" marL="0">
              <a:buNone/>
            </a:pPr>
            <a:r>
              <a:rPr lang="en-US" sz="1300" dirty="0">
                <a:solidFill>
                  <a:schemeClr val="accent5"/>
                </a:solidFill>
              </a:rPr>
              <a:t>risk ≥ 2× base rate</a:t>
            </a:r>
            <a:endParaRPr lang="en-US" sz="1300" dirty="0"/>
          </a:p>
        </p:txBody>
      </p:sp>
      <p:sp>
        <p:nvSpPr>
          <p:cNvPr id="31" name="card-141"/>
          <p:cNvSpPr/>
          <p:nvPr/>
        </p:nvSpPr>
        <p:spPr>
          <a:xfrm>
            <a:off x="5897880" y="5330952"/>
            <a:ext cx="2743200" cy="685800"/>
          </a:xfrm>
          <a:prstGeom prst="roundRect">
            <a:avLst>
              <a:gd name="adj" fmla="val 10667"/>
            </a:avLst>
          </a:prstGeom>
          <a:solidFill>
            <a:schemeClr val="bg2"/>
          </a:solidFill>
          <a:ln w="12700">
            <a:solidFill>
              <a:schemeClr val="bg2"/>
            </a:solidFill>
            <a:prstDash val="solid"/>
          </a:ln>
        </p:spPr>
      </p:sp>
      <p:sp>
        <p:nvSpPr>
          <p:cNvPr id="32" name="dot-142"/>
          <p:cNvSpPr/>
          <p:nvPr/>
        </p:nvSpPr>
        <p:spPr>
          <a:xfrm>
            <a:off x="6062472" y="5559552"/>
            <a:ext cx="228600" cy="228600"/>
          </a:xfrm>
          <a:prstGeom prst="ellipse">
            <a:avLst/>
          </a:prstGeom>
          <a:solidFill>
            <a:schemeClr val="accent3"/>
          </a:solidFill>
          <a:ln w="12700">
            <a:solidFill>
              <a:schemeClr val="accent3"/>
            </a:solidFill>
            <a:prstDash val="solid"/>
          </a:ln>
        </p:spPr>
      </p:sp>
      <p:sp>
        <p:nvSpPr>
          <p:cNvPr id="33" name="text-143"/>
          <p:cNvSpPr txBox="1"/>
          <p:nvPr/>
        </p:nvSpPr>
        <p:spPr>
          <a:xfrm>
            <a:off x="6400800" y="5376672"/>
            <a:ext cx="2148840" cy="594360"/>
          </a:xfrm>
          <a:prstGeom prst="rect">
            <a:avLst/>
          </a:prstGeom>
          <a:noFill/>
          <a:ln/>
        </p:spPr>
        <p:txBody>
          <a:bodyPr wrap="square" lIns="0" tIns="0" rIns="0" bIns="0" rtlCol="0" anchor="ctr"/>
          <a:lstStyle/>
          <a:p>
            <a:pPr indent="0" marL="0">
              <a:buNone/>
            </a:pPr>
            <a:r>
              <a:rPr lang="en-US" sz="1300" b="1" dirty="0">
                <a:solidFill>
                  <a:schemeClr val="tx1"/>
                </a:solidFill>
              </a:rPr>
              <a:t>Green  </a:t>
            </a:r>
            <a:pPr indent="0" marL="0">
              <a:buNone/>
            </a:pPr>
            <a:r>
              <a:rPr lang="en-US" sz="1300" dirty="0">
                <a:solidFill>
                  <a:schemeClr val="accent5"/>
                </a:solidFill>
              </a:rPr>
              <a:t>everything else</a:t>
            </a:r>
            <a:endParaRPr lang="en-US" sz="1300" dirty="0"/>
          </a:p>
        </p:txBody>
      </p:sp>
      <p:sp>
        <p:nvSpPr>
          <p:cNvPr id="34" name="card-144"/>
          <p:cNvSpPr/>
          <p:nvPr/>
        </p:nvSpPr>
        <p:spPr>
          <a:xfrm>
            <a:off x="8796528" y="5330952"/>
            <a:ext cx="2743200" cy="685800"/>
          </a:xfrm>
          <a:prstGeom prst="roundRect">
            <a:avLst>
              <a:gd name="adj" fmla="val 10667"/>
            </a:avLst>
          </a:prstGeom>
          <a:solidFill>
            <a:schemeClr val="bg2"/>
          </a:solidFill>
          <a:ln w="12700">
            <a:solidFill>
              <a:schemeClr val="bg2"/>
            </a:solidFill>
            <a:prstDash val="solid"/>
          </a:ln>
        </p:spPr>
      </p:sp>
      <p:sp>
        <p:nvSpPr>
          <p:cNvPr id="35" name="dot-145"/>
          <p:cNvSpPr/>
          <p:nvPr/>
        </p:nvSpPr>
        <p:spPr>
          <a:xfrm>
            <a:off x="8961120" y="5559552"/>
            <a:ext cx="228600" cy="228600"/>
          </a:xfrm>
          <a:prstGeom prst="ellipse">
            <a:avLst/>
          </a:prstGeom>
          <a:solidFill>
            <a:schemeClr val="accent5"/>
          </a:solidFill>
          <a:ln w="12700">
            <a:solidFill>
              <a:schemeClr val="accent5"/>
            </a:solidFill>
            <a:prstDash val="solid"/>
          </a:ln>
        </p:spPr>
      </p:sp>
      <p:sp>
        <p:nvSpPr>
          <p:cNvPr id="36" name="text-146"/>
          <p:cNvSpPr txBox="1"/>
          <p:nvPr/>
        </p:nvSpPr>
        <p:spPr>
          <a:xfrm>
            <a:off x="9299448" y="5376672"/>
            <a:ext cx="2148840" cy="594360"/>
          </a:xfrm>
          <a:prstGeom prst="rect">
            <a:avLst/>
          </a:prstGeom>
          <a:noFill/>
          <a:ln/>
        </p:spPr>
        <p:txBody>
          <a:bodyPr wrap="square" lIns="0" tIns="0" rIns="0" bIns="0" rtlCol="0" anchor="ctr"/>
          <a:lstStyle/>
          <a:p>
            <a:pPr indent="0" marL="0">
              <a:buNone/>
            </a:pPr>
            <a:r>
              <a:rPr lang="en-US" sz="1300" b="1" dirty="0">
                <a:solidFill>
                  <a:schemeClr val="tx1"/>
                </a:solidFill>
              </a:rPr>
              <a:t>Grey  </a:t>
            </a:r>
            <a:pPr indent="0" marL="0">
              <a:buNone/>
            </a:pPr>
            <a:r>
              <a:rPr lang="en-US" sz="1300" dirty="0">
                <a:solidFill>
                  <a:schemeClr val="accent5"/>
                </a:solidFill>
              </a:rPr>
              <a:t>no usage and no contact in 90 days</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What the model predicts</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Will this renewal be lost? The model answers that; a separate policy decides who to call this week</a:t>
            </a:r>
            <a:endParaRPr lang="en-US" sz="1600" dirty="0"/>
          </a:p>
        </p:txBody>
      </p:sp>
      <p:sp>
        <p:nvSpPr>
          <p:cNvPr id="4" name="badge-147"/>
          <p:cNvSpPr/>
          <p:nvPr/>
        </p:nvSpPr>
        <p:spPr>
          <a:xfrm>
            <a:off x="548640" y="1691640"/>
            <a:ext cx="384048" cy="384048"/>
          </a:xfrm>
          <a:prstGeom prst="ellipse">
            <a:avLst/>
          </a:prstGeom>
          <a:solidFill>
            <a:schemeClr val="accent1"/>
          </a:solidFill>
          <a:ln w="12700">
            <a:solidFill>
              <a:schemeClr val="accent1"/>
            </a:solidFill>
            <a:prstDash val="solid"/>
          </a:ln>
        </p:spPr>
      </p:sp>
      <p:sp>
        <p:nvSpPr>
          <p:cNvPr id="5" name="badgetext-148"/>
          <p:cNvSpPr txBox="1"/>
          <p:nvPr/>
        </p:nvSpPr>
        <p:spPr>
          <a:xfrm>
            <a:off x="548640" y="169164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6" name="text-149"/>
          <p:cNvSpPr txBox="1"/>
          <p:nvPr/>
        </p:nvSpPr>
        <p:spPr>
          <a:xfrm>
            <a:off x="1097280" y="1645920"/>
            <a:ext cx="6035040" cy="320040"/>
          </a:xfrm>
          <a:prstGeom prst="rect">
            <a:avLst/>
          </a:prstGeom>
          <a:noFill/>
          <a:ln/>
        </p:spPr>
        <p:txBody>
          <a:bodyPr wrap="square" lIns="0" tIns="0" rIns="0" bIns="0" rtlCol="0" anchor="t"/>
          <a:lstStyle/>
          <a:p>
            <a:pPr indent="0" marL="0">
              <a:buNone/>
            </a:pPr>
            <a:r>
              <a:rPr lang="en-US" sz="1500" b="1" dirty="0">
                <a:solidFill>
                  <a:schemeClr val="tx2"/>
                </a:solidFill>
              </a:rPr>
              <a:t>Label</a:t>
            </a:r>
            <a:endParaRPr lang="en-US" sz="1500" dirty="0"/>
          </a:p>
        </p:txBody>
      </p:sp>
      <p:sp>
        <p:nvSpPr>
          <p:cNvPr id="7" name="text-150"/>
          <p:cNvSpPr txBox="1"/>
          <p:nvPr/>
        </p:nvSpPr>
        <p:spPr>
          <a:xfrm>
            <a:off x="1097280" y="1975104"/>
            <a:ext cx="6035040" cy="502920"/>
          </a:xfrm>
          <a:prstGeom prst="rect">
            <a:avLst/>
          </a:prstGeom>
          <a:noFill/>
          <a:ln/>
        </p:spPr>
        <p:txBody>
          <a:bodyPr wrap="square" lIns="0" tIns="0" rIns="0" bIns="0" rtlCol="0" anchor="t"/>
          <a:lstStyle/>
          <a:p>
            <a:pPr indent="0" marL="0">
              <a:buNone/>
            </a:pPr>
            <a:r>
              <a:rPr lang="en-US" sz="1400" dirty="0">
                <a:solidFill>
                  <a:schemeClr val="tx1"/>
                </a:solidFill>
              </a:rPr>
              <a:t>Renewal opportunity Closed Lost in the CRM. Downgrades are a signal, not the label</a:t>
            </a:r>
            <a:endParaRPr lang="en-US" sz="1400" dirty="0"/>
          </a:p>
        </p:txBody>
      </p:sp>
      <p:sp>
        <p:nvSpPr>
          <p:cNvPr id="8" name="badge-151"/>
          <p:cNvSpPr/>
          <p:nvPr/>
        </p:nvSpPr>
        <p:spPr>
          <a:xfrm>
            <a:off x="548640" y="2560320"/>
            <a:ext cx="384048" cy="384048"/>
          </a:xfrm>
          <a:prstGeom prst="ellipse">
            <a:avLst/>
          </a:prstGeom>
          <a:solidFill>
            <a:schemeClr val="accent1"/>
          </a:solidFill>
          <a:ln w="12700">
            <a:solidFill>
              <a:schemeClr val="accent1"/>
            </a:solidFill>
            <a:prstDash val="solid"/>
          </a:ln>
        </p:spPr>
      </p:sp>
      <p:sp>
        <p:nvSpPr>
          <p:cNvPr id="9" name="badgetext-152"/>
          <p:cNvSpPr txBox="1"/>
          <p:nvPr/>
        </p:nvSpPr>
        <p:spPr>
          <a:xfrm>
            <a:off x="548640" y="25603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0" name="text-153"/>
          <p:cNvSpPr txBox="1"/>
          <p:nvPr/>
        </p:nvSpPr>
        <p:spPr>
          <a:xfrm>
            <a:off x="1097280" y="2514600"/>
            <a:ext cx="6035040" cy="320040"/>
          </a:xfrm>
          <a:prstGeom prst="rect">
            <a:avLst/>
          </a:prstGeom>
          <a:noFill/>
          <a:ln/>
        </p:spPr>
        <p:txBody>
          <a:bodyPr wrap="square" lIns="0" tIns="0" rIns="0" bIns="0" rtlCol="0" anchor="t"/>
          <a:lstStyle/>
          <a:p>
            <a:pPr indent="0" marL="0">
              <a:buNone/>
            </a:pPr>
            <a:r>
              <a:rPr lang="en-US" sz="1500" b="1" dirty="0">
                <a:solidFill>
                  <a:schemeClr val="tx2"/>
                </a:solidFill>
              </a:rPr>
              <a:t>Training set</a:t>
            </a:r>
            <a:endParaRPr lang="en-US" sz="1500" dirty="0"/>
          </a:p>
        </p:txBody>
      </p:sp>
      <p:sp>
        <p:nvSpPr>
          <p:cNvPr id="11" name="text-154"/>
          <p:cNvSpPr txBox="1"/>
          <p:nvPr/>
        </p:nvSpPr>
        <p:spPr>
          <a:xfrm>
            <a:off x="1097280" y="2843784"/>
            <a:ext cx="6035040" cy="502920"/>
          </a:xfrm>
          <a:prstGeom prst="rect">
            <a:avLst/>
          </a:prstGeom>
          <a:noFill/>
          <a:ln/>
        </p:spPr>
        <p:txBody>
          <a:bodyPr wrap="square" lIns="0" tIns="0" rIns="0" bIns="0" rtlCol="0" anchor="t"/>
          <a:lstStyle/>
          <a:p>
            <a:pPr indent="0" marL="0">
              <a:buNone/>
            </a:pPr>
            <a:r>
              <a:rPr lang="en-US" sz="1400" dirty="0">
                <a:solidFill>
                  <a:schemeClr val="tx1"/>
                </a:solidFill>
              </a:rPr>
              <a:t>29,000+ snapshots taken 28, 56, 84 and 112 days before each past renewal, point-in-time</a:t>
            </a:r>
            <a:endParaRPr lang="en-US" sz="1400" dirty="0"/>
          </a:p>
        </p:txBody>
      </p:sp>
      <p:sp>
        <p:nvSpPr>
          <p:cNvPr id="12" name="badge-155"/>
          <p:cNvSpPr/>
          <p:nvPr/>
        </p:nvSpPr>
        <p:spPr>
          <a:xfrm>
            <a:off x="548640" y="3429000"/>
            <a:ext cx="384048" cy="384048"/>
          </a:xfrm>
          <a:prstGeom prst="ellipse">
            <a:avLst/>
          </a:prstGeom>
          <a:solidFill>
            <a:schemeClr val="accent1"/>
          </a:solidFill>
          <a:ln w="12700">
            <a:solidFill>
              <a:schemeClr val="accent1"/>
            </a:solidFill>
            <a:prstDash val="solid"/>
          </a:ln>
        </p:spPr>
      </p:sp>
      <p:sp>
        <p:nvSpPr>
          <p:cNvPr id="13" name="badgetext-156"/>
          <p:cNvSpPr txBox="1"/>
          <p:nvPr/>
        </p:nvSpPr>
        <p:spPr>
          <a:xfrm>
            <a:off x="548640" y="342900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4" name="text-157"/>
          <p:cNvSpPr txBox="1"/>
          <p:nvPr/>
        </p:nvSpPr>
        <p:spPr>
          <a:xfrm>
            <a:off x="1097280" y="3383280"/>
            <a:ext cx="6035040" cy="320040"/>
          </a:xfrm>
          <a:prstGeom prst="rect">
            <a:avLst/>
          </a:prstGeom>
          <a:noFill/>
          <a:ln/>
        </p:spPr>
        <p:txBody>
          <a:bodyPr wrap="square" lIns="0" tIns="0" rIns="0" bIns="0" rtlCol="0" anchor="t"/>
          <a:lstStyle/>
          <a:p>
            <a:pPr indent="0" marL="0">
              <a:buNone/>
            </a:pPr>
            <a:r>
              <a:rPr lang="en-US" sz="1500" b="1" dirty="0">
                <a:solidFill>
                  <a:schemeClr val="tx2"/>
                </a:solidFill>
              </a:rPr>
              <a:t>Model</a:t>
            </a:r>
            <a:endParaRPr lang="en-US" sz="1500" dirty="0"/>
          </a:p>
        </p:txBody>
      </p:sp>
      <p:sp>
        <p:nvSpPr>
          <p:cNvPr id="15" name="text-158"/>
          <p:cNvSpPr txBox="1"/>
          <p:nvPr/>
        </p:nvSpPr>
        <p:spPr>
          <a:xfrm>
            <a:off x="1097280" y="3712464"/>
            <a:ext cx="6035040" cy="502920"/>
          </a:xfrm>
          <a:prstGeom prst="rect">
            <a:avLst/>
          </a:prstGeom>
          <a:noFill/>
          <a:ln/>
        </p:spPr>
        <p:txBody>
          <a:bodyPr wrap="square" lIns="0" tIns="0" rIns="0" bIns="0" rtlCol="0" anchor="t"/>
          <a:lstStyle/>
          <a:p>
            <a:pPr indent="0" marL="0">
              <a:buNone/>
            </a:pPr>
            <a:r>
              <a:rPr lang="en-US" sz="1400" dirty="0">
                <a:solidFill>
                  <a:schemeClr val="tx1"/>
                </a:solidFill>
              </a:rPr>
              <a:t>Logistic regression with sign constraints: a signal whose weight points the wrong way is dropped and the model refit</a:t>
            </a:r>
            <a:endParaRPr lang="en-US" sz="1400" dirty="0"/>
          </a:p>
        </p:txBody>
      </p:sp>
      <p:sp>
        <p:nvSpPr>
          <p:cNvPr id="16" name="badge-159"/>
          <p:cNvSpPr/>
          <p:nvPr/>
        </p:nvSpPr>
        <p:spPr>
          <a:xfrm>
            <a:off x="548640" y="4297680"/>
            <a:ext cx="384048" cy="384048"/>
          </a:xfrm>
          <a:prstGeom prst="ellipse">
            <a:avLst/>
          </a:prstGeom>
          <a:solidFill>
            <a:schemeClr val="accent1"/>
          </a:solidFill>
          <a:ln w="12700">
            <a:solidFill>
              <a:schemeClr val="accent1"/>
            </a:solidFill>
            <a:prstDash val="solid"/>
          </a:ln>
        </p:spPr>
      </p:sp>
      <p:sp>
        <p:nvSpPr>
          <p:cNvPr id="17" name="badgetext-160"/>
          <p:cNvSpPr txBox="1"/>
          <p:nvPr/>
        </p:nvSpPr>
        <p:spPr>
          <a:xfrm>
            <a:off x="548640" y="42976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18" name="text-161"/>
          <p:cNvSpPr txBox="1"/>
          <p:nvPr/>
        </p:nvSpPr>
        <p:spPr>
          <a:xfrm>
            <a:off x="1097280" y="4251960"/>
            <a:ext cx="6035040" cy="320040"/>
          </a:xfrm>
          <a:prstGeom prst="rect">
            <a:avLst/>
          </a:prstGeom>
          <a:noFill/>
          <a:ln/>
        </p:spPr>
        <p:txBody>
          <a:bodyPr wrap="square" lIns="0" tIns="0" rIns="0" bIns="0" rtlCol="0" anchor="t"/>
          <a:lstStyle/>
          <a:p>
            <a:pPr indent="0" marL="0">
              <a:buNone/>
            </a:pPr>
            <a:r>
              <a:rPr lang="en-US" sz="1500" b="1" dirty="0">
                <a:solidFill>
                  <a:schemeClr val="tx2"/>
                </a:solidFill>
              </a:rPr>
              <a:t>Tenancy</a:t>
            </a:r>
            <a:endParaRPr lang="en-US" sz="1500" dirty="0"/>
          </a:p>
        </p:txBody>
      </p:sp>
      <p:sp>
        <p:nvSpPr>
          <p:cNvPr id="19" name="text-162"/>
          <p:cNvSpPr txBox="1"/>
          <p:nvPr/>
        </p:nvSpPr>
        <p:spPr>
          <a:xfrm>
            <a:off x="1097280" y="4581144"/>
            <a:ext cx="6035040" cy="502920"/>
          </a:xfrm>
          <a:prstGeom prst="rect">
            <a:avLst/>
          </a:prstGeom>
          <a:noFill/>
          <a:ln/>
        </p:spPr>
        <p:txBody>
          <a:bodyPr wrap="square" lIns="0" tIns="0" rIns="0" bIns="0" rtlCol="0" anchor="t"/>
          <a:lstStyle/>
          <a:p>
            <a:pPr indent="0" marL="0">
              <a:buNone/>
            </a:pPr>
            <a:r>
              <a:rPr lang="en-US" sz="1400" dirty="0">
                <a:solidFill>
                  <a:schemeClr val="tx1"/>
                </a:solidFill>
              </a:rPr>
              <a:t>One model pooled across companies, then calibrated per company (the smallest has ~100 renewals)</a:t>
            </a:r>
            <a:endParaRPr lang="en-US" sz="1400" dirty="0"/>
          </a:p>
        </p:txBody>
      </p:sp>
      <p:sp>
        <p:nvSpPr>
          <p:cNvPr id="20" name="badge-163"/>
          <p:cNvSpPr/>
          <p:nvPr/>
        </p:nvSpPr>
        <p:spPr>
          <a:xfrm>
            <a:off x="548640" y="5166360"/>
            <a:ext cx="384048" cy="384048"/>
          </a:xfrm>
          <a:prstGeom prst="ellipse">
            <a:avLst/>
          </a:prstGeom>
          <a:solidFill>
            <a:schemeClr val="accent1"/>
          </a:solidFill>
          <a:ln w="12700">
            <a:solidFill>
              <a:schemeClr val="accent1"/>
            </a:solidFill>
            <a:prstDash val="solid"/>
          </a:ln>
        </p:spPr>
      </p:sp>
      <p:sp>
        <p:nvSpPr>
          <p:cNvPr id="21" name="badgetext-16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2" name="text-165"/>
          <p:cNvSpPr txBox="1"/>
          <p:nvPr/>
        </p:nvSpPr>
        <p:spPr>
          <a:xfrm>
            <a:off x="1097280" y="5120640"/>
            <a:ext cx="6035040" cy="320040"/>
          </a:xfrm>
          <a:prstGeom prst="rect">
            <a:avLst/>
          </a:prstGeom>
          <a:noFill/>
          <a:ln/>
        </p:spPr>
        <p:txBody>
          <a:bodyPr wrap="square" lIns="0" tIns="0" rIns="0" bIns="0" rtlCol="0" anchor="t"/>
          <a:lstStyle/>
          <a:p>
            <a:pPr indent="0" marL="0">
              <a:buNone/>
            </a:pPr>
            <a:r>
              <a:rPr lang="en-US" sz="1500" b="1" dirty="0">
                <a:solidFill>
                  <a:schemeClr val="tx2"/>
                </a:solidFill>
              </a:rPr>
              <a:t>Split</a:t>
            </a:r>
            <a:endParaRPr lang="en-US" sz="1500" dirty="0"/>
          </a:p>
        </p:txBody>
      </p:sp>
      <p:sp>
        <p:nvSpPr>
          <p:cNvPr id="23" name="text-166"/>
          <p:cNvSpPr txBox="1"/>
          <p:nvPr/>
        </p:nvSpPr>
        <p:spPr>
          <a:xfrm>
            <a:off x="1097280" y="5449824"/>
            <a:ext cx="6035040" cy="502920"/>
          </a:xfrm>
          <a:prstGeom prst="rect">
            <a:avLst/>
          </a:prstGeom>
          <a:noFill/>
          <a:ln/>
        </p:spPr>
        <p:txBody>
          <a:bodyPr wrap="square" lIns="0" tIns="0" rIns="0" bIns="0" rtlCol="0" anchor="t"/>
          <a:lstStyle/>
          <a:p>
            <a:pPr indent="0" marL="0">
              <a:buNone/>
            </a:pPr>
            <a:r>
              <a:rPr lang="en-US" sz="1400" dirty="0">
                <a:solidFill>
                  <a:schemeClr val="tx1"/>
                </a:solidFill>
              </a:rPr>
              <a:t>By time: train → validate (12–6 months ago) → test (last 6 months, used once)</a:t>
            </a:r>
            <a:endParaRPr lang="en-US" sz="1400" dirty="0"/>
          </a:p>
        </p:txBody>
      </p:sp>
      <p:sp>
        <p:nvSpPr>
          <p:cNvPr id="24" name="card-167"/>
          <p:cNvSpPr/>
          <p:nvPr/>
        </p:nvSpPr>
        <p:spPr>
          <a:xfrm>
            <a:off x="7086600" y="1645920"/>
            <a:ext cx="4556455" cy="2377440"/>
          </a:xfrm>
          <a:prstGeom prst="roundRect">
            <a:avLst>
              <a:gd name="adj" fmla="val 3077"/>
            </a:avLst>
          </a:prstGeom>
          <a:solidFill>
            <a:schemeClr val="tx2"/>
          </a:solidFill>
          <a:ln w="12700">
            <a:solidFill>
              <a:schemeClr val="tx2"/>
            </a:solidFill>
            <a:prstDash val="solid"/>
          </a:ln>
        </p:spPr>
      </p:sp>
      <p:sp>
        <p:nvSpPr>
          <p:cNvPr id="25" name="text-168"/>
          <p:cNvSpPr txBox="1"/>
          <p:nvPr/>
        </p:nvSpPr>
        <p:spPr>
          <a:xfrm>
            <a:off x="7360920" y="1783080"/>
            <a:ext cx="4007815" cy="365760"/>
          </a:xfrm>
          <a:prstGeom prst="rect">
            <a:avLst/>
          </a:prstGeom>
          <a:noFill/>
          <a:ln/>
        </p:spPr>
        <p:txBody>
          <a:bodyPr wrap="square" lIns="0" tIns="0" rIns="0" bIns="0" rtlCol="0" anchor="t"/>
          <a:lstStyle/>
          <a:p>
            <a:pPr indent="0" marL="0">
              <a:buNone/>
            </a:pPr>
            <a:r>
              <a:rPr lang="en-US" sz="1600" b="1" dirty="0">
                <a:solidFill>
                  <a:schemeClr val="accent1"/>
                </a:solidFill>
              </a:rPr>
              <a:t>Policy, not model</a:t>
            </a:r>
            <a:endParaRPr lang="en-US" sz="1600" dirty="0"/>
          </a:p>
        </p:txBody>
      </p:sp>
      <p:sp>
        <p:nvSpPr>
          <p:cNvPr id="26" name="text-169"/>
          <p:cNvSpPr txBox="1"/>
          <p:nvPr/>
        </p:nvSpPr>
        <p:spPr>
          <a:xfrm>
            <a:off x="7360920" y="2194560"/>
            <a:ext cx="4007815" cy="502920"/>
          </a:xfrm>
          <a:prstGeom prst="rect">
            <a:avLst/>
          </a:prstGeom>
          <a:noFill/>
          <a:ln/>
        </p:spPr>
        <p:txBody>
          <a:bodyPr wrap="square" lIns="0" tIns="0" rIns="0" bIns="0" rtlCol="0" anchor="t"/>
          <a:lstStyle/>
          <a:p>
            <a:pPr indent="0" marL="0">
              <a:buNone/>
            </a:pPr>
            <a:r>
              <a:rPr lang="en-US" sz="2200" b="1" dirty="0">
                <a:solidFill>
                  <a:schemeClr val="bg1"/>
                </a:solidFill>
              </a:rPr>
              <a:t>priority = p × √ARR × urgency</a:t>
            </a:r>
            <a:endParaRPr lang="en-US" sz="2200" dirty="0"/>
          </a:p>
        </p:txBody>
      </p:sp>
      <p:sp>
        <p:nvSpPr>
          <p:cNvPr id="27" name="text-170"/>
          <p:cNvSpPr txBox="1"/>
          <p:nvPr/>
        </p:nvSpPr>
        <p:spPr>
          <a:xfrm>
            <a:off x="7360920" y="2743200"/>
            <a:ext cx="4007815" cy="1234440"/>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bg1"/>
                </a:solidFill>
              </a:rPr>
              <a:t>√ARR: a $500k account can't bury every $20k account</a:t>
            </a:r>
            <a:endParaRPr lang="en-US" sz="1300" dirty="0"/>
          </a:p>
          <a:p>
            <a:pPr marL="177800" indent="-177800">
              <a:spcAft>
                <a:spcPts val="300"/>
              </a:spcAft>
              <a:buSzPct val="100000"/>
              <a:buChar char="•"/>
            </a:pPr>
            <a:r>
              <a:rPr lang="en-US" sz="1300" dirty="0">
                <a:solidFill>
                  <a:schemeClr val="bg1"/>
                </a:solidFill>
              </a:rPr>
              <a:t>Urgency peaks 15–120 days before renewal</a:t>
            </a:r>
            <a:endParaRPr lang="en-US" sz="1300" dirty="0"/>
          </a:p>
          <a:p>
            <a:pPr marL="177800" indent="-177800">
              <a:spcAft>
                <a:spcPts val="300"/>
              </a:spcAft>
              <a:buSzPct val="100000"/>
              <a:buChar char="•"/>
            </a:pPr>
            <a:r>
              <a:rPr lang="en-US" sz="1300" dirty="0">
                <a:solidFill>
                  <a:schemeClr val="bg1"/>
                </a:solidFill>
              </a:rPr>
              <a:t>Days-to-renewal is kept out of the model to avoid counting it twice</a:t>
            </a:r>
            <a:endParaRPr lang="en-US" sz="1300" dirty="0"/>
          </a:p>
        </p:txBody>
      </p:sp>
      <p:sp>
        <p:nvSpPr>
          <p:cNvPr id="28" name="card-171"/>
          <p:cNvSpPr/>
          <p:nvPr/>
        </p:nvSpPr>
        <p:spPr>
          <a:xfrm>
            <a:off x="7086600" y="4206240"/>
            <a:ext cx="4556455" cy="1828800"/>
          </a:xfrm>
          <a:prstGeom prst="roundRect">
            <a:avLst>
              <a:gd name="adj" fmla="val 4000"/>
            </a:avLst>
          </a:prstGeom>
          <a:solidFill>
            <a:schemeClr val="accent6"/>
          </a:solidFill>
          <a:ln w="12700">
            <a:solidFill>
              <a:schemeClr val="accent6"/>
            </a:solidFill>
            <a:prstDash val="solid"/>
          </a:ln>
        </p:spPr>
      </p:sp>
      <p:sp>
        <p:nvSpPr>
          <p:cNvPr id="29" name="text-172"/>
          <p:cNvSpPr txBox="1"/>
          <p:nvPr/>
        </p:nvSpPr>
        <p:spPr>
          <a:xfrm>
            <a:off x="7360920" y="4343400"/>
            <a:ext cx="4007815" cy="365760"/>
          </a:xfrm>
          <a:prstGeom prst="rect">
            <a:avLst/>
          </a:prstGeom>
          <a:noFill/>
          <a:ln/>
        </p:spPr>
        <p:txBody>
          <a:bodyPr wrap="square" lIns="0" tIns="0" rIns="0" bIns="0" rtlCol="0" anchor="t"/>
          <a:lstStyle/>
          <a:p>
            <a:pPr indent="0" marL="0">
              <a:buNone/>
            </a:pPr>
            <a:r>
              <a:rPr lang="en-US" sz="1600" b="1" dirty="0">
                <a:solidFill>
                  <a:schemeClr val="tx2"/>
                </a:solidFill>
              </a:rPr>
              <a:t>Where the LLM sits</a:t>
            </a:r>
            <a:endParaRPr lang="en-US" sz="1600" dirty="0"/>
          </a:p>
        </p:txBody>
      </p:sp>
      <p:sp>
        <p:nvSpPr>
          <p:cNvPr id="30" name="text-173"/>
          <p:cNvSpPr txBox="1"/>
          <p:nvPr/>
        </p:nvSpPr>
        <p:spPr>
          <a:xfrm>
            <a:off x="7360920" y="4754880"/>
            <a:ext cx="4007815" cy="1188720"/>
          </a:xfrm>
          <a:prstGeom prst="rect">
            <a:avLst/>
          </a:prstGeom>
          <a:noFill/>
          <a:ln/>
        </p:spPr>
        <p:txBody>
          <a:bodyPr wrap="square" lIns="0" tIns="0" rIns="0" bIns="0" rtlCol="0" anchor="t"/>
          <a:lstStyle/>
          <a:p>
            <a:pPr indent="0" marL="0">
              <a:buNone/>
            </a:pPr>
            <a:r>
              <a:rPr lang="en-US" sz="1400" dirty="0">
                <a:solidFill>
                  <a:schemeClr val="tx1"/>
                </a:solidFill>
              </a:rPr>
              <a:t>After ranking, only for accounts on the call list. Scores and ranks are identical with the LLM switched off.</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How it is evaluated</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Judged on a replay of the weekly call list, not only on AUC: the decision is who fills 15 slots each week</a:t>
            </a:r>
            <a:endParaRPr lang="en-US" sz="1600" dirty="0"/>
          </a:p>
        </p:txBody>
      </p:sp>
      <p:graphicFrame>
        <p:nvGraphicFramePr>
          <p:cNvPr id="4" name="chart-174" descr=""/>
          <p:cNvGraphicFramePr/>
          <p:nvPr/>
        </p:nvGraphicFramePr>
        <p:xfrm>
          <a:off x="548640" y="1600200"/>
          <a:ext cx="6766560" cy="4434840"/>
        </p:xfrm>
        <a:graphic xmlns:a="http://schemas.openxmlformats.org/drawingml/2006/main">
          <a:graphicData uri="http://schemas.openxmlformats.org/drawingml/2006/chart">
            <c:chart xmlns:c="http://schemas.openxmlformats.org/drawingml/2006/chart" r:id="rId1"/>
          </a:graphicData>
        </a:graphic>
      </p:graphicFrame>
      <p:sp>
        <p:nvSpPr>
          <p:cNvPr id="5" name="text-175"/>
          <p:cNvSpPr txBox="1"/>
          <p:nvPr/>
        </p:nvSpPr>
        <p:spPr>
          <a:xfrm>
            <a:off x="7635240" y="1645920"/>
            <a:ext cx="4007815" cy="292608"/>
          </a:xfrm>
          <a:prstGeom prst="rect">
            <a:avLst/>
          </a:prstGeom>
          <a:noFill/>
          <a:ln/>
        </p:spPr>
        <p:txBody>
          <a:bodyPr wrap="square" lIns="0" tIns="0" rIns="0" bIns="0" rtlCol="0" anchor="t"/>
          <a:lstStyle/>
          <a:p>
            <a:pPr indent="0" marL="0">
              <a:buNone/>
            </a:pPr>
            <a:r>
              <a:rPr lang="en-US" sz="1500" b="1" dirty="0">
                <a:solidFill>
                  <a:schemeClr val="tx2"/>
                </a:solidFill>
              </a:rPr>
              <a:t>Ranking</a:t>
            </a:r>
            <a:endParaRPr lang="en-US" sz="1500" dirty="0"/>
          </a:p>
        </p:txBody>
      </p:sp>
      <p:sp>
        <p:nvSpPr>
          <p:cNvPr id="6" name="text-176"/>
          <p:cNvSpPr txBox="1"/>
          <p:nvPr/>
        </p:nvSpPr>
        <p:spPr>
          <a:xfrm>
            <a:off x="7635240" y="1947672"/>
            <a:ext cx="4007815" cy="566928"/>
          </a:xfrm>
          <a:prstGeom prst="rect">
            <a:avLst/>
          </a:prstGeom>
          <a:noFill/>
          <a:ln/>
        </p:spPr>
        <p:txBody>
          <a:bodyPr wrap="square" lIns="0" tIns="0" rIns="0" bIns="0" rtlCol="0" anchor="t"/>
          <a:lstStyle/>
          <a:p>
            <a:pPr indent="0" marL="0">
              <a:buNone/>
            </a:pPr>
            <a:r>
              <a:rPr lang="en-US" sz="1300" dirty="0">
                <a:solidFill>
                  <a:schemeClr val="tx1"/>
                </a:solidFill>
              </a:rPr>
              <a:t>ROC AUC 0.75 · PR AUC 0.29 at a 9.8% base rate (3× lift). Per company 0.79 / 0.75 / 0.69</a:t>
            </a:r>
            <a:endParaRPr lang="en-US" sz="1300" dirty="0"/>
          </a:p>
        </p:txBody>
      </p:sp>
      <p:sp>
        <p:nvSpPr>
          <p:cNvPr id="7" name="text-177"/>
          <p:cNvSpPr txBox="1"/>
          <p:nvPr/>
        </p:nvSpPr>
        <p:spPr>
          <a:xfrm>
            <a:off x="7635240" y="2532888"/>
            <a:ext cx="4007815" cy="292608"/>
          </a:xfrm>
          <a:prstGeom prst="rect">
            <a:avLst/>
          </a:prstGeom>
          <a:noFill/>
          <a:ln/>
        </p:spPr>
        <p:txBody>
          <a:bodyPr wrap="square" lIns="0" tIns="0" rIns="0" bIns="0" rtlCol="0" anchor="t"/>
          <a:lstStyle/>
          <a:p>
            <a:pPr indent="0" marL="0">
              <a:buNone/>
            </a:pPr>
            <a:r>
              <a:rPr lang="en-US" sz="1500" b="1" dirty="0">
                <a:solidFill>
                  <a:schemeClr val="tx2"/>
                </a:solidFill>
              </a:rPr>
              <a:t>Calibration</a:t>
            </a:r>
            <a:endParaRPr lang="en-US" sz="1500" dirty="0"/>
          </a:p>
        </p:txBody>
      </p:sp>
      <p:sp>
        <p:nvSpPr>
          <p:cNvPr id="8" name="text-178"/>
          <p:cNvSpPr txBox="1"/>
          <p:nvPr/>
        </p:nvSpPr>
        <p:spPr>
          <a:xfrm>
            <a:off x="7635240" y="2834640"/>
            <a:ext cx="4007815" cy="566928"/>
          </a:xfrm>
          <a:prstGeom prst="rect">
            <a:avLst/>
          </a:prstGeom>
          <a:noFill/>
          <a:ln/>
        </p:spPr>
        <p:txBody>
          <a:bodyPr wrap="square" lIns="0" tIns="0" rIns="0" bIns="0" rtlCol="0" anchor="t"/>
          <a:lstStyle/>
          <a:p>
            <a:pPr indent="0" marL="0">
              <a:buNone/>
            </a:pPr>
            <a:r>
              <a:rPr lang="en-US" sz="1300" dirty="0">
                <a:solidFill>
                  <a:schemeClr val="tx1"/>
                </a:solidFill>
              </a:rPr>
              <a:t>Predicted and observed churn match within a few points per decile, per company</a:t>
            </a:r>
            <a:endParaRPr lang="en-US" sz="1300" dirty="0"/>
          </a:p>
        </p:txBody>
      </p:sp>
      <p:sp>
        <p:nvSpPr>
          <p:cNvPr id="9" name="text-179"/>
          <p:cNvSpPr txBox="1"/>
          <p:nvPr/>
        </p:nvSpPr>
        <p:spPr>
          <a:xfrm>
            <a:off x="7635240" y="3419856"/>
            <a:ext cx="4007815" cy="292608"/>
          </a:xfrm>
          <a:prstGeom prst="rect">
            <a:avLst/>
          </a:prstGeom>
          <a:noFill/>
          <a:ln/>
        </p:spPr>
        <p:txBody>
          <a:bodyPr wrap="square" lIns="0" tIns="0" rIns="0" bIns="0" rtlCol="0" anchor="t"/>
          <a:lstStyle/>
          <a:p>
            <a:pPr indent="0" marL="0">
              <a:buNone/>
            </a:pPr>
            <a:r>
              <a:rPr lang="en-US" sz="1500" b="1" dirty="0">
                <a:solidFill>
                  <a:schemeClr val="tx2"/>
                </a:solidFill>
              </a:rPr>
              <a:t>Baselines</a:t>
            </a:r>
            <a:endParaRPr lang="en-US" sz="1500" dirty="0"/>
          </a:p>
        </p:txBody>
      </p:sp>
      <p:sp>
        <p:nvSpPr>
          <p:cNvPr id="10" name="text-180"/>
          <p:cNvSpPr txBox="1"/>
          <p:nvPr/>
        </p:nvSpPr>
        <p:spPr>
          <a:xfrm>
            <a:off x="7635240" y="3721608"/>
            <a:ext cx="4007815" cy="566928"/>
          </a:xfrm>
          <a:prstGeom prst="rect">
            <a:avLst/>
          </a:prstGeom>
          <a:noFill/>
          <a:ln/>
        </p:spPr>
        <p:txBody>
          <a:bodyPr wrap="square" lIns="0" tIns="0" rIns="0" bIns="0" rtlCol="0" anchor="t"/>
          <a:lstStyle/>
          <a:p>
            <a:pPr indent="0" marL="0">
              <a:buNone/>
            </a:pPr>
            <a:r>
              <a:rPr lang="en-US" sz="1300" dirty="0">
                <a:solidFill>
                  <a:schemeClr val="tx1"/>
                </a:solidFill>
              </a:rPr>
              <a:t>Rules score and today's ARR + date ordering, at the same capacity</a:t>
            </a:r>
            <a:endParaRPr lang="en-US" sz="1300" dirty="0"/>
          </a:p>
        </p:txBody>
      </p:sp>
      <p:sp>
        <p:nvSpPr>
          <p:cNvPr id="11" name="text-181"/>
          <p:cNvSpPr txBox="1"/>
          <p:nvPr/>
        </p:nvSpPr>
        <p:spPr>
          <a:xfrm>
            <a:off x="7635240" y="4306824"/>
            <a:ext cx="4007815" cy="292608"/>
          </a:xfrm>
          <a:prstGeom prst="rect">
            <a:avLst/>
          </a:prstGeom>
          <a:noFill/>
          <a:ln/>
        </p:spPr>
        <p:txBody>
          <a:bodyPr wrap="square" lIns="0" tIns="0" rIns="0" bIns="0" rtlCol="0" anchor="t"/>
          <a:lstStyle/>
          <a:p>
            <a:pPr indent="0" marL="0">
              <a:buNone/>
            </a:pPr>
            <a:r>
              <a:rPr lang="en-US" sz="1500" b="1" dirty="0">
                <a:solidFill>
                  <a:schemeClr val="tx2"/>
                </a:solidFill>
              </a:rPr>
              <a:t>Ceiling</a:t>
            </a:r>
            <a:endParaRPr lang="en-US" sz="1500" dirty="0"/>
          </a:p>
        </p:txBody>
      </p:sp>
      <p:sp>
        <p:nvSpPr>
          <p:cNvPr id="12" name="text-182"/>
          <p:cNvSpPr txBox="1"/>
          <p:nvPr/>
        </p:nvSpPr>
        <p:spPr>
          <a:xfrm>
            <a:off x="7635240" y="4608576"/>
            <a:ext cx="4007815" cy="566928"/>
          </a:xfrm>
          <a:prstGeom prst="rect">
            <a:avLst/>
          </a:prstGeom>
          <a:noFill/>
          <a:ln/>
        </p:spPr>
        <p:txBody>
          <a:bodyPr wrap="square" lIns="0" tIns="0" rIns="0" bIns="0" rtlCol="0" anchor="t"/>
          <a:lstStyle/>
          <a:p>
            <a:pPr indent="0" marL="0">
              <a:buNone/>
            </a:pPr>
            <a:r>
              <a:rPr lang="en-US" sz="1300" dirty="0">
                <a:solidFill>
                  <a:schemeClr val="tx1"/>
                </a:solidFill>
              </a:rPr>
              <a:t>Precision 9.4% vs 16% with perfect foresight</a:t>
            </a:r>
            <a:endParaRPr lang="en-US" sz="1300" dirty="0"/>
          </a:p>
        </p:txBody>
      </p:sp>
      <p:sp>
        <p:nvSpPr>
          <p:cNvPr id="13" name="text-183"/>
          <p:cNvSpPr txBox="1"/>
          <p:nvPr/>
        </p:nvSpPr>
        <p:spPr>
          <a:xfrm>
            <a:off x="7635240" y="5193792"/>
            <a:ext cx="4007815" cy="292608"/>
          </a:xfrm>
          <a:prstGeom prst="rect">
            <a:avLst/>
          </a:prstGeom>
          <a:noFill/>
          <a:ln/>
        </p:spPr>
        <p:txBody>
          <a:bodyPr wrap="square" lIns="0" tIns="0" rIns="0" bIns="0" rtlCol="0" anchor="t"/>
          <a:lstStyle/>
          <a:p>
            <a:pPr indent="0" marL="0">
              <a:buNone/>
            </a:pPr>
            <a:r>
              <a:rPr lang="en-US" sz="1500" b="1" dirty="0">
                <a:solidFill>
                  <a:schemeClr val="tx2"/>
                </a:solidFill>
              </a:rPr>
              <a:t>Stories</a:t>
            </a:r>
            <a:endParaRPr lang="en-US" sz="1500" dirty="0"/>
          </a:p>
        </p:txBody>
      </p:sp>
      <p:sp>
        <p:nvSpPr>
          <p:cNvPr id="14" name="text-184"/>
          <p:cNvSpPr txBox="1"/>
          <p:nvPr/>
        </p:nvSpPr>
        <p:spPr>
          <a:xfrm>
            <a:off x="7635240" y="5495544"/>
            <a:ext cx="4007815" cy="566928"/>
          </a:xfrm>
          <a:prstGeom prst="rect">
            <a:avLst/>
          </a:prstGeom>
          <a:noFill/>
          <a:ln/>
        </p:spPr>
        <p:txBody>
          <a:bodyPr wrap="square" lIns="0" tIns="0" rIns="0" bIns="0" rtlCol="0" anchor="t"/>
          <a:lstStyle/>
          <a:p>
            <a:pPr indent="0" marL="0">
              <a:buNone/>
            </a:pPr>
            <a:r>
              <a:rPr lang="en-US" sz="1300" dirty="0">
                <a:solidFill>
                  <a:schemeClr val="tx1"/>
                </a:solidFill>
              </a:rPr>
              <a:t>Kestrel listed 105 days early; rules never</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How the unattended work is triggered</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A scheduler container starts one run per company at 02:00 in that company's timezone; no human in the loop</a:t>
            </a:r>
            <a:endParaRPr lang="en-US" sz="1600" dirty="0"/>
          </a:p>
        </p:txBody>
      </p:sp>
      <p:sp>
        <p:nvSpPr>
          <p:cNvPr id="4" name="card-185"/>
          <p:cNvSpPr/>
          <p:nvPr/>
        </p:nvSpPr>
        <p:spPr>
          <a:xfrm>
            <a:off x="548640" y="1691640"/>
            <a:ext cx="1417320" cy="731520"/>
          </a:xfrm>
          <a:prstGeom prst="roundRect">
            <a:avLst>
              <a:gd name="adj" fmla="val 10000"/>
            </a:avLst>
          </a:prstGeom>
          <a:solidFill>
            <a:schemeClr val="bg2"/>
          </a:solidFill>
          <a:ln w="12700">
            <a:solidFill>
              <a:schemeClr val="bg2"/>
            </a:solidFill>
            <a:prstDash val="solid"/>
          </a:ln>
        </p:spPr>
      </p:sp>
      <p:sp>
        <p:nvSpPr>
          <p:cNvPr id="5" name="text-186"/>
          <p:cNvSpPr txBox="1"/>
          <p:nvPr/>
        </p:nvSpPr>
        <p:spPr>
          <a:xfrm>
            <a:off x="548640"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ingest</a:t>
            </a:r>
            <a:endParaRPr lang="en-US" sz="1400" dirty="0"/>
          </a:p>
        </p:txBody>
      </p:sp>
      <p:sp>
        <p:nvSpPr>
          <p:cNvPr id="6" name="arrow-187"/>
          <p:cNvSpPr/>
          <p:nvPr/>
        </p:nvSpPr>
        <p:spPr>
          <a:xfrm>
            <a:off x="1984248" y="2057400"/>
            <a:ext cx="158953" cy="0"/>
          </a:xfrm>
          <a:prstGeom prst="line">
            <a:avLst/>
          </a:prstGeom>
          <a:noFill/>
          <a:ln w="19050">
            <a:solidFill>
              <a:schemeClr val="accent5"/>
            </a:solidFill>
            <a:prstDash val="solid"/>
            <a:tailEnd type="triangle"/>
          </a:ln>
        </p:spPr>
      </p:sp>
      <p:sp>
        <p:nvSpPr>
          <p:cNvPr id="7" name="card-188"/>
          <p:cNvSpPr/>
          <p:nvPr/>
        </p:nvSpPr>
        <p:spPr>
          <a:xfrm>
            <a:off x="2161489" y="1691640"/>
            <a:ext cx="1417320" cy="731520"/>
          </a:xfrm>
          <a:prstGeom prst="roundRect">
            <a:avLst>
              <a:gd name="adj" fmla="val 10000"/>
            </a:avLst>
          </a:prstGeom>
          <a:solidFill>
            <a:schemeClr val="bg2"/>
          </a:solidFill>
          <a:ln w="12700">
            <a:solidFill>
              <a:schemeClr val="bg2"/>
            </a:solidFill>
            <a:prstDash val="solid"/>
          </a:ln>
        </p:spPr>
      </p:sp>
      <p:sp>
        <p:nvSpPr>
          <p:cNvPr id="8" name="text-189"/>
          <p:cNvSpPr txBox="1"/>
          <p:nvPr/>
        </p:nvSpPr>
        <p:spPr>
          <a:xfrm>
            <a:off x="2161489"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identity</a:t>
            </a:r>
            <a:endParaRPr lang="en-US" sz="1400" dirty="0"/>
          </a:p>
        </p:txBody>
      </p:sp>
      <p:sp>
        <p:nvSpPr>
          <p:cNvPr id="9" name="arrow-190"/>
          <p:cNvSpPr/>
          <p:nvPr/>
        </p:nvSpPr>
        <p:spPr>
          <a:xfrm>
            <a:off x="3597097" y="2057400"/>
            <a:ext cx="158953" cy="0"/>
          </a:xfrm>
          <a:prstGeom prst="line">
            <a:avLst/>
          </a:prstGeom>
          <a:noFill/>
          <a:ln w="19050">
            <a:solidFill>
              <a:schemeClr val="accent5"/>
            </a:solidFill>
            <a:prstDash val="solid"/>
            <a:tailEnd type="triangle"/>
          </a:ln>
        </p:spPr>
      </p:sp>
      <p:sp>
        <p:nvSpPr>
          <p:cNvPr id="10" name="card-191"/>
          <p:cNvSpPr/>
          <p:nvPr/>
        </p:nvSpPr>
        <p:spPr>
          <a:xfrm>
            <a:off x="3774338" y="1691640"/>
            <a:ext cx="1417320" cy="731520"/>
          </a:xfrm>
          <a:prstGeom prst="roundRect">
            <a:avLst>
              <a:gd name="adj" fmla="val 10000"/>
            </a:avLst>
          </a:prstGeom>
          <a:solidFill>
            <a:schemeClr val="bg2"/>
          </a:solidFill>
          <a:ln w="12700">
            <a:solidFill>
              <a:schemeClr val="bg2"/>
            </a:solidFill>
            <a:prstDash val="solid"/>
          </a:ln>
        </p:spPr>
      </p:sp>
      <p:sp>
        <p:nvSpPr>
          <p:cNvPr id="11" name="text-192"/>
          <p:cNvSpPr txBox="1"/>
          <p:nvPr/>
        </p:nvSpPr>
        <p:spPr>
          <a:xfrm>
            <a:off x="3774338"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load model</a:t>
            </a:r>
            <a:endParaRPr lang="en-US" sz="1400" dirty="0"/>
          </a:p>
        </p:txBody>
      </p:sp>
      <p:sp>
        <p:nvSpPr>
          <p:cNvPr id="12" name="arrow-193"/>
          <p:cNvSpPr/>
          <p:nvPr/>
        </p:nvSpPr>
        <p:spPr>
          <a:xfrm>
            <a:off x="5209946" y="2057400"/>
            <a:ext cx="158953" cy="0"/>
          </a:xfrm>
          <a:prstGeom prst="line">
            <a:avLst/>
          </a:prstGeom>
          <a:noFill/>
          <a:ln w="19050">
            <a:solidFill>
              <a:schemeClr val="accent5"/>
            </a:solidFill>
            <a:prstDash val="solid"/>
            <a:tailEnd type="triangle"/>
          </a:ln>
        </p:spPr>
      </p:sp>
      <p:sp>
        <p:nvSpPr>
          <p:cNvPr id="13" name="card-194"/>
          <p:cNvSpPr/>
          <p:nvPr/>
        </p:nvSpPr>
        <p:spPr>
          <a:xfrm>
            <a:off x="5387188" y="1691640"/>
            <a:ext cx="1417320" cy="731520"/>
          </a:xfrm>
          <a:prstGeom prst="roundRect">
            <a:avLst>
              <a:gd name="adj" fmla="val 10000"/>
            </a:avLst>
          </a:prstGeom>
          <a:solidFill>
            <a:schemeClr val="bg2"/>
          </a:solidFill>
          <a:ln w="12700">
            <a:solidFill>
              <a:schemeClr val="bg2"/>
            </a:solidFill>
            <a:prstDash val="solid"/>
          </a:ln>
        </p:spPr>
      </p:sp>
      <p:sp>
        <p:nvSpPr>
          <p:cNvPr id="14" name="text-195"/>
          <p:cNvSpPr txBox="1"/>
          <p:nvPr/>
        </p:nvSpPr>
        <p:spPr>
          <a:xfrm>
            <a:off x="5387188"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load data</a:t>
            </a:r>
            <a:endParaRPr lang="en-US" sz="1400" dirty="0"/>
          </a:p>
        </p:txBody>
      </p:sp>
      <p:sp>
        <p:nvSpPr>
          <p:cNvPr id="15" name="arrow-196"/>
          <p:cNvSpPr/>
          <p:nvPr/>
        </p:nvSpPr>
        <p:spPr>
          <a:xfrm>
            <a:off x="6822796" y="2057400"/>
            <a:ext cx="158953" cy="0"/>
          </a:xfrm>
          <a:prstGeom prst="line">
            <a:avLst/>
          </a:prstGeom>
          <a:noFill/>
          <a:ln w="19050">
            <a:solidFill>
              <a:schemeClr val="accent5"/>
            </a:solidFill>
            <a:prstDash val="solid"/>
            <a:tailEnd type="triangle"/>
          </a:ln>
        </p:spPr>
      </p:sp>
      <p:sp>
        <p:nvSpPr>
          <p:cNvPr id="16" name="card-197"/>
          <p:cNvSpPr/>
          <p:nvPr/>
        </p:nvSpPr>
        <p:spPr>
          <a:xfrm>
            <a:off x="7000037" y="1691640"/>
            <a:ext cx="1417320" cy="731520"/>
          </a:xfrm>
          <a:prstGeom prst="roundRect">
            <a:avLst>
              <a:gd name="adj" fmla="val 10000"/>
            </a:avLst>
          </a:prstGeom>
          <a:solidFill>
            <a:schemeClr val="bg2"/>
          </a:solidFill>
          <a:ln w="12700">
            <a:solidFill>
              <a:schemeClr val="bg2"/>
            </a:solidFill>
            <a:prstDash val="solid"/>
          </a:ln>
        </p:spPr>
      </p:sp>
      <p:sp>
        <p:nvSpPr>
          <p:cNvPr id="17" name="text-198"/>
          <p:cNvSpPr txBox="1"/>
          <p:nvPr/>
        </p:nvSpPr>
        <p:spPr>
          <a:xfrm>
            <a:off x="7000037"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score</a:t>
            </a:r>
            <a:endParaRPr lang="en-US" sz="1400" dirty="0"/>
          </a:p>
        </p:txBody>
      </p:sp>
      <p:sp>
        <p:nvSpPr>
          <p:cNvPr id="18" name="arrow-199"/>
          <p:cNvSpPr/>
          <p:nvPr/>
        </p:nvSpPr>
        <p:spPr>
          <a:xfrm>
            <a:off x="8435645" y="2057400"/>
            <a:ext cx="158953" cy="0"/>
          </a:xfrm>
          <a:prstGeom prst="line">
            <a:avLst/>
          </a:prstGeom>
          <a:noFill/>
          <a:ln w="19050">
            <a:solidFill>
              <a:schemeClr val="accent5"/>
            </a:solidFill>
            <a:prstDash val="solid"/>
            <a:tailEnd type="triangle"/>
          </a:ln>
        </p:spPr>
      </p:sp>
      <p:sp>
        <p:nvSpPr>
          <p:cNvPr id="19" name="card-200"/>
          <p:cNvSpPr/>
          <p:nvPr/>
        </p:nvSpPr>
        <p:spPr>
          <a:xfrm>
            <a:off x="8612886" y="1691640"/>
            <a:ext cx="1417320" cy="731520"/>
          </a:xfrm>
          <a:prstGeom prst="roundRect">
            <a:avLst>
              <a:gd name="adj" fmla="val 10000"/>
            </a:avLst>
          </a:prstGeom>
          <a:solidFill>
            <a:schemeClr val="bg2"/>
          </a:solidFill>
          <a:ln w="12700">
            <a:solidFill>
              <a:schemeClr val="bg2"/>
            </a:solidFill>
            <a:prstDash val="solid"/>
          </a:ln>
        </p:spPr>
      </p:sp>
      <p:sp>
        <p:nvSpPr>
          <p:cNvPr id="20" name="text-201"/>
          <p:cNvSpPr txBox="1"/>
          <p:nvPr/>
        </p:nvSpPr>
        <p:spPr>
          <a:xfrm>
            <a:off x="8612886" y="1691640"/>
            <a:ext cx="1417320" cy="731520"/>
          </a:xfrm>
          <a:prstGeom prst="rect">
            <a:avLst/>
          </a:prstGeom>
          <a:noFill/>
          <a:ln/>
        </p:spPr>
        <p:txBody>
          <a:bodyPr wrap="square" lIns="0" tIns="0" rIns="0" bIns="0" rtlCol="0" anchor="ctr"/>
          <a:lstStyle/>
          <a:p>
            <a:pPr algn="ctr" indent="0" marL="0">
              <a:buNone/>
            </a:pPr>
            <a:r>
              <a:rPr lang="en-US" sz="1400" b="1" dirty="0">
                <a:solidFill>
                  <a:schemeClr val="tx2"/>
                </a:solidFill>
              </a:rPr>
              <a:t>persist scores</a:t>
            </a:r>
            <a:endParaRPr lang="en-US" sz="1400" dirty="0"/>
          </a:p>
        </p:txBody>
      </p:sp>
      <p:sp>
        <p:nvSpPr>
          <p:cNvPr id="21" name="arrow-202"/>
          <p:cNvSpPr/>
          <p:nvPr/>
        </p:nvSpPr>
        <p:spPr>
          <a:xfrm>
            <a:off x="10048494" y="2057400"/>
            <a:ext cx="158953" cy="0"/>
          </a:xfrm>
          <a:prstGeom prst="line">
            <a:avLst/>
          </a:prstGeom>
          <a:noFill/>
          <a:ln w="19050">
            <a:solidFill>
              <a:schemeClr val="accent5"/>
            </a:solidFill>
            <a:prstDash val="solid"/>
            <a:tailEnd type="triangle"/>
          </a:ln>
        </p:spPr>
      </p:sp>
      <p:sp>
        <p:nvSpPr>
          <p:cNvPr id="22" name="card-203"/>
          <p:cNvSpPr/>
          <p:nvPr/>
        </p:nvSpPr>
        <p:spPr>
          <a:xfrm>
            <a:off x="10225735" y="1691640"/>
            <a:ext cx="1417320" cy="731520"/>
          </a:xfrm>
          <a:prstGeom prst="roundRect">
            <a:avLst>
              <a:gd name="adj" fmla="val 10000"/>
            </a:avLst>
          </a:prstGeom>
          <a:solidFill>
            <a:schemeClr val="tx2"/>
          </a:solidFill>
          <a:ln w="12700">
            <a:solidFill>
              <a:schemeClr val="tx2"/>
            </a:solidFill>
            <a:prstDash val="solid"/>
          </a:ln>
        </p:spPr>
      </p:sp>
      <p:sp>
        <p:nvSpPr>
          <p:cNvPr id="23" name="text-204"/>
          <p:cNvSpPr txBox="1"/>
          <p:nvPr/>
        </p:nvSpPr>
        <p:spPr>
          <a:xfrm>
            <a:off x="10225735" y="1691640"/>
            <a:ext cx="1417320" cy="731520"/>
          </a:xfrm>
          <a:prstGeom prst="rect">
            <a:avLst/>
          </a:prstGeom>
          <a:noFill/>
          <a:ln/>
        </p:spPr>
        <p:txBody>
          <a:bodyPr wrap="square" lIns="0" tIns="0" rIns="0" bIns="0" rtlCol="0" anchor="ctr"/>
          <a:lstStyle/>
          <a:p>
            <a:pPr algn="ctr" indent="0" marL="0">
              <a:buNone/>
            </a:pPr>
            <a:r>
              <a:rPr lang="en-US" sz="1400" b="1" dirty="0">
                <a:solidFill>
                  <a:schemeClr val="bg1"/>
                </a:solidFill>
              </a:rPr>
              <a:t>briefs</a:t>
            </a:r>
            <a:endParaRPr lang="en-US" sz="1400" dirty="0"/>
          </a:p>
        </p:txBody>
      </p:sp>
      <p:sp>
        <p:nvSpPr>
          <p:cNvPr id="24" name="text-205"/>
          <p:cNvSpPr txBox="1"/>
          <p:nvPr/>
        </p:nvSpPr>
        <p:spPr>
          <a:xfrm>
            <a:off x="548640" y="2514600"/>
            <a:ext cx="11094415" cy="320040"/>
          </a:xfrm>
          <a:prstGeom prst="rect">
            <a:avLst/>
          </a:prstGeom>
          <a:noFill/>
          <a:ln/>
        </p:spPr>
        <p:txBody>
          <a:bodyPr wrap="square" lIns="0" tIns="0" rIns="0" bIns="0" rtlCol="0" anchor="t"/>
          <a:lstStyle/>
          <a:p>
            <a:pPr indent="0" marL="0">
              <a:buNone/>
            </a:pPr>
            <a:r>
              <a:rPr lang="en-US" sz="1300" dirty="0">
                <a:solidFill>
                  <a:schemeClr val="accent5"/>
                </a:solidFill>
              </a:rPr>
              <a:t>Each step is timed and logged; the run writes a heartbeat; briefs are saved in batches of 50</a:t>
            </a:r>
            <a:endParaRPr lang="en-US" sz="1300" dirty="0"/>
          </a:p>
        </p:txBody>
      </p:sp>
      <p:sp>
        <p:nvSpPr>
          <p:cNvPr id="25" name="card-206"/>
          <p:cNvSpPr/>
          <p:nvPr/>
        </p:nvSpPr>
        <p:spPr>
          <a:xfrm>
            <a:off x="548640" y="3017520"/>
            <a:ext cx="3515258" cy="3017520"/>
          </a:xfrm>
          <a:prstGeom prst="roundRect">
            <a:avLst>
              <a:gd name="adj" fmla="val 2424"/>
            </a:avLst>
          </a:prstGeom>
          <a:solidFill>
            <a:schemeClr val="bg2"/>
          </a:solidFill>
          <a:ln w="12700">
            <a:solidFill>
              <a:schemeClr val="bg2"/>
            </a:solidFill>
            <a:prstDash val="solid"/>
          </a:ln>
        </p:spPr>
      </p:sp>
      <p:sp>
        <p:nvSpPr>
          <p:cNvPr id="26" name="text-207"/>
          <p:cNvSpPr txBox="1"/>
          <p:nvPr/>
        </p:nvSpPr>
        <p:spPr>
          <a:xfrm>
            <a:off x="777240" y="3182112"/>
            <a:ext cx="3058058" cy="365760"/>
          </a:xfrm>
          <a:prstGeom prst="rect">
            <a:avLst/>
          </a:prstGeom>
          <a:noFill/>
          <a:ln/>
        </p:spPr>
        <p:txBody>
          <a:bodyPr wrap="square" lIns="0" tIns="0" rIns="0" bIns="0" rtlCol="0" anchor="t"/>
          <a:lstStyle/>
          <a:p>
            <a:pPr indent="0" marL="0">
              <a:buNone/>
            </a:pPr>
            <a:r>
              <a:rPr lang="en-US" sz="1600" b="1" dirty="0">
                <a:solidFill>
                  <a:schemeClr val="tx2"/>
                </a:solidFill>
              </a:rPr>
              <a:t>When it fails</a:t>
            </a:r>
            <a:endParaRPr lang="en-US" sz="1600" dirty="0"/>
          </a:p>
        </p:txBody>
      </p:sp>
      <p:sp>
        <p:nvSpPr>
          <p:cNvPr id="27" name="text-208"/>
          <p:cNvSpPr txBox="1"/>
          <p:nvPr/>
        </p:nvSpPr>
        <p:spPr>
          <a:xfrm>
            <a:off x="777240" y="3657600"/>
            <a:ext cx="3058058" cy="22860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Resumed once automatically, from the failed step</a:t>
            </a:r>
            <a:endParaRPr lang="en-US" sz="1400" dirty="0"/>
          </a:p>
          <a:p>
            <a:pPr marL="177800" indent="-177800">
              <a:spcAft>
                <a:spcPts val="600"/>
              </a:spcAft>
              <a:buSzPct val="100000"/>
              <a:buChar char="•"/>
            </a:pPr>
            <a:r>
              <a:rPr lang="en-US" sz="1400" dirty="0">
                <a:solidFill>
                  <a:schemeClr val="tx1"/>
                </a:solidFill>
              </a:rPr>
              <a:t>Durable steps and saved briefs are skipped</a:t>
            </a:r>
            <a:endParaRPr lang="en-US" sz="1400" dirty="0"/>
          </a:p>
          <a:p>
            <a:pPr marL="177800" indent="-177800">
              <a:spcAft>
                <a:spcPts val="600"/>
              </a:spcAft>
              <a:buSzPct val="100000"/>
              <a:buChar char="•"/>
            </a:pPr>
            <a:r>
              <a:rPr lang="en-US" sz="1400" dirty="0">
                <a:solidFill>
                  <a:schemeClr val="tx1"/>
                </a:solidFill>
              </a:rPr>
              <a:t>Still failing: alert, then a manager clicks Resume</a:t>
            </a:r>
            <a:endParaRPr lang="en-US" sz="1400" dirty="0"/>
          </a:p>
        </p:txBody>
      </p:sp>
      <p:sp>
        <p:nvSpPr>
          <p:cNvPr id="28" name="card-209"/>
          <p:cNvSpPr/>
          <p:nvPr/>
        </p:nvSpPr>
        <p:spPr>
          <a:xfrm>
            <a:off x="4338218" y="3017520"/>
            <a:ext cx="3515258" cy="3017520"/>
          </a:xfrm>
          <a:prstGeom prst="roundRect">
            <a:avLst>
              <a:gd name="adj" fmla="val 2424"/>
            </a:avLst>
          </a:prstGeom>
          <a:solidFill>
            <a:schemeClr val="bg2"/>
          </a:solidFill>
          <a:ln w="12700">
            <a:solidFill>
              <a:schemeClr val="bg2"/>
            </a:solidFill>
            <a:prstDash val="solid"/>
          </a:ln>
        </p:spPr>
      </p:sp>
      <p:sp>
        <p:nvSpPr>
          <p:cNvPr id="29" name="text-210"/>
          <p:cNvSpPr txBox="1"/>
          <p:nvPr/>
        </p:nvSpPr>
        <p:spPr>
          <a:xfrm>
            <a:off x="4566818" y="3182112"/>
            <a:ext cx="3058058" cy="365760"/>
          </a:xfrm>
          <a:prstGeom prst="rect">
            <a:avLst/>
          </a:prstGeom>
          <a:noFill/>
          <a:ln/>
        </p:spPr>
        <p:txBody>
          <a:bodyPr wrap="square" lIns="0" tIns="0" rIns="0" bIns="0" rtlCol="0" anchor="t"/>
          <a:lstStyle/>
          <a:p>
            <a:pPr indent="0" marL="0">
              <a:buNone/>
            </a:pPr>
            <a:r>
              <a:rPr lang="en-US" sz="1600" b="1" dirty="0">
                <a:solidFill>
                  <a:schemeClr val="tx2"/>
                </a:solidFill>
              </a:rPr>
              <a:t>Safety rails</a:t>
            </a:r>
            <a:endParaRPr lang="en-US" sz="1600" dirty="0"/>
          </a:p>
        </p:txBody>
      </p:sp>
      <p:sp>
        <p:nvSpPr>
          <p:cNvPr id="30" name="text-211"/>
          <p:cNvSpPr txBox="1"/>
          <p:nvPr/>
        </p:nvSpPr>
        <p:spPr>
          <a:xfrm>
            <a:off x="4566818" y="3657600"/>
            <a:ext cx="3058058" cy="22860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Per-company Postgres lock: never two runs at once</a:t>
            </a:r>
            <a:endParaRPr lang="en-US" sz="1400" dirty="0"/>
          </a:p>
          <a:p>
            <a:pPr marL="177800" indent="-177800">
              <a:spcAft>
                <a:spcPts val="600"/>
              </a:spcAft>
              <a:buSzPct val="100000"/>
              <a:buChar char="•"/>
            </a:pPr>
            <a:r>
              <a:rPr lang="en-US" sz="1400" dirty="0">
                <a:solidFill>
                  <a:schemeClr val="tx1"/>
                </a:solidFill>
              </a:rPr>
              <a:t>Each job is a child process: a crash can't kill the scheduler</a:t>
            </a:r>
            <a:endParaRPr lang="en-US" sz="1400" dirty="0"/>
          </a:p>
          <a:p>
            <a:pPr marL="177800" indent="-177800">
              <a:spcAft>
                <a:spcPts val="600"/>
              </a:spcAft>
              <a:buSzPct val="100000"/>
              <a:buChar char="•"/>
            </a:pPr>
            <a:r>
              <a:rPr lang="en-US" sz="1400" dirty="0">
                <a:solidFill>
                  <a:schemeClr val="tx1"/>
                </a:solidFill>
              </a:rPr>
              <a:t>06:30 UTC watchdog: stuck runs → abandoned, missing runs started</a:t>
            </a:r>
            <a:endParaRPr lang="en-US" sz="1400" dirty="0"/>
          </a:p>
        </p:txBody>
      </p:sp>
      <p:sp>
        <p:nvSpPr>
          <p:cNvPr id="31" name="card-212"/>
          <p:cNvSpPr/>
          <p:nvPr/>
        </p:nvSpPr>
        <p:spPr>
          <a:xfrm>
            <a:off x="8127797" y="3017520"/>
            <a:ext cx="3515258" cy="3017520"/>
          </a:xfrm>
          <a:prstGeom prst="roundRect">
            <a:avLst>
              <a:gd name="adj" fmla="val 2424"/>
            </a:avLst>
          </a:prstGeom>
          <a:solidFill>
            <a:schemeClr val="accent6"/>
          </a:solidFill>
          <a:ln w="12700">
            <a:solidFill>
              <a:schemeClr val="accent6"/>
            </a:solidFill>
            <a:prstDash val="solid"/>
          </a:ln>
        </p:spPr>
      </p:sp>
      <p:sp>
        <p:nvSpPr>
          <p:cNvPr id="32" name="text-213"/>
          <p:cNvSpPr txBox="1"/>
          <p:nvPr/>
        </p:nvSpPr>
        <p:spPr>
          <a:xfrm>
            <a:off x="8356397" y="3182112"/>
            <a:ext cx="3058058" cy="365760"/>
          </a:xfrm>
          <a:prstGeom prst="rect">
            <a:avLst/>
          </a:prstGeom>
          <a:noFill/>
          <a:ln/>
        </p:spPr>
        <p:txBody>
          <a:bodyPr wrap="square" lIns="0" tIns="0" rIns="0" bIns="0" rtlCol="0" anchor="t"/>
          <a:lstStyle/>
          <a:p>
            <a:pPr indent="0" marL="0">
              <a:buNone/>
            </a:pPr>
            <a:r>
              <a:rPr lang="en-US" sz="1600" b="1" dirty="0">
                <a:solidFill>
                  <a:schemeClr val="tx2"/>
                </a:solidFill>
              </a:rPr>
              <a:t>Why nightly, not real-time</a:t>
            </a:r>
            <a:endParaRPr lang="en-US" sz="1600" dirty="0"/>
          </a:p>
        </p:txBody>
      </p:sp>
      <p:sp>
        <p:nvSpPr>
          <p:cNvPr id="33" name="text-214"/>
          <p:cNvSpPr txBox="1"/>
          <p:nvPr/>
        </p:nvSpPr>
        <p:spPr>
          <a:xfrm>
            <a:off x="8356397" y="3657600"/>
            <a:ext cx="3058058" cy="22860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The job is weekly prioritisation; churn builds over weeks (median 86-day lead)</a:t>
            </a:r>
            <a:endParaRPr lang="en-US" sz="1400" dirty="0"/>
          </a:p>
          <a:p>
            <a:pPr marL="177800" indent="-177800">
              <a:spcAft>
                <a:spcPts val="600"/>
              </a:spcAft>
              <a:buSzPct val="100000"/>
              <a:buChar char="•"/>
            </a:pPr>
            <a:r>
              <a:rPr lang="en-US" sz="1400" dirty="0">
                <a:solidFill>
                  <a:schemeClr val="tx1"/>
                </a:solidFill>
              </a:rPr>
              <a:t>Urgent events already have owners: support, dunning</a:t>
            </a:r>
            <a:endParaRPr lang="en-US" sz="1400" dirty="0"/>
          </a:p>
          <a:p>
            <a:pPr marL="177800" indent="-177800">
              <a:spcAft>
                <a:spcPts val="600"/>
              </a:spcAft>
              <a:buSzPct val="100000"/>
              <a:buChar char="•"/>
            </a:pPr>
            <a:r>
              <a:rPr lang="en-US" sz="1400" dirty="0">
                <a:solidFill>
                  <a:schemeClr val="tx1"/>
                </a:solidFill>
              </a:rPr>
              <a:t>A stable list keeps CSMs focused during the day</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Trust: grounded, isolated, traceable</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The places where a wrong answer would hurt a customer relationship got the most engineering</a:t>
            </a:r>
            <a:endParaRPr lang="en-US" sz="1600" dirty="0"/>
          </a:p>
        </p:txBody>
      </p:sp>
      <p:sp>
        <p:nvSpPr>
          <p:cNvPr id="4" name="card-215"/>
          <p:cNvSpPr/>
          <p:nvPr/>
        </p:nvSpPr>
        <p:spPr>
          <a:xfrm>
            <a:off x="548640" y="1645920"/>
            <a:ext cx="3515258" cy="4434840"/>
          </a:xfrm>
          <a:prstGeom prst="roundRect">
            <a:avLst>
              <a:gd name="adj" fmla="val 2081"/>
            </a:avLst>
          </a:prstGeom>
          <a:solidFill>
            <a:schemeClr val="tx2"/>
          </a:solidFill>
          <a:ln w="12700">
            <a:solidFill>
              <a:schemeClr val="tx2"/>
            </a:solidFill>
            <a:prstDash val="solid"/>
          </a:ln>
        </p:spPr>
      </p:sp>
      <p:sp>
        <p:nvSpPr>
          <p:cNvPr id="5" name="badge-216"/>
          <p:cNvSpPr/>
          <p:nvPr/>
        </p:nvSpPr>
        <p:spPr>
          <a:xfrm>
            <a:off x="777240" y="1874520"/>
            <a:ext cx="384048" cy="384048"/>
          </a:xfrm>
          <a:prstGeom prst="ellipse">
            <a:avLst/>
          </a:prstGeom>
          <a:solidFill>
            <a:schemeClr val="accent1"/>
          </a:solidFill>
          <a:ln w="12700">
            <a:solidFill>
              <a:schemeClr val="accent1"/>
            </a:solidFill>
            <a:prstDash val="solid"/>
          </a:ln>
        </p:spPr>
      </p:sp>
      <p:sp>
        <p:nvSpPr>
          <p:cNvPr id="6" name="badgetext-217"/>
          <p:cNvSpPr txBox="1"/>
          <p:nvPr/>
        </p:nvSpPr>
        <p:spPr>
          <a:xfrm>
            <a:off x="777240" y="18745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218"/>
          <p:cNvSpPr txBox="1"/>
          <p:nvPr/>
        </p:nvSpPr>
        <p:spPr>
          <a:xfrm>
            <a:off x="1280160" y="1874520"/>
            <a:ext cx="2600858" cy="384048"/>
          </a:xfrm>
          <a:prstGeom prst="rect">
            <a:avLst/>
          </a:prstGeom>
          <a:noFill/>
          <a:ln/>
        </p:spPr>
        <p:txBody>
          <a:bodyPr wrap="square" lIns="0" tIns="0" rIns="0" bIns="0" rtlCol="0" anchor="ctr"/>
          <a:lstStyle/>
          <a:p>
            <a:pPr indent="0" marL="0">
              <a:buNone/>
            </a:pPr>
            <a:r>
              <a:rPr lang="en-US" sz="1700" b="1" dirty="0">
                <a:solidFill>
                  <a:schemeClr val="bg1"/>
                </a:solidFill>
              </a:rPr>
              <a:t>Grounded writing</a:t>
            </a:r>
            <a:endParaRPr lang="en-US" sz="1700" dirty="0"/>
          </a:p>
        </p:txBody>
      </p:sp>
      <p:sp>
        <p:nvSpPr>
          <p:cNvPr id="8" name="text-219"/>
          <p:cNvSpPr txBox="1"/>
          <p:nvPr/>
        </p:nvSpPr>
        <p:spPr>
          <a:xfrm>
            <a:off x="777240" y="2468880"/>
            <a:ext cx="3058058" cy="3474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bg1"/>
                </a:solidFill>
              </a:rPr>
              <a:t>The LLM sees only numbered facts (F*) and events (E*)</a:t>
            </a:r>
            <a:endParaRPr lang="en-US" sz="1400" dirty="0"/>
          </a:p>
          <a:p>
            <a:pPr marL="177800" indent="-177800">
              <a:spcAft>
                <a:spcPts val="700"/>
              </a:spcAft>
              <a:buSzPct val="100000"/>
              <a:buChar char="•"/>
            </a:pPr>
            <a:r>
              <a:rPr lang="en-US" sz="1400" dirty="0">
                <a:solidFill>
                  <a:schemeClr val="bg1"/>
                </a:solidFill>
              </a:rPr>
              <a:t>Every talking point must cite one; every number must appear in the cited facts</a:t>
            </a:r>
            <a:endParaRPr lang="en-US" sz="1400" dirty="0"/>
          </a:p>
          <a:p>
            <a:pPr marL="177800" indent="-177800">
              <a:spcAft>
                <a:spcPts val="700"/>
              </a:spcAft>
              <a:buSzPct val="100000"/>
              <a:buChar char="•"/>
            </a:pPr>
            <a:r>
              <a:rPr lang="en-US" sz="1400" dirty="0">
                <a:solidFill>
                  <a:schemeClr val="bg1"/>
                </a:solidFill>
              </a:rPr>
              <a:t>The email can't mention risk, churn or scores</a:t>
            </a:r>
            <a:endParaRPr lang="en-US" sz="1400" dirty="0"/>
          </a:p>
          <a:p>
            <a:pPr marL="177800" indent="-177800">
              <a:spcAft>
                <a:spcPts val="700"/>
              </a:spcAft>
              <a:buSzPct val="100000"/>
              <a:buChar char="•"/>
            </a:pPr>
            <a:r>
              <a:rPr lang="en-US" sz="1400" dirty="0">
                <a:solidFill>
                  <a:schemeClr val="bg1"/>
                </a:solidFill>
              </a:rPr>
              <a:t>Anything unsupported is removed, or falls back to a template</a:t>
            </a:r>
            <a:endParaRPr lang="en-US" sz="1400" dirty="0"/>
          </a:p>
          <a:p>
            <a:pPr marL="177800" indent="-177800">
              <a:spcAft>
                <a:spcPts val="700"/>
              </a:spcAft>
              <a:buSzPct val="100000"/>
              <a:buChar char="•"/>
            </a:pPr>
            <a:r>
              <a:rPr lang="en-US" sz="1400" dirty="0">
                <a:solidFill>
                  <a:schemeClr val="bg1"/>
                </a:solidFill>
              </a:rPr>
              <a:t>Nothing is sent automatically</a:t>
            </a:r>
            <a:endParaRPr lang="en-US" sz="1400" dirty="0"/>
          </a:p>
        </p:txBody>
      </p:sp>
      <p:sp>
        <p:nvSpPr>
          <p:cNvPr id="9" name="card-220"/>
          <p:cNvSpPr/>
          <p:nvPr/>
        </p:nvSpPr>
        <p:spPr>
          <a:xfrm>
            <a:off x="4338218" y="1645920"/>
            <a:ext cx="3515258" cy="4434840"/>
          </a:xfrm>
          <a:prstGeom prst="roundRect">
            <a:avLst>
              <a:gd name="adj" fmla="val 2081"/>
            </a:avLst>
          </a:prstGeom>
          <a:solidFill>
            <a:schemeClr val="bg2"/>
          </a:solidFill>
          <a:ln w="12700">
            <a:solidFill>
              <a:schemeClr val="bg2"/>
            </a:solidFill>
            <a:prstDash val="solid"/>
          </a:ln>
        </p:spPr>
      </p:sp>
      <p:sp>
        <p:nvSpPr>
          <p:cNvPr id="10" name="badge-221"/>
          <p:cNvSpPr/>
          <p:nvPr/>
        </p:nvSpPr>
        <p:spPr>
          <a:xfrm>
            <a:off x="4566818" y="1874520"/>
            <a:ext cx="384048" cy="384048"/>
          </a:xfrm>
          <a:prstGeom prst="ellipse">
            <a:avLst/>
          </a:prstGeom>
          <a:solidFill>
            <a:schemeClr val="accent1"/>
          </a:solidFill>
          <a:ln w="12700">
            <a:solidFill>
              <a:schemeClr val="accent1"/>
            </a:solidFill>
            <a:prstDash val="solid"/>
          </a:ln>
        </p:spPr>
      </p:sp>
      <p:sp>
        <p:nvSpPr>
          <p:cNvPr id="11" name="badgetext-222"/>
          <p:cNvSpPr txBox="1"/>
          <p:nvPr/>
        </p:nvSpPr>
        <p:spPr>
          <a:xfrm>
            <a:off x="4566818" y="18745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223"/>
          <p:cNvSpPr txBox="1"/>
          <p:nvPr/>
        </p:nvSpPr>
        <p:spPr>
          <a:xfrm>
            <a:off x="5069738" y="1874520"/>
            <a:ext cx="2600858" cy="384048"/>
          </a:xfrm>
          <a:prstGeom prst="rect">
            <a:avLst/>
          </a:prstGeom>
          <a:noFill/>
          <a:ln/>
        </p:spPr>
        <p:txBody>
          <a:bodyPr wrap="square" lIns="0" tIns="0" rIns="0" bIns="0" rtlCol="0" anchor="ctr"/>
          <a:lstStyle/>
          <a:p>
            <a:pPr indent="0" marL="0">
              <a:buNone/>
            </a:pPr>
            <a:r>
              <a:rPr lang="en-US" sz="1700" b="1" dirty="0">
                <a:solidFill>
                  <a:schemeClr val="tx2"/>
                </a:solidFill>
              </a:rPr>
              <a:t>Isolated companies</a:t>
            </a:r>
            <a:endParaRPr lang="en-US" sz="1700" dirty="0"/>
          </a:p>
        </p:txBody>
      </p:sp>
      <p:sp>
        <p:nvSpPr>
          <p:cNvPr id="13" name="text-224"/>
          <p:cNvSpPr txBox="1"/>
          <p:nvPr/>
        </p:nvSpPr>
        <p:spPr>
          <a:xfrm>
            <a:off x="4566818" y="2468880"/>
            <a:ext cx="3058058" cy="3474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tx1"/>
                </a:solidFill>
              </a:rPr>
              <a:t>tenant_id on every row + forced row-level security</a:t>
            </a:r>
            <a:endParaRPr lang="en-US" sz="1400" dirty="0"/>
          </a:p>
          <a:p>
            <a:pPr marL="177800" indent="-177800">
              <a:spcAft>
                <a:spcPts val="700"/>
              </a:spcAft>
              <a:buSzPct val="100000"/>
              <a:buChar char="•"/>
            </a:pPr>
            <a:r>
              <a:rPr lang="en-US" sz="1400" dirty="0">
                <a:solidFill>
                  <a:schemeClr val="tx1"/>
                </a:solidFill>
              </a:rPr>
              <a:t>Each request runs as a restricted role with the tenant set by the token</a:t>
            </a:r>
            <a:endParaRPr lang="en-US" sz="1400" dirty="0"/>
          </a:p>
          <a:p>
            <a:pPr marL="177800" indent="-177800">
              <a:spcAft>
                <a:spcPts val="700"/>
              </a:spcAft>
              <a:buSzPct val="100000"/>
              <a:buChar char="•"/>
            </a:pPr>
            <a:r>
              <a:rPr lang="en-US" sz="1400" dirty="0">
                <a:solidFill>
                  <a:schemeClr val="tx1"/>
                </a:solidFill>
              </a:rPr>
              <a:t>No tenant set → zero rows: fails closed</a:t>
            </a:r>
            <a:endParaRPr lang="en-US" sz="1400" dirty="0"/>
          </a:p>
          <a:p>
            <a:pPr marL="177800" indent="-177800">
              <a:spcAft>
                <a:spcPts val="700"/>
              </a:spcAft>
              <a:buSzPct val="100000"/>
              <a:buChar char="•"/>
            </a:pPr>
            <a:r>
              <a:rPr lang="en-US" sz="1400" dirty="0">
                <a:solidFill>
                  <a:schemeClr val="tx1"/>
                </a:solidFill>
              </a:rPr>
              <a:t>Model card and audit views are tenant-filtered too</a:t>
            </a:r>
            <a:endParaRPr lang="en-US" sz="1400" dirty="0"/>
          </a:p>
          <a:p>
            <a:pPr marL="177800" indent="-177800">
              <a:spcAft>
                <a:spcPts val="700"/>
              </a:spcAft>
              <a:buSzPct val="100000"/>
              <a:buChar char="•"/>
            </a:pPr>
            <a:r>
              <a:rPr lang="en-US" sz="1400" dirty="0">
                <a:solidFill>
                  <a:schemeClr val="tx1"/>
                </a:solidFill>
              </a:rPr>
              <a:t>Tests prove cross-tenant reads and writes fail</a:t>
            </a:r>
            <a:endParaRPr lang="en-US" sz="1400" dirty="0"/>
          </a:p>
        </p:txBody>
      </p:sp>
      <p:sp>
        <p:nvSpPr>
          <p:cNvPr id="14" name="card-225"/>
          <p:cNvSpPr/>
          <p:nvPr/>
        </p:nvSpPr>
        <p:spPr>
          <a:xfrm>
            <a:off x="8127797" y="1645920"/>
            <a:ext cx="3515258" cy="4434840"/>
          </a:xfrm>
          <a:prstGeom prst="roundRect">
            <a:avLst>
              <a:gd name="adj" fmla="val 2081"/>
            </a:avLst>
          </a:prstGeom>
          <a:solidFill>
            <a:schemeClr val="bg2"/>
          </a:solidFill>
          <a:ln w="12700">
            <a:solidFill>
              <a:schemeClr val="bg2"/>
            </a:solidFill>
            <a:prstDash val="solid"/>
          </a:ln>
        </p:spPr>
      </p:sp>
      <p:sp>
        <p:nvSpPr>
          <p:cNvPr id="15" name="badge-226"/>
          <p:cNvSpPr/>
          <p:nvPr/>
        </p:nvSpPr>
        <p:spPr>
          <a:xfrm>
            <a:off x="8356397" y="1874520"/>
            <a:ext cx="384048" cy="384048"/>
          </a:xfrm>
          <a:prstGeom prst="ellipse">
            <a:avLst/>
          </a:prstGeom>
          <a:solidFill>
            <a:schemeClr val="accent1"/>
          </a:solidFill>
          <a:ln w="12700">
            <a:solidFill>
              <a:schemeClr val="accent1"/>
            </a:solidFill>
            <a:prstDash val="solid"/>
          </a:ln>
        </p:spPr>
      </p:sp>
      <p:sp>
        <p:nvSpPr>
          <p:cNvPr id="16" name="badgetext-227"/>
          <p:cNvSpPr txBox="1"/>
          <p:nvPr/>
        </p:nvSpPr>
        <p:spPr>
          <a:xfrm>
            <a:off x="8356397" y="187452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228"/>
          <p:cNvSpPr txBox="1"/>
          <p:nvPr/>
        </p:nvSpPr>
        <p:spPr>
          <a:xfrm>
            <a:off x="8859317" y="1874520"/>
            <a:ext cx="2600858" cy="384048"/>
          </a:xfrm>
          <a:prstGeom prst="rect">
            <a:avLst/>
          </a:prstGeom>
          <a:noFill/>
          <a:ln/>
        </p:spPr>
        <p:txBody>
          <a:bodyPr wrap="square" lIns="0" tIns="0" rIns="0" bIns="0" rtlCol="0" anchor="ctr"/>
          <a:lstStyle/>
          <a:p>
            <a:pPr indent="0" marL="0">
              <a:buNone/>
            </a:pPr>
            <a:r>
              <a:rPr lang="en-US" sz="1700" b="1" dirty="0">
                <a:solidFill>
                  <a:schemeClr val="tx2"/>
                </a:solidFill>
              </a:rPr>
              <a:t>Traceable numbers</a:t>
            </a:r>
            <a:endParaRPr lang="en-US" sz="1700" dirty="0"/>
          </a:p>
        </p:txBody>
      </p:sp>
      <p:sp>
        <p:nvSpPr>
          <p:cNvPr id="18" name="text-229"/>
          <p:cNvSpPr txBox="1"/>
          <p:nvPr/>
        </p:nvSpPr>
        <p:spPr>
          <a:xfrm>
            <a:off x="8356397" y="2468880"/>
            <a:ext cx="3058058" cy="3474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chemeClr val="tx1"/>
                </a:solidFill>
              </a:rPr>
              <a:t>Score row → run → model version → stored feature values</a:t>
            </a:r>
            <a:endParaRPr lang="en-US" sz="1400" dirty="0"/>
          </a:p>
          <a:p>
            <a:pPr marL="177800" indent="-177800">
              <a:spcAft>
                <a:spcPts val="700"/>
              </a:spcAft>
              <a:buSzPct val="100000"/>
              <a:buChar char="•"/>
            </a:pPr>
            <a:r>
              <a:rPr lang="en-US" sz="1400" dirty="0">
                <a:solidFill>
                  <a:schemeClr val="tx1"/>
                </a:solidFill>
              </a:rPr>
              <a:t>Evidence drawer shows the exact source rows</a:t>
            </a:r>
            <a:endParaRPr lang="en-US" sz="1400" dirty="0"/>
          </a:p>
          <a:p>
            <a:pPr marL="177800" indent="-177800">
              <a:spcAft>
                <a:spcPts val="700"/>
              </a:spcAft>
              <a:buSzPct val="100000"/>
              <a:buChar char="•"/>
            </a:pPr>
            <a:r>
              <a:rPr lang="en-US" sz="1400" dirty="0">
                <a:solidFill>
                  <a:schemeClr val="tx1"/>
                </a:solidFill>
              </a:rPr>
              <a:t>Late rows are shown, hatched, as unused</a:t>
            </a:r>
            <a:endParaRPr lang="en-US" sz="1400" dirty="0"/>
          </a:p>
          <a:p>
            <a:pPr marL="177800" indent="-177800">
              <a:spcAft>
                <a:spcPts val="700"/>
              </a:spcAft>
              <a:buSzPct val="100000"/>
              <a:buChar char="•"/>
            </a:pPr>
            <a:r>
              <a:rPr lang="en-US" sz="1400" dirty="0">
                <a:solidFill>
                  <a:schemeClr val="tx1"/>
                </a:solidFill>
              </a:rPr>
              <a:t>Identity links show method and confidence</a:t>
            </a:r>
            <a:endParaRPr lang="en-US" sz="1400" dirty="0"/>
          </a:p>
          <a:p>
            <a:pPr marL="177800" indent="-177800">
              <a:spcAft>
                <a:spcPts val="700"/>
              </a:spcAft>
              <a:buSzPct val="100000"/>
              <a:buChar char="•"/>
            </a:pPr>
            <a:r>
              <a:rPr lang="en-US" sz="1400" dirty="0">
                <a:solidFill>
                  <a:schemeClr val="tx1"/>
                </a:solidFill>
              </a:rPr>
              <a:t>API audit: user name → trace_id → every log line</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Edge cases anticipated</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Each of these has a test, a guard or a visible state in the product</a:t>
            </a:r>
            <a:endParaRPr lang="en-US" sz="1600" dirty="0"/>
          </a:p>
        </p:txBody>
      </p:sp>
      <p:sp>
        <p:nvSpPr>
          <p:cNvPr id="4" name="card-230"/>
          <p:cNvSpPr/>
          <p:nvPr/>
        </p:nvSpPr>
        <p:spPr>
          <a:xfrm>
            <a:off x="548640" y="1600200"/>
            <a:ext cx="5410048" cy="804672"/>
          </a:xfrm>
          <a:prstGeom prst="roundRect">
            <a:avLst>
              <a:gd name="adj" fmla="val 9091"/>
            </a:avLst>
          </a:prstGeom>
          <a:solidFill>
            <a:schemeClr val="bg2"/>
          </a:solidFill>
          <a:ln w="12700">
            <a:solidFill>
              <a:schemeClr val="bg2"/>
            </a:solidFill>
            <a:prstDash val="solid"/>
          </a:ln>
        </p:spPr>
      </p:sp>
      <p:sp>
        <p:nvSpPr>
          <p:cNvPr id="5" name="badge-231"/>
          <p:cNvSpPr/>
          <p:nvPr/>
        </p:nvSpPr>
        <p:spPr>
          <a:xfrm>
            <a:off x="731520" y="1810512"/>
            <a:ext cx="384048" cy="384048"/>
          </a:xfrm>
          <a:prstGeom prst="ellipse">
            <a:avLst/>
          </a:prstGeom>
          <a:solidFill>
            <a:schemeClr val="accent1"/>
          </a:solidFill>
          <a:ln w="12700">
            <a:solidFill>
              <a:schemeClr val="accent1"/>
            </a:solidFill>
            <a:prstDash val="solid"/>
          </a:ln>
        </p:spPr>
      </p:sp>
      <p:sp>
        <p:nvSpPr>
          <p:cNvPr id="6" name="badgetext-232"/>
          <p:cNvSpPr txBox="1"/>
          <p:nvPr/>
        </p:nvSpPr>
        <p:spPr>
          <a:xfrm>
            <a:off x="731520" y="18105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233"/>
          <p:cNvSpPr txBox="1"/>
          <p:nvPr/>
        </p:nvSpPr>
        <p:spPr>
          <a:xfrm>
            <a:off x="1280160" y="16916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Data arrives late</a:t>
            </a:r>
            <a:endParaRPr lang="en-US" sz="1500" dirty="0"/>
          </a:p>
        </p:txBody>
      </p:sp>
      <p:sp>
        <p:nvSpPr>
          <p:cNvPr id="8" name="text-234"/>
          <p:cNvSpPr txBox="1"/>
          <p:nvPr/>
        </p:nvSpPr>
        <p:spPr>
          <a:xfrm>
            <a:off x="1280160" y="20208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Point-in-time features; replays see what the run saw</a:t>
            </a:r>
            <a:endParaRPr lang="en-US" sz="1300" dirty="0"/>
          </a:p>
        </p:txBody>
      </p:sp>
      <p:sp>
        <p:nvSpPr>
          <p:cNvPr id="9" name="card-235"/>
          <p:cNvSpPr/>
          <p:nvPr/>
        </p:nvSpPr>
        <p:spPr>
          <a:xfrm>
            <a:off x="6233008" y="1600200"/>
            <a:ext cx="5410048" cy="804672"/>
          </a:xfrm>
          <a:prstGeom prst="roundRect">
            <a:avLst>
              <a:gd name="adj" fmla="val 9091"/>
            </a:avLst>
          </a:prstGeom>
          <a:solidFill>
            <a:schemeClr val="bg2"/>
          </a:solidFill>
          <a:ln w="12700">
            <a:solidFill>
              <a:schemeClr val="bg2"/>
            </a:solidFill>
            <a:prstDash val="solid"/>
          </a:ln>
        </p:spPr>
      </p:sp>
      <p:sp>
        <p:nvSpPr>
          <p:cNvPr id="10" name="badge-236"/>
          <p:cNvSpPr/>
          <p:nvPr/>
        </p:nvSpPr>
        <p:spPr>
          <a:xfrm>
            <a:off x="6415888" y="1810512"/>
            <a:ext cx="384048" cy="384048"/>
          </a:xfrm>
          <a:prstGeom prst="ellipse">
            <a:avLst/>
          </a:prstGeom>
          <a:solidFill>
            <a:schemeClr val="accent1"/>
          </a:solidFill>
          <a:ln w="12700">
            <a:solidFill>
              <a:schemeClr val="accent1"/>
            </a:solidFill>
            <a:prstDash val="solid"/>
          </a:ln>
        </p:spPr>
      </p:sp>
      <p:sp>
        <p:nvSpPr>
          <p:cNvPr id="11" name="badgetext-237"/>
          <p:cNvSpPr txBox="1"/>
          <p:nvPr/>
        </p:nvSpPr>
        <p:spPr>
          <a:xfrm>
            <a:off x="6415888" y="18105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238"/>
          <p:cNvSpPr txBox="1"/>
          <p:nvPr/>
        </p:nvSpPr>
        <p:spPr>
          <a:xfrm>
            <a:off x="6964528" y="16916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Same record delivered twice</a:t>
            </a:r>
            <a:endParaRPr lang="en-US" sz="1500" dirty="0"/>
          </a:p>
        </p:txBody>
      </p:sp>
      <p:sp>
        <p:nvSpPr>
          <p:cNvPr id="13" name="text-239"/>
          <p:cNvSpPr txBox="1"/>
          <p:nvPr/>
        </p:nvSpPr>
        <p:spPr>
          <a:xfrm>
            <a:off x="6964528" y="20208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File, record-hash and semantic-key idempotency</a:t>
            </a:r>
            <a:endParaRPr lang="en-US" sz="1300" dirty="0"/>
          </a:p>
        </p:txBody>
      </p:sp>
      <p:sp>
        <p:nvSpPr>
          <p:cNvPr id="14" name="card-240"/>
          <p:cNvSpPr/>
          <p:nvPr/>
        </p:nvSpPr>
        <p:spPr>
          <a:xfrm>
            <a:off x="548640" y="2514600"/>
            <a:ext cx="5410048" cy="804672"/>
          </a:xfrm>
          <a:prstGeom prst="roundRect">
            <a:avLst>
              <a:gd name="adj" fmla="val 9091"/>
            </a:avLst>
          </a:prstGeom>
          <a:solidFill>
            <a:schemeClr val="bg2"/>
          </a:solidFill>
          <a:ln w="12700">
            <a:solidFill>
              <a:schemeClr val="bg2"/>
            </a:solidFill>
            <a:prstDash val="solid"/>
          </a:ln>
        </p:spPr>
      </p:sp>
      <p:sp>
        <p:nvSpPr>
          <p:cNvPr id="15" name="badge-241"/>
          <p:cNvSpPr/>
          <p:nvPr/>
        </p:nvSpPr>
        <p:spPr>
          <a:xfrm>
            <a:off x="731520" y="2724912"/>
            <a:ext cx="384048" cy="384048"/>
          </a:xfrm>
          <a:prstGeom prst="ellipse">
            <a:avLst/>
          </a:prstGeom>
          <a:solidFill>
            <a:schemeClr val="accent1"/>
          </a:solidFill>
          <a:ln w="12700">
            <a:solidFill>
              <a:schemeClr val="accent1"/>
            </a:solidFill>
            <a:prstDash val="solid"/>
          </a:ln>
        </p:spPr>
      </p:sp>
      <p:sp>
        <p:nvSpPr>
          <p:cNvPr id="16" name="badgetext-242"/>
          <p:cNvSpPr txBox="1"/>
          <p:nvPr/>
        </p:nvSpPr>
        <p:spPr>
          <a:xfrm>
            <a:off x="731520" y="27249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243"/>
          <p:cNvSpPr txBox="1"/>
          <p:nvPr/>
        </p:nvSpPr>
        <p:spPr>
          <a:xfrm>
            <a:off x="1280160" y="26060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No data for an account</a:t>
            </a:r>
            <a:endParaRPr lang="en-US" sz="1500" dirty="0"/>
          </a:p>
        </p:txBody>
      </p:sp>
      <p:sp>
        <p:nvSpPr>
          <p:cNvPr id="18" name="text-244"/>
          <p:cNvSpPr txBox="1"/>
          <p:nvPr/>
        </p:nvSpPr>
        <p:spPr>
          <a:xfrm>
            <a:off x="1280160" y="29352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Grey band, never green</a:t>
            </a:r>
            <a:endParaRPr lang="en-US" sz="1300" dirty="0"/>
          </a:p>
        </p:txBody>
      </p:sp>
      <p:sp>
        <p:nvSpPr>
          <p:cNvPr id="19" name="card-245"/>
          <p:cNvSpPr/>
          <p:nvPr/>
        </p:nvSpPr>
        <p:spPr>
          <a:xfrm>
            <a:off x="6233008" y="2514600"/>
            <a:ext cx="5410048" cy="804672"/>
          </a:xfrm>
          <a:prstGeom prst="roundRect">
            <a:avLst>
              <a:gd name="adj" fmla="val 9091"/>
            </a:avLst>
          </a:prstGeom>
          <a:solidFill>
            <a:schemeClr val="bg2"/>
          </a:solidFill>
          <a:ln w="12700">
            <a:solidFill>
              <a:schemeClr val="bg2"/>
            </a:solidFill>
            <a:prstDash val="solid"/>
          </a:ln>
        </p:spPr>
      </p:sp>
      <p:sp>
        <p:nvSpPr>
          <p:cNvPr id="20" name="badge-246"/>
          <p:cNvSpPr/>
          <p:nvPr/>
        </p:nvSpPr>
        <p:spPr>
          <a:xfrm>
            <a:off x="6415888" y="2724912"/>
            <a:ext cx="384048" cy="384048"/>
          </a:xfrm>
          <a:prstGeom prst="ellipse">
            <a:avLst/>
          </a:prstGeom>
          <a:solidFill>
            <a:schemeClr val="accent1"/>
          </a:solidFill>
          <a:ln w="12700">
            <a:solidFill>
              <a:schemeClr val="accent1"/>
            </a:solidFill>
            <a:prstDash val="solid"/>
          </a:ln>
        </p:spPr>
      </p:sp>
      <p:sp>
        <p:nvSpPr>
          <p:cNvPr id="21" name="badgetext-247"/>
          <p:cNvSpPr txBox="1"/>
          <p:nvPr/>
        </p:nvSpPr>
        <p:spPr>
          <a:xfrm>
            <a:off x="6415888" y="27249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248"/>
          <p:cNvSpPr txBox="1"/>
          <p:nvPr/>
        </p:nvSpPr>
        <p:spPr>
          <a:xfrm>
            <a:off x="6964528" y="26060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Wrong identity match</a:t>
            </a:r>
            <a:endParaRPr lang="en-US" sz="1500" dirty="0"/>
          </a:p>
        </p:txBody>
      </p:sp>
      <p:sp>
        <p:nvSpPr>
          <p:cNvPr id="23" name="text-249"/>
          <p:cNvSpPr txBox="1"/>
          <p:nvPr/>
        </p:nvSpPr>
        <p:spPr>
          <a:xfrm>
            <a:off x="6964528" y="29352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Unresolved queue instead of a guess</a:t>
            </a:r>
            <a:endParaRPr lang="en-US" sz="1300" dirty="0"/>
          </a:p>
        </p:txBody>
      </p:sp>
      <p:sp>
        <p:nvSpPr>
          <p:cNvPr id="24" name="card-250"/>
          <p:cNvSpPr/>
          <p:nvPr/>
        </p:nvSpPr>
        <p:spPr>
          <a:xfrm>
            <a:off x="548640" y="3429000"/>
            <a:ext cx="5410048" cy="804672"/>
          </a:xfrm>
          <a:prstGeom prst="roundRect">
            <a:avLst>
              <a:gd name="adj" fmla="val 9091"/>
            </a:avLst>
          </a:prstGeom>
          <a:solidFill>
            <a:schemeClr val="bg2"/>
          </a:solidFill>
          <a:ln w="12700">
            <a:solidFill>
              <a:schemeClr val="bg2"/>
            </a:solidFill>
            <a:prstDash val="solid"/>
          </a:ln>
        </p:spPr>
      </p:sp>
      <p:sp>
        <p:nvSpPr>
          <p:cNvPr id="25" name="badge-251"/>
          <p:cNvSpPr/>
          <p:nvPr/>
        </p:nvSpPr>
        <p:spPr>
          <a:xfrm>
            <a:off x="731520" y="3639312"/>
            <a:ext cx="384048" cy="384048"/>
          </a:xfrm>
          <a:prstGeom prst="ellipse">
            <a:avLst/>
          </a:prstGeom>
          <a:solidFill>
            <a:schemeClr val="accent1"/>
          </a:solidFill>
          <a:ln w="12700">
            <a:solidFill>
              <a:schemeClr val="accent1"/>
            </a:solidFill>
            <a:prstDash val="solid"/>
          </a:ln>
        </p:spPr>
      </p:sp>
      <p:sp>
        <p:nvSpPr>
          <p:cNvPr id="26" name="badgetext-252"/>
          <p:cNvSpPr txBox="1"/>
          <p:nvPr/>
        </p:nvSpPr>
        <p:spPr>
          <a:xfrm>
            <a:off x="731520" y="36393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253"/>
          <p:cNvSpPr txBox="1"/>
          <p:nvPr/>
        </p:nvSpPr>
        <p:spPr>
          <a:xfrm>
            <a:off x="1280160" y="35204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Stale renewal date in CRM</a:t>
            </a:r>
            <a:endParaRPr lang="en-US" sz="1500" dirty="0"/>
          </a:p>
        </p:txBody>
      </p:sp>
      <p:sp>
        <p:nvSpPr>
          <p:cNvPr id="28" name="text-254"/>
          <p:cNvSpPr txBox="1"/>
          <p:nvPr/>
        </p:nvSpPr>
        <p:spPr>
          <a:xfrm>
            <a:off x="1280160" y="38496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Anniversary fallback, flagged in the UI</a:t>
            </a:r>
            <a:endParaRPr lang="en-US" sz="1300" dirty="0"/>
          </a:p>
        </p:txBody>
      </p:sp>
      <p:sp>
        <p:nvSpPr>
          <p:cNvPr id="29" name="card-255"/>
          <p:cNvSpPr/>
          <p:nvPr/>
        </p:nvSpPr>
        <p:spPr>
          <a:xfrm>
            <a:off x="6233008" y="3429000"/>
            <a:ext cx="5410048" cy="804672"/>
          </a:xfrm>
          <a:prstGeom prst="roundRect">
            <a:avLst>
              <a:gd name="adj" fmla="val 9091"/>
            </a:avLst>
          </a:prstGeom>
          <a:solidFill>
            <a:schemeClr val="bg2"/>
          </a:solidFill>
          <a:ln w="12700">
            <a:solidFill>
              <a:schemeClr val="bg2"/>
            </a:solidFill>
            <a:prstDash val="solid"/>
          </a:ln>
        </p:spPr>
      </p:sp>
      <p:sp>
        <p:nvSpPr>
          <p:cNvPr id="30" name="badge-256"/>
          <p:cNvSpPr/>
          <p:nvPr/>
        </p:nvSpPr>
        <p:spPr>
          <a:xfrm>
            <a:off x="6415888" y="3639312"/>
            <a:ext cx="384048" cy="384048"/>
          </a:xfrm>
          <a:prstGeom prst="ellipse">
            <a:avLst/>
          </a:prstGeom>
          <a:solidFill>
            <a:schemeClr val="accent1"/>
          </a:solidFill>
          <a:ln w="12700">
            <a:solidFill>
              <a:schemeClr val="accent1"/>
            </a:solidFill>
            <a:prstDash val="solid"/>
          </a:ln>
        </p:spPr>
      </p:sp>
      <p:sp>
        <p:nvSpPr>
          <p:cNvPr id="31" name="badgetext-257"/>
          <p:cNvSpPr txBox="1"/>
          <p:nvPr/>
        </p:nvSpPr>
        <p:spPr>
          <a:xfrm>
            <a:off x="6415888" y="36393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258"/>
          <p:cNvSpPr txBox="1"/>
          <p:nvPr/>
        </p:nvSpPr>
        <p:spPr>
          <a:xfrm>
            <a:off x="6964528" y="35204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LLM invents a number</a:t>
            </a:r>
            <a:endParaRPr lang="en-US" sz="1500" dirty="0"/>
          </a:p>
        </p:txBody>
      </p:sp>
      <p:sp>
        <p:nvSpPr>
          <p:cNvPr id="33" name="text-259"/>
          <p:cNvSpPr txBox="1"/>
          <p:nvPr/>
        </p:nvSpPr>
        <p:spPr>
          <a:xfrm>
            <a:off x="6964528" y="38496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Claim removed; template fills the gap</a:t>
            </a:r>
            <a:endParaRPr lang="en-US" sz="1300" dirty="0"/>
          </a:p>
        </p:txBody>
      </p:sp>
      <p:sp>
        <p:nvSpPr>
          <p:cNvPr id="34" name="card-260"/>
          <p:cNvSpPr/>
          <p:nvPr/>
        </p:nvSpPr>
        <p:spPr>
          <a:xfrm>
            <a:off x="548640" y="4343400"/>
            <a:ext cx="5410048" cy="804672"/>
          </a:xfrm>
          <a:prstGeom prst="roundRect">
            <a:avLst>
              <a:gd name="adj" fmla="val 9091"/>
            </a:avLst>
          </a:prstGeom>
          <a:solidFill>
            <a:schemeClr val="bg2"/>
          </a:solidFill>
          <a:ln w="12700">
            <a:solidFill>
              <a:schemeClr val="bg2"/>
            </a:solidFill>
            <a:prstDash val="solid"/>
          </a:ln>
        </p:spPr>
      </p:sp>
      <p:sp>
        <p:nvSpPr>
          <p:cNvPr id="35" name="badge-261"/>
          <p:cNvSpPr/>
          <p:nvPr/>
        </p:nvSpPr>
        <p:spPr>
          <a:xfrm>
            <a:off x="731520" y="4553712"/>
            <a:ext cx="384048" cy="384048"/>
          </a:xfrm>
          <a:prstGeom prst="ellipse">
            <a:avLst/>
          </a:prstGeom>
          <a:solidFill>
            <a:schemeClr val="accent1"/>
          </a:solidFill>
          <a:ln w="12700">
            <a:solidFill>
              <a:schemeClr val="accent1"/>
            </a:solidFill>
            <a:prstDash val="solid"/>
          </a:ln>
        </p:spPr>
      </p:sp>
      <p:sp>
        <p:nvSpPr>
          <p:cNvPr id="36" name="badgetext-262"/>
          <p:cNvSpPr txBox="1"/>
          <p:nvPr/>
        </p:nvSpPr>
        <p:spPr>
          <a:xfrm>
            <a:off x="731520" y="45537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263"/>
          <p:cNvSpPr txBox="1"/>
          <p:nvPr/>
        </p:nvSpPr>
        <p:spPr>
          <a:xfrm>
            <a:off x="1280160" y="44348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Run crashes halfway</a:t>
            </a:r>
            <a:endParaRPr lang="en-US" sz="1500" dirty="0"/>
          </a:p>
        </p:txBody>
      </p:sp>
      <p:sp>
        <p:nvSpPr>
          <p:cNvPr id="38" name="text-264"/>
          <p:cNvSpPr txBox="1"/>
          <p:nvPr/>
        </p:nvSpPr>
        <p:spPr>
          <a:xfrm>
            <a:off x="1280160" y="47640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Heartbeat, one auto-resume, manager Resume</a:t>
            </a:r>
            <a:endParaRPr lang="en-US" sz="1300" dirty="0"/>
          </a:p>
        </p:txBody>
      </p:sp>
      <p:sp>
        <p:nvSpPr>
          <p:cNvPr id="39" name="card-265"/>
          <p:cNvSpPr/>
          <p:nvPr/>
        </p:nvSpPr>
        <p:spPr>
          <a:xfrm>
            <a:off x="6233008" y="4343400"/>
            <a:ext cx="5410048" cy="804672"/>
          </a:xfrm>
          <a:prstGeom prst="roundRect">
            <a:avLst>
              <a:gd name="adj" fmla="val 9091"/>
            </a:avLst>
          </a:prstGeom>
          <a:solidFill>
            <a:schemeClr val="bg2"/>
          </a:solidFill>
          <a:ln w="12700">
            <a:solidFill>
              <a:schemeClr val="bg2"/>
            </a:solidFill>
            <a:prstDash val="solid"/>
          </a:ln>
        </p:spPr>
      </p:sp>
      <p:sp>
        <p:nvSpPr>
          <p:cNvPr id="40" name="badge-266"/>
          <p:cNvSpPr/>
          <p:nvPr/>
        </p:nvSpPr>
        <p:spPr>
          <a:xfrm>
            <a:off x="6415888" y="4553712"/>
            <a:ext cx="384048" cy="384048"/>
          </a:xfrm>
          <a:prstGeom prst="ellipse">
            <a:avLst/>
          </a:prstGeom>
          <a:solidFill>
            <a:schemeClr val="accent1"/>
          </a:solidFill>
          <a:ln w="12700">
            <a:solidFill>
              <a:schemeClr val="accent1"/>
            </a:solidFill>
            <a:prstDash val="solid"/>
          </a:ln>
        </p:spPr>
      </p:sp>
      <p:sp>
        <p:nvSpPr>
          <p:cNvPr id="41" name="badgetext-267"/>
          <p:cNvSpPr txBox="1"/>
          <p:nvPr/>
        </p:nvSpPr>
        <p:spPr>
          <a:xfrm>
            <a:off x="6415888" y="45537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8</a:t>
            </a:r>
            <a:endParaRPr lang="en-US" sz="1400" dirty="0"/>
          </a:p>
        </p:txBody>
      </p:sp>
      <p:sp>
        <p:nvSpPr>
          <p:cNvPr id="42" name="text-268"/>
          <p:cNvSpPr txBox="1"/>
          <p:nvPr/>
        </p:nvSpPr>
        <p:spPr>
          <a:xfrm>
            <a:off x="6964528" y="44348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Two runs at once</a:t>
            </a:r>
            <a:endParaRPr lang="en-US" sz="1500" dirty="0"/>
          </a:p>
        </p:txBody>
      </p:sp>
      <p:sp>
        <p:nvSpPr>
          <p:cNvPr id="43" name="text-269"/>
          <p:cNvSpPr txBox="1"/>
          <p:nvPr/>
        </p:nvSpPr>
        <p:spPr>
          <a:xfrm>
            <a:off x="6964528" y="47640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Per-company advisory lock; API returns 409</a:t>
            </a:r>
            <a:endParaRPr lang="en-US" sz="1300" dirty="0"/>
          </a:p>
        </p:txBody>
      </p:sp>
      <p:sp>
        <p:nvSpPr>
          <p:cNvPr id="44" name="card-270"/>
          <p:cNvSpPr/>
          <p:nvPr/>
        </p:nvSpPr>
        <p:spPr>
          <a:xfrm>
            <a:off x="548640" y="5257800"/>
            <a:ext cx="5410048" cy="804672"/>
          </a:xfrm>
          <a:prstGeom prst="roundRect">
            <a:avLst>
              <a:gd name="adj" fmla="val 9091"/>
            </a:avLst>
          </a:prstGeom>
          <a:solidFill>
            <a:schemeClr val="bg2"/>
          </a:solidFill>
          <a:ln w="12700">
            <a:solidFill>
              <a:schemeClr val="bg2"/>
            </a:solidFill>
            <a:prstDash val="solid"/>
          </a:ln>
        </p:spPr>
      </p:sp>
      <p:sp>
        <p:nvSpPr>
          <p:cNvPr id="45" name="badge-271"/>
          <p:cNvSpPr/>
          <p:nvPr/>
        </p:nvSpPr>
        <p:spPr>
          <a:xfrm>
            <a:off x="731520" y="5468112"/>
            <a:ext cx="384048" cy="384048"/>
          </a:xfrm>
          <a:prstGeom prst="ellipse">
            <a:avLst/>
          </a:prstGeom>
          <a:solidFill>
            <a:schemeClr val="accent1"/>
          </a:solidFill>
          <a:ln w="12700">
            <a:solidFill>
              <a:schemeClr val="accent1"/>
            </a:solidFill>
            <a:prstDash val="solid"/>
          </a:ln>
        </p:spPr>
      </p:sp>
      <p:sp>
        <p:nvSpPr>
          <p:cNvPr id="46" name="badgetext-272"/>
          <p:cNvSpPr txBox="1"/>
          <p:nvPr/>
        </p:nvSpPr>
        <p:spPr>
          <a:xfrm>
            <a:off x="731520" y="54681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9</a:t>
            </a:r>
            <a:endParaRPr lang="en-US" sz="1400" dirty="0"/>
          </a:p>
        </p:txBody>
      </p:sp>
      <p:sp>
        <p:nvSpPr>
          <p:cNvPr id="47" name="text-273"/>
          <p:cNvSpPr txBox="1"/>
          <p:nvPr/>
        </p:nvSpPr>
        <p:spPr>
          <a:xfrm>
            <a:off x="1280160" y="53492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Tiny company, few labels</a:t>
            </a:r>
            <a:endParaRPr lang="en-US" sz="1500" dirty="0"/>
          </a:p>
        </p:txBody>
      </p:sp>
      <p:sp>
        <p:nvSpPr>
          <p:cNvPr id="48" name="text-274"/>
          <p:cNvSpPr txBox="1"/>
          <p:nvPr/>
        </p:nvSpPr>
        <p:spPr>
          <a:xfrm>
            <a:off x="1280160" y="56784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Pooled model, per-company calibration</a:t>
            </a:r>
            <a:endParaRPr lang="en-US" sz="1300" dirty="0"/>
          </a:p>
        </p:txBody>
      </p:sp>
      <p:sp>
        <p:nvSpPr>
          <p:cNvPr id="49" name="card-275"/>
          <p:cNvSpPr/>
          <p:nvPr/>
        </p:nvSpPr>
        <p:spPr>
          <a:xfrm>
            <a:off x="6233008" y="5257800"/>
            <a:ext cx="5410048" cy="804672"/>
          </a:xfrm>
          <a:prstGeom prst="roundRect">
            <a:avLst>
              <a:gd name="adj" fmla="val 9091"/>
            </a:avLst>
          </a:prstGeom>
          <a:solidFill>
            <a:schemeClr val="bg2"/>
          </a:solidFill>
          <a:ln w="12700">
            <a:solidFill>
              <a:schemeClr val="bg2"/>
            </a:solidFill>
            <a:prstDash val="solid"/>
          </a:ln>
        </p:spPr>
      </p:sp>
      <p:sp>
        <p:nvSpPr>
          <p:cNvPr id="50" name="badge-276"/>
          <p:cNvSpPr/>
          <p:nvPr/>
        </p:nvSpPr>
        <p:spPr>
          <a:xfrm>
            <a:off x="6415888" y="5468112"/>
            <a:ext cx="384048" cy="384048"/>
          </a:xfrm>
          <a:prstGeom prst="ellipse">
            <a:avLst/>
          </a:prstGeom>
          <a:solidFill>
            <a:schemeClr val="accent1"/>
          </a:solidFill>
          <a:ln w="12700">
            <a:solidFill>
              <a:schemeClr val="accent1"/>
            </a:solidFill>
            <a:prstDash val="solid"/>
          </a:ln>
        </p:spPr>
      </p:sp>
      <p:sp>
        <p:nvSpPr>
          <p:cNvPr id="51" name="badgetext-277"/>
          <p:cNvSpPr txBox="1"/>
          <p:nvPr/>
        </p:nvSpPr>
        <p:spPr>
          <a:xfrm>
            <a:off x="6415888" y="5468112"/>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10</a:t>
            </a:r>
            <a:endParaRPr lang="en-US" sz="1400" dirty="0"/>
          </a:p>
        </p:txBody>
      </p:sp>
      <p:sp>
        <p:nvSpPr>
          <p:cNvPr id="52" name="text-278"/>
          <p:cNvSpPr txBox="1"/>
          <p:nvPr/>
        </p:nvSpPr>
        <p:spPr>
          <a:xfrm>
            <a:off x="6964528" y="5349240"/>
            <a:ext cx="4495648" cy="329184"/>
          </a:xfrm>
          <a:prstGeom prst="rect">
            <a:avLst/>
          </a:prstGeom>
          <a:noFill/>
          <a:ln/>
        </p:spPr>
        <p:txBody>
          <a:bodyPr wrap="square" lIns="0" tIns="0" rIns="0" bIns="0" rtlCol="0" anchor="t"/>
          <a:lstStyle/>
          <a:p>
            <a:pPr indent="0" marL="0">
              <a:buNone/>
            </a:pPr>
            <a:r>
              <a:rPr lang="en-US" sz="1500" b="1" dirty="0">
                <a:solidFill>
                  <a:schemeClr val="tx2"/>
                </a:solidFill>
              </a:rPr>
              <a:t>Signal weight points the wrong way</a:t>
            </a:r>
            <a:endParaRPr lang="en-US" sz="1500" dirty="0"/>
          </a:p>
        </p:txBody>
      </p:sp>
      <p:sp>
        <p:nvSpPr>
          <p:cNvPr id="53" name="text-279"/>
          <p:cNvSpPr txBox="1"/>
          <p:nvPr/>
        </p:nvSpPr>
        <p:spPr>
          <a:xfrm>
            <a:off x="6964528" y="5678424"/>
            <a:ext cx="4495648" cy="329184"/>
          </a:xfrm>
          <a:prstGeom prst="rect">
            <a:avLst/>
          </a:prstGeom>
          <a:noFill/>
          <a:ln/>
        </p:spPr>
        <p:txBody>
          <a:bodyPr wrap="square" lIns="0" tIns="0" rIns="0" bIns="0" rtlCol="0" anchor="t"/>
          <a:lstStyle/>
          <a:p>
            <a:pPr indent="0" marL="0">
              <a:buNone/>
            </a:pPr>
            <a:r>
              <a:rPr lang="en-US" sz="1300" dirty="0">
                <a:solidFill>
                  <a:schemeClr val="accent5"/>
                </a:solidFill>
              </a:rPr>
              <a:t>Sign-constrained refit; no absurd reasons</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Trade-offs I chose</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Each one gives something up; this is what and why</a:t>
            </a:r>
            <a:endParaRPr lang="en-US" sz="1600" dirty="0"/>
          </a:p>
        </p:txBody>
      </p:sp>
      <p:graphicFrame>
        <p:nvGraphicFramePr>
          <p:cNvPr id="15" name="table-28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291840"/>
                <a:gridCol w="2743200"/>
                <a:gridCol w="5059375"/>
              </a:tblGrid>
              <a:tr h="548640">
                <a:tc>
                  <a:txBody>
                    <a:bodyPr/>
                    <a:lstStyle/>
                    <a:p>
                      <a:pPr indent="0" marL="0">
                        <a:buNone/>
                      </a:pPr>
                      <a:r>
                        <a:rPr lang="en-US" sz="1400" b="1" dirty="0">
                          <a:solidFill>
                            <a:schemeClr val="bg1"/>
                          </a:solidFill>
                        </a:rPr>
                        <a:t>Chose</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Over</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Because</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solidFill>
                      <a:schemeClr val="tx2"/>
                    </a:solidFill>
                  </a:tcPr>
                </a:tc>
              </a:tr>
              <a:tr h="548640">
                <a:tc>
                  <a:txBody>
                    <a:bodyPr/>
                    <a:lstStyle/>
                    <a:p>
                      <a:pPr indent="0" marL="0">
                        <a:buNone/>
                      </a:pPr>
                      <a:r>
                        <a:rPr lang="en-US" sz="1400" b="1" dirty="0">
                          <a:solidFill>
                            <a:schemeClr val="tx2"/>
                          </a:solidFill>
                        </a:rPr>
                        <a:t>Nightly batch</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Real-time scoring</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Weekly decision; median 86-day lead; a stable list</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Logistic regression</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Gradient boosting</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Better on validation and gives exact per-account reasons</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Pooled model + per-company calibration</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One model per company</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The smallest company has ~100 renewals</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Drafts a human approves</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Automatic email on red</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~10% precision; an email can speed up churn</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No probability floor on the call list</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Only 'clearly risky' accounts</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A floor cut churned ARR caught early from 93% to 64%</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Unresolved identity queue</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Best-guess matching</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Mixing two customers is worse than a gap</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r h="548640">
                <a:tc>
                  <a:txBody>
                    <a:bodyPr/>
                    <a:lstStyle/>
                    <a:p>
                      <a:pPr indent="0" marL="0">
                        <a:buNone/>
                      </a:pPr>
                      <a:r>
                        <a:rPr lang="en-US" sz="1400" b="1" dirty="0">
                          <a:solidFill>
                            <a:schemeClr val="tx2"/>
                          </a:solidFill>
                        </a:rPr>
                        <a:t>One EC2 + Docker Compose</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accent5"/>
                          </a:solidFill>
                        </a:rPr>
                        <a:t>Managed services (ECS, RDS)</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c>
                  <a:txBody>
                    <a:bodyPr/>
                    <a:lstStyle/>
                    <a:p>
                      <a:pPr indent="0" marL="0">
                        <a:buNone/>
                      </a:pPr>
                      <a:r>
                        <a:rPr lang="en-US" sz="1400" dirty="0">
                          <a:solidFill>
                            <a:schemeClr val="tx1"/>
                          </a:solidFill>
                        </a:rPr>
                        <a:t>Small scale; portable; one-command deploy and rollback</a:t>
                      </a:r>
                      <a:endParaRPr lang="en-US" sz="1400" dirty="0"/>
                    </a:p>
                  </a:txBody>
                  <a:tcPr marL="127000" marR="127000" marT="38100" marB="38100" anchor="ctr">
                    <a:lnL w="9525" cap="flat" cmpd="sng" algn="ctr">
                      <a:solidFill>
                        <a:srgbClr val="DDE4F0"/>
                      </a:solidFill>
                      <a:prstDash val="solid"/>
                      <a:round/>
                      <a:headEnd type="none" w="med" len="med"/>
                      <a:tailEnd type="none" w="med" len="med"/>
                    </a:lnL>
                    <a:lnR w="9525" cap="flat" cmpd="sng" algn="ctr">
                      <a:solidFill>
                        <a:srgbClr val="DDE4F0"/>
                      </a:solidFill>
                      <a:prstDash val="solid"/>
                      <a:round/>
                      <a:headEnd type="none" w="med" len="med"/>
                      <a:tailEnd type="none" w="med" len="med"/>
                    </a:lnR>
                    <a:lnT w="9525" cap="flat" cmpd="sng" algn="ctr">
                      <a:solidFill>
                        <a:srgbClr val="DDE4F0"/>
                      </a:solidFill>
                      <a:prstDash val="solid"/>
                      <a:round/>
                      <a:headEnd type="none" w="med" len="med"/>
                      <a:tailEnd type="none" w="med" len="med"/>
                    </a:lnT>
                    <a:lnB w="9525" cap="flat" cmpd="sng" algn="ctr">
                      <a:solidFill>
                        <a:srgbClr val="DDE4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tx2"/>
                </a:solidFill>
              </a:rPr>
              <a:t>Built to own and operate</a:t>
            </a:r>
            <a:endParaRPr lang="en-US" sz="3200" dirty="0"/>
          </a:p>
        </p:txBody>
      </p:sp>
      <p:sp>
        <p:nvSpPr>
          <p:cNvPr id="3" name="Text 0"/>
          <p:cNvSpPr/>
          <p:nvPr>
            <p:ph idx="101" type="body" hasCustomPrompt="1"/>
          </p:nvPr>
        </p:nvSpPr>
        <p:spPr>
          <a:xfrm>
            <a:off x="548640" y="960120"/>
            <a:ext cx="11094415" cy="411480"/>
          </a:xfrm>
          <a:prstGeom prst="rect">
            <a:avLst/>
          </a:prstGeom>
          <a:noFill/>
          <a:ln/>
        </p:spPr>
        <p:txBody>
          <a:bodyPr wrap="square" lIns="0" tIns="0" rIns="0" bIns="0" rtlCol="0" anchor="t"/>
          <a:lstStyle/>
          <a:p>
            <a:pPr algn="l" indent="0" marL="0">
              <a:buNone/>
            </a:pPr>
            <a:r>
              <a:rPr lang="en-US" sz="1600" dirty="0">
                <a:solidFill>
                  <a:schemeClr val="accent5"/>
                </a:solidFill>
              </a:rPr>
              <a:t>Validated end to end in the production Docker setup before deployment</a:t>
            </a:r>
            <a:endParaRPr lang="en-US" sz="1600" dirty="0"/>
          </a:p>
        </p:txBody>
      </p:sp>
      <p:sp>
        <p:nvSpPr>
          <p:cNvPr id="4" name="card-281"/>
          <p:cNvSpPr/>
          <p:nvPr/>
        </p:nvSpPr>
        <p:spPr>
          <a:xfrm>
            <a:off x="548640" y="1645920"/>
            <a:ext cx="4937760" cy="960120"/>
          </a:xfrm>
          <a:prstGeom prst="roundRect">
            <a:avLst>
              <a:gd name="adj" fmla="val 7619"/>
            </a:avLst>
          </a:prstGeom>
          <a:solidFill>
            <a:schemeClr val="bg2"/>
          </a:solidFill>
          <a:ln w="12700">
            <a:solidFill>
              <a:schemeClr val="bg2"/>
            </a:solidFill>
            <a:prstDash val="solid"/>
          </a:ln>
        </p:spPr>
      </p:sp>
      <p:sp>
        <p:nvSpPr>
          <p:cNvPr id="5" name="text-282"/>
          <p:cNvSpPr txBox="1"/>
          <p:nvPr/>
        </p:nvSpPr>
        <p:spPr>
          <a:xfrm>
            <a:off x="777240" y="1737360"/>
            <a:ext cx="2011680" cy="777240"/>
          </a:xfrm>
          <a:prstGeom prst="rect">
            <a:avLst/>
          </a:prstGeom>
          <a:noFill/>
          <a:ln/>
        </p:spPr>
        <p:txBody>
          <a:bodyPr wrap="square" lIns="0" tIns="0" rIns="0" bIns="0" rtlCol="0" anchor="ctr"/>
          <a:lstStyle/>
          <a:p>
            <a:pPr indent="0" marL="0">
              <a:buNone/>
            </a:pPr>
            <a:r>
              <a:rPr lang="en-US" sz="2600" b="1" dirty="0">
                <a:solidFill>
                  <a:schemeClr val="tx2"/>
                </a:solidFill>
              </a:rPr>
              <a:t>24</a:t>
            </a:r>
            <a:endParaRPr lang="en-US" sz="2600" dirty="0"/>
          </a:p>
        </p:txBody>
      </p:sp>
      <p:sp>
        <p:nvSpPr>
          <p:cNvPr id="6" name="text-283"/>
          <p:cNvSpPr txBox="1"/>
          <p:nvPr/>
        </p:nvSpPr>
        <p:spPr>
          <a:xfrm>
            <a:off x="2834640" y="1737360"/>
            <a:ext cx="2514600" cy="777240"/>
          </a:xfrm>
          <a:prstGeom prst="rect">
            <a:avLst/>
          </a:prstGeom>
          <a:noFill/>
          <a:ln/>
        </p:spPr>
        <p:txBody>
          <a:bodyPr wrap="square" lIns="0" tIns="0" rIns="0" bIns="0" rtlCol="0" anchor="ctr"/>
          <a:lstStyle/>
          <a:p>
            <a:pPr indent="0" marL="0">
              <a:buNone/>
            </a:pPr>
            <a:r>
              <a:rPr lang="en-US" sz="1300" dirty="0">
                <a:solidFill>
                  <a:schemeClr val="tx1"/>
                </a:solidFill>
              </a:rPr>
              <a:t>automated tests: RLS, idempotency, traceability, permissions, grounding</a:t>
            </a:r>
            <a:endParaRPr lang="en-US" sz="1300" dirty="0"/>
          </a:p>
        </p:txBody>
      </p:sp>
      <p:sp>
        <p:nvSpPr>
          <p:cNvPr id="7" name="card-284"/>
          <p:cNvSpPr/>
          <p:nvPr/>
        </p:nvSpPr>
        <p:spPr>
          <a:xfrm>
            <a:off x="548640" y="2743200"/>
            <a:ext cx="4937760" cy="960120"/>
          </a:xfrm>
          <a:prstGeom prst="roundRect">
            <a:avLst>
              <a:gd name="adj" fmla="val 7619"/>
            </a:avLst>
          </a:prstGeom>
          <a:solidFill>
            <a:schemeClr val="bg2"/>
          </a:solidFill>
          <a:ln w="12700">
            <a:solidFill>
              <a:schemeClr val="bg2"/>
            </a:solidFill>
            <a:prstDash val="solid"/>
          </a:ln>
        </p:spPr>
      </p:sp>
      <p:sp>
        <p:nvSpPr>
          <p:cNvPr id="8" name="text-285"/>
          <p:cNvSpPr txBox="1"/>
          <p:nvPr/>
        </p:nvSpPr>
        <p:spPr>
          <a:xfrm>
            <a:off x="777240" y="2834640"/>
            <a:ext cx="2011680" cy="777240"/>
          </a:xfrm>
          <a:prstGeom prst="rect">
            <a:avLst/>
          </a:prstGeom>
          <a:noFill/>
          <a:ln/>
        </p:spPr>
        <p:txBody>
          <a:bodyPr wrap="square" lIns="0" tIns="0" rIns="0" bIns="0" rtlCol="0" anchor="ctr"/>
          <a:lstStyle/>
          <a:p>
            <a:pPr indent="0" marL="0">
              <a:buNone/>
            </a:pPr>
            <a:r>
              <a:rPr lang="en-US" sz="2600" b="1" dirty="0">
                <a:solidFill>
                  <a:schemeClr val="tx2"/>
                </a:solidFill>
              </a:rPr>
              <a:t>50 + 26</a:t>
            </a:r>
            <a:endParaRPr lang="en-US" sz="2600" dirty="0"/>
          </a:p>
        </p:txBody>
      </p:sp>
      <p:sp>
        <p:nvSpPr>
          <p:cNvPr id="9" name="text-286"/>
          <p:cNvSpPr txBox="1"/>
          <p:nvPr/>
        </p:nvSpPr>
        <p:spPr>
          <a:xfrm>
            <a:off x="2834640" y="2834640"/>
            <a:ext cx="2514600" cy="777240"/>
          </a:xfrm>
          <a:prstGeom prst="rect">
            <a:avLst/>
          </a:prstGeom>
          <a:noFill/>
          <a:ln/>
        </p:spPr>
        <p:txBody>
          <a:bodyPr wrap="square" lIns="0" tIns="0" rIns="0" bIns="0" rtlCol="0" anchor="ctr"/>
          <a:lstStyle/>
          <a:p>
            <a:pPr indent="0" marL="0">
              <a:buNone/>
            </a:pPr>
            <a:r>
              <a:rPr lang="en-US" sz="1300" dirty="0">
                <a:solidFill>
                  <a:schemeClr val="tx1"/>
                </a:solidFill>
              </a:rPr>
              <a:t>API checks and browser walkthrough steps through the full stack</a:t>
            </a:r>
            <a:endParaRPr lang="en-US" sz="1300" dirty="0"/>
          </a:p>
        </p:txBody>
      </p:sp>
      <p:sp>
        <p:nvSpPr>
          <p:cNvPr id="10" name="card-287"/>
          <p:cNvSpPr/>
          <p:nvPr/>
        </p:nvSpPr>
        <p:spPr>
          <a:xfrm>
            <a:off x="548640" y="3840480"/>
            <a:ext cx="4937760" cy="960120"/>
          </a:xfrm>
          <a:prstGeom prst="roundRect">
            <a:avLst>
              <a:gd name="adj" fmla="val 7619"/>
            </a:avLst>
          </a:prstGeom>
          <a:solidFill>
            <a:schemeClr val="bg2"/>
          </a:solidFill>
          <a:ln w="12700">
            <a:solidFill>
              <a:schemeClr val="bg2"/>
            </a:solidFill>
            <a:prstDash val="solid"/>
          </a:ln>
        </p:spPr>
      </p:sp>
      <p:sp>
        <p:nvSpPr>
          <p:cNvPr id="11" name="text-288"/>
          <p:cNvSpPr txBox="1"/>
          <p:nvPr/>
        </p:nvSpPr>
        <p:spPr>
          <a:xfrm>
            <a:off x="777240" y="3931920"/>
            <a:ext cx="2011680" cy="777240"/>
          </a:xfrm>
          <a:prstGeom prst="rect">
            <a:avLst/>
          </a:prstGeom>
          <a:noFill/>
          <a:ln/>
        </p:spPr>
        <p:txBody>
          <a:bodyPr wrap="square" lIns="0" tIns="0" rIns="0" bIns="0" rtlCol="0" anchor="ctr"/>
          <a:lstStyle/>
          <a:p>
            <a:pPr indent="0" marL="0">
              <a:buNone/>
            </a:pPr>
            <a:r>
              <a:rPr lang="en-US" sz="2600" b="1" dirty="0">
                <a:solidFill>
                  <a:schemeClr val="tx2"/>
                </a:solidFill>
              </a:rPr>
              <a:t>293 → 18 ms</a:t>
            </a:r>
            <a:endParaRPr lang="en-US" sz="2600" dirty="0"/>
          </a:p>
        </p:txBody>
      </p:sp>
      <p:sp>
        <p:nvSpPr>
          <p:cNvPr id="12" name="text-289"/>
          <p:cNvSpPr txBox="1"/>
          <p:nvPr/>
        </p:nvSpPr>
        <p:spPr>
          <a:xfrm>
            <a:off x="2834640" y="3931920"/>
            <a:ext cx="2514600" cy="777240"/>
          </a:xfrm>
          <a:prstGeom prst="rect">
            <a:avLst/>
          </a:prstGeom>
          <a:noFill/>
          <a:ln/>
        </p:spPr>
        <p:txBody>
          <a:bodyPr wrap="square" lIns="0" tIns="0" rIns="0" bIns="0" rtlCol="0" anchor="ctr"/>
          <a:lstStyle/>
          <a:p>
            <a:pPr indent="0" marL="0">
              <a:buNone/>
            </a:pPr>
            <a:r>
              <a:rPr lang="en-US" sz="1300" dirty="0">
                <a:solidFill>
                  <a:schemeClr val="tx1"/>
                </a:solidFill>
              </a:rPr>
              <a:t>account page after indexes and linked-id lookups</a:t>
            </a:r>
            <a:endParaRPr lang="en-US" sz="1300" dirty="0"/>
          </a:p>
        </p:txBody>
      </p:sp>
      <p:sp>
        <p:nvSpPr>
          <p:cNvPr id="13" name="card-290"/>
          <p:cNvSpPr/>
          <p:nvPr/>
        </p:nvSpPr>
        <p:spPr>
          <a:xfrm>
            <a:off x="548640" y="4937760"/>
            <a:ext cx="4937760" cy="960120"/>
          </a:xfrm>
          <a:prstGeom prst="roundRect">
            <a:avLst>
              <a:gd name="adj" fmla="val 7619"/>
            </a:avLst>
          </a:prstGeom>
          <a:solidFill>
            <a:schemeClr val="bg2"/>
          </a:solidFill>
          <a:ln w="12700">
            <a:solidFill>
              <a:schemeClr val="bg2"/>
            </a:solidFill>
            <a:prstDash val="solid"/>
          </a:ln>
        </p:spPr>
      </p:sp>
      <p:sp>
        <p:nvSpPr>
          <p:cNvPr id="14" name="text-291"/>
          <p:cNvSpPr txBox="1"/>
          <p:nvPr/>
        </p:nvSpPr>
        <p:spPr>
          <a:xfrm>
            <a:off x="777240" y="5029200"/>
            <a:ext cx="2011680" cy="777240"/>
          </a:xfrm>
          <a:prstGeom prst="rect">
            <a:avLst/>
          </a:prstGeom>
          <a:noFill/>
          <a:ln/>
        </p:spPr>
        <p:txBody>
          <a:bodyPr wrap="square" lIns="0" tIns="0" rIns="0" bIns="0" rtlCol="0" anchor="ctr"/>
          <a:lstStyle/>
          <a:p>
            <a:pPr indent="0" marL="0">
              <a:buNone/>
            </a:pPr>
            <a:r>
              <a:rPr lang="en-US" sz="2600" b="1" dirty="0">
                <a:solidFill>
                  <a:schemeClr val="tx2"/>
                </a:solidFill>
              </a:rPr>
              <a:t>64%</a:t>
            </a:r>
            <a:endParaRPr lang="en-US" sz="2600" dirty="0"/>
          </a:p>
        </p:txBody>
      </p:sp>
      <p:sp>
        <p:nvSpPr>
          <p:cNvPr id="15" name="text-292"/>
          <p:cNvSpPr txBox="1"/>
          <p:nvPr/>
        </p:nvSpPr>
        <p:spPr>
          <a:xfrm>
            <a:off x="2834640" y="5029200"/>
            <a:ext cx="2514600" cy="777240"/>
          </a:xfrm>
          <a:prstGeom prst="rect">
            <a:avLst/>
          </a:prstGeom>
          <a:noFill/>
          <a:ln/>
        </p:spPr>
        <p:txBody>
          <a:bodyPr wrap="square" lIns="0" tIns="0" rIns="0" bIns="0" rtlCol="0" anchor="ctr"/>
          <a:lstStyle/>
          <a:p>
            <a:pPr indent="0" marL="0">
              <a:buNone/>
            </a:pPr>
            <a:r>
              <a:rPr lang="en-US" sz="1300" dirty="0">
                <a:solidFill>
                  <a:schemeClr val="tx1"/>
                </a:solidFill>
              </a:rPr>
              <a:t>of briefs reused the next night when facts are unchanged</a:t>
            </a:r>
            <a:endParaRPr lang="en-US" sz="1300" dirty="0"/>
          </a:p>
        </p:txBody>
      </p:sp>
      <p:sp>
        <p:nvSpPr>
          <p:cNvPr id="16" name="card-293"/>
          <p:cNvSpPr/>
          <p:nvPr/>
        </p:nvSpPr>
        <p:spPr>
          <a:xfrm>
            <a:off x="5852160" y="1645920"/>
            <a:ext cx="5790895" cy="4251960"/>
          </a:xfrm>
          <a:prstGeom prst="roundRect">
            <a:avLst>
              <a:gd name="adj" fmla="val 1720"/>
            </a:avLst>
          </a:prstGeom>
          <a:solidFill>
            <a:schemeClr val="tx2"/>
          </a:solidFill>
          <a:ln w="12700">
            <a:solidFill>
              <a:schemeClr val="tx2"/>
            </a:solidFill>
            <a:prstDash val="solid"/>
          </a:ln>
        </p:spPr>
      </p:sp>
      <p:sp>
        <p:nvSpPr>
          <p:cNvPr id="17" name="text-294"/>
          <p:cNvSpPr txBox="1"/>
          <p:nvPr/>
        </p:nvSpPr>
        <p:spPr>
          <a:xfrm>
            <a:off x="6126480" y="1783080"/>
            <a:ext cx="5242255" cy="365760"/>
          </a:xfrm>
          <a:prstGeom prst="rect">
            <a:avLst/>
          </a:prstGeom>
          <a:noFill/>
          <a:ln/>
        </p:spPr>
        <p:txBody>
          <a:bodyPr wrap="square" lIns="0" tIns="0" rIns="0" bIns="0" rtlCol="0" anchor="t"/>
          <a:lstStyle/>
          <a:p>
            <a:pPr indent="0" marL="0">
              <a:buNone/>
            </a:pPr>
            <a:r>
              <a:rPr lang="en-US" sz="1700" b="1" dirty="0">
                <a:solidFill>
                  <a:schemeClr val="accent1"/>
                </a:solidFill>
              </a:rPr>
              <a:t>Operational defaults</a:t>
            </a:r>
            <a:endParaRPr lang="en-US" sz="1700" dirty="0"/>
          </a:p>
        </p:txBody>
      </p:sp>
      <p:sp>
        <p:nvSpPr>
          <p:cNvPr id="18" name="text-295"/>
          <p:cNvSpPr txBox="1"/>
          <p:nvPr/>
        </p:nvSpPr>
        <p:spPr>
          <a:xfrm>
            <a:off x="6126480" y="2240280"/>
            <a:ext cx="5242255" cy="3566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Refuses to start in production with weak secrets</a:t>
            </a:r>
            <a:endParaRPr lang="en-US" sz="1400" dirty="0"/>
          </a:p>
          <a:p>
            <a:pPr marL="177800" indent="-177800">
              <a:spcAft>
                <a:spcPts val="600"/>
              </a:spcAft>
              <a:buSzPct val="100000"/>
              <a:buChar char="•"/>
            </a:pPr>
            <a:r>
              <a:rPr lang="en-US" sz="1400" dirty="0">
                <a:solidFill>
                  <a:schemeClr val="bg1"/>
                </a:solidFill>
              </a:rPr>
              <a:t>Sign-in throttling; demo password hidden in production</a:t>
            </a:r>
            <a:endParaRPr lang="en-US" sz="1400" dirty="0"/>
          </a:p>
          <a:p>
            <a:pPr marL="177800" indent="-177800">
              <a:spcAft>
                <a:spcPts val="600"/>
              </a:spcAft>
              <a:buSzPct val="100000"/>
              <a:buChar char="•"/>
            </a:pPr>
            <a:r>
              <a:rPr lang="en-US" sz="1400" dirty="0">
                <a:solidFill>
                  <a:schemeClr val="bg1"/>
                </a:solidFill>
              </a:rPr>
              <a:t>TLS and security headers at Caddy; only ports 80/443 open</a:t>
            </a:r>
            <a:endParaRPr lang="en-US" sz="1400" dirty="0"/>
          </a:p>
          <a:p>
            <a:pPr marL="177800" indent="-177800">
              <a:spcAft>
                <a:spcPts val="600"/>
              </a:spcAft>
              <a:buSzPct val="100000"/>
              <a:buChar char="•"/>
            </a:pPr>
            <a:r>
              <a:rPr lang="en-US" sz="1400" dirty="0">
                <a:solidFill>
                  <a:schemeClr val="bg1"/>
                </a:solidFill>
              </a:rPr>
              <a:t>Non-root containers, health checks, capped logs</a:t>
            </a:r>
            <a:endParaRPr lang="en-US" sz="1400" dirty="0"/>
          </a:p>
          <a:p>
            <a:pPr marL="177800" indent="-177800">
              <a:spcAft>
                <a:spcPts val="600"/>
              </a:spcAft>
              <a:buSzPct val="100000"/>
              <a:buChar char="•"/>
            </a:pPr>
            <a:r>
              <a:rPr lang="en-US" sz="1400" dirty="0">
                <a:solidFill>
                  <a:schemeClr val="bg1"/>
                </a:solidFill>
              </a:rPr>
              <a:t>Migrations applied on start; idempotent one-command bootstrap</a:t>
            </a:r>
            <a:endParaRPr lang="en-US" sz="1400" dirty="0"/>
          </a:p>
          <a:p>
            <a:pPr marL="177800" indent="-177800">
              <a:spcAft>
                <a:spcPts val="600"/>
              </a:spcAft>
              <a:buSzPct val="100000"/>
              <a:buChar char="•"/>
            </a:pPr>
            <a:r>
              <a:rPr lang="en-US" sz="1400" dirty="0">
                <a:solidFill>
                  <a:schemeClr val="bg1"/>
                </a:solidFill>
              </a:rPr>
              <a:t>JSON logs carry trace_id, user_name and run_id</a:t>
            </a:r>
            <a:endParaRPr lang="en-US" sz="1400" dirty="0"/>
          </a:p>
          <a:p>
            <a:pPr marL="177800" indent="-177800">
              <a:spcAft>
                <a:spcPts val="600"/>
              </a:spcAft>
              <a:buSzPct val="100000"/>
              <a:buChar char="•"/>
            </a:pPr>
            <a:r>
              <a:rPr lang="en-US" sz="1400" dirty="0">
                <a:solidFill>
                  <a:schemeClr val="bg1"/>
                </a:solidFill>
              </a:rPr>
              <a:t>Manual runs start as separate processes, so the API stays responsive</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algn="l" indent="0" marL="0">
              <a:buNone/>
            </a:pPr>
            <a:r>
              <a:rPr lang="en-US" sz="3200" b="1" dirty="0">
                <a:solidFill>
                  <a:schemeClr val="bg1"/>
                </a:solidFill>
              </a:rPr>
              <a:t>Limits, open questions and next steps</a:t>
            </a:r>
            <a:endParaRPr lang="en-US" sz="3200" dirty="0"/>
          </a:p>
        </p:txBody>
      </p:sp>
      <p:sp>
        <p:nvSpPr>
          <p:cNvPr id="3" name="card-296"/>
          <p:cNvSpPr/>
          <p:nvPr/>
        </p:nvSpPr>
        <p:spPr>
          <a:xfrm>
            <a:off x="548640" y="1463040"/>
            <a:ext cx="3515258" cy="4206240"/>
          </a:xfrm>
          <a:prstGeom prst="roundRect">
            <a:avLst>
              <a:gd name="adj" fmla="val 2081"/>
            </a:avLst>
          </a:prstGeom>
          <a:solidFill>
            <a:srgbClr val="1A3A60"/>
          </a:solidFill>
          <a:ln w="12700">
            <a:solidFill>
              <a:srgbClr val="1A3A60"/>
            </a:solidFill>
            <a:prstDash val="solid"/>
          </a:ln>
        </p:spPr>
      </p:sp>
      <p:sp>
        <p:nvSpPr>
          <p:cNvPr id="4" name="text-297"/>
          <p:cNvSpPr txBox="1"/>
          <p:nvPr/>
        </p:nvSpPr>
        <p:spPr>
          <a:xfrm>
            <a:off x="822960" y="169164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Not in v1</a:t>
            </a:r>
            <a:endParaRPr lang="en-US" sz="1800" dirty="0"/>
          </a:p>
        </p:txBody>
      </p:sp>
      <p:sp>
        <p:nvSpPr>
          <p:cNvPr id="5" name="text-298"/>
          <p:cNvSpPr txBox="1"/>
          <p:nvPr/>
        </p:nvSpPr>
        <p:spPr>
          <a:xfrm>
            <a:off x="822960" y="2240280"/>
            <a:ext cx="2966618" cy="32918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bg1"/>
                </a:solidFill>
              </a:rPr>
              <a:t>Real connectors (synthetic feeds use the same interface)</a:t>
            </a:r>
            <a:endParaRPr lang="en-US" sz="1500" dirty="0"/>
          </a:p>
          <a:p>
            <a:pPr marL="177800" indent="-177800">
              <a:spcAft>
                <a:spcPts val="800"/>
              </a:spcAft>
              <a:buSzPct val="100000"/>
              <a:buChar char="•"/>
            </a:pPr>
            <a:r>
              <a:rPr lang="en-US" sz="1500" dirty="0">
                <a:solidFill>
                  <a:schemeClr val="bg1"/>
                </a:solidFill>
              </a:rPr>
              <a:t>Sending email, SSO</a:t>
            </a:r>
            <a:endParaRPr lang="en-US" sz="1500" dirty="0"/>
          </a:p>
          <a:p>
            <a:pPr marL="177800" indent="-177800">
              <a:spcAft>
                <a:spcPts val="800"/>
              </a:spcAft>
              <a:buSzPct val="100000"/>
              <a:buChar char="•"/>
            </a:pPr>
            <a:r>
              <a:rPr lang="en-US" sz="1500" dirty="0">
                <a:solidFill>
                  <a:schemeClr val="bg1"/>
                </a:solidFill>
              </a:rPr>
              <a:t>Per-company models, expansion scoring</a:t>
            </a:r>
            <a:endParaRPr lang="en-US" sz="1500" dirty="0"/>
          </a:p>
          <a:p>
            <a:pPr marL="177800" indent="-177800">
              <a:spcAft>
                <a:spcPts val="800"/>
              </a:spcAft>
              <a:buSzPct val="100000"/>
              <a:buChar char="•"/>
            </a:pPr>
            <a:r>
              <a:rPr lang="en-US" sz="1500" dirty="0">
                <a:solidFill>
                  <a:schemeClr val="bg1"/>
                </a:solidFill>
              </a:rPr>
              <a:t>Review UI for unresolved identities</a:t>
            </a:r>
            <a:endParaRPr lang="en-US" sz="1500" dirty="0"/>
          </a:p>
        </p:txBody>
      </p:sp>
      <p:sp>
        <p:nvSpPr>
          <p:cNvPr id="6" name="card-299"/>
          <p:cNvSpPr/>
          <p:nvPr/>
        </p:nvSpPr>
        <p:spPr>
          <a:xfrm>
            <a:off x="4338218" y="1463040"/>
            <a:ext cx="3515258" cy="4206240"/>
          </a:xfrm>
          <a:prstGeom prst="roundRect">
            <a:avLst>
              <a:gd name="adj" fmla="val 2081"/>
            </a:avLst>
          </a:prstGeom>
          <a:solidFill>
            <a:srgbClr val="1A3A60"/>
          </a:solidFill>
          <a:ln w="12700">
            <a:solidFill>
              <a:srgbClr val="1A3A60"/>
            </a:solidFill>
            <a:prstDash val="solid"/>
          </a:ln>
        </p:spPr>
      </p:sp>
      <p:sp>
        <p:nvSpPr>
          <p:cNvPr id="7" name="text-300"/>
          <p:cNvSpPr txBox="1"/>
          <p:nvPr/>
        </p:nvSpPr>
        <p:spPr>
          <a:xfrm>
            <a:off x="4612538" y="169164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Questions for the business</a:t>
            </a:r>
            <a:endParaRPr lang="en-US" sz="1800" dirty="0"/>
          </a:p>
        </p:txBody>
      </p:sp>
      <p:sp>
        <p:nvSpPr>
          <p:cNvPr id="8" name="text-301"/>
          <p:cNvSpPr txBox="1"/>
          <p:nvPr/>
        </p:nvSpPr>
        <p:spPr>
          <a:xfrm>
            <a:off x="4612538" y="2240280"/>
            <a:ext cx="2966618" cy="32918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bg1"/>
                </a:solidFill>
              </a:rPr>
              <a:t>Does a downgrade count as churn?</a:t>
            </a:r>
            <a:endParaRPr lang="en-US" sz="1500" dirty="0"/>
          </a:p>
          <a:p>
            <a:pPr marL="177800" indent="-177800">
              <a:spcAft>
                <a:spcPts val="800"/>
              </a:spcAft>
              <a:buSzPct val="100000"/>
              <a:buChar char="•"/>
            </a:pPr>
            <a:r>
              <a:rPr lang="en-US" sz="1500" dirty="0">
                <a:solidFill>
                  <a:schemeClr val="bg1"/>
                </a:solidFill>
              </a:rPr>
              <a:t>Source of truth for ARR and renewal date</a:t>
            </a:r>
            <a:endParaRPr lang="en-US" sz="1500" dirty="0"/>
          </a:p>
          <a:p>
            <a:pPr marL="177800" indent="-177800">
              <a:spcAft>
                <a:spcPts val="800"/>
              </a:spcAft>
              <a:buSzPct val="100000"/>
              <a:buChar char="•"/>
            </a:pPr>
            <a:r>
              <a:rPr lang="en-US" sz="1500" dirty="0">
                <a:solidFill>
                  <a:schemeClr val="bg1"/>
                </a:solidFill>
              </a:rPr>
              <a:t>Real CSM capacity and playbooks</a:t>
            </a:r>
            <a:endParaRPr lang="en-US" sz="1500" dirty="0"/>
          </a:p>
          <a:p>
            <a:pPr marL="177800" indent="-177800">
              <a:spcAft>
                <a:spcPts val="800"/>
              </a:spcAft>
              <a:buSzPct val="100000"/>
              <a:buChar char="•"/>
            </a:pPr>
            <a:r>
              <a:rPr lang="en-US" sz="1500" dirty="0">
                <a:solidFill>
                  <a:schemeClr val="bg1"/>
                </a:solidFill>
              </a:rPr>
              <a:t>Is a missed churn worse than a wasted call?</a:t>
            </a:r>
            <a:endParaRPr lang="en-US" sz="1500" dirty="0"/>
          </a:p>
        </p:txBody>
      </p:sp>
      <p:sp>
        <p:nvSpPr>
          <p:cNvPr id="9" name="card-302"/>
          <p:cNvSpPr/>
          <p:nvPr/>
        </p:nvSpPr>
        <p:spPr>
          <a:xfrm>
            <a:off x="8127797" y="1463040"/>
            <a:ext cx="3515258" cy="4206240"/>
          </a:xfrm>
          <a:prstGeom prst="roundRect">
            <a:avLst>
              <a:gd name="adj" fmla="val 2081"/>
            </a:avLst>
          </a:prstGeom>
          <a:solidFill>
            <a:srgbClr val="1A3A60"/>
          </a:solidFill>
          <a:ln w="12700">
            <a:solidFill>
              <a:srgbClr val="1A3A60"/>
            </a:solidFill>
            <a:prstDash val="solid"/>
          </a:ln>
        </p:spPr>
      </p:sp>
      <p:sp>
        <p:nvSpPr>
          <p:cNvPr id="10" name="text-303"/>
          <p:cNvSpPr txBox="1"/>
          <p:nvPr/>
        </p:nvSpPr>
        <p:spPr>
          <a:xfrm>
            <a:off x="8402117" y="169164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Next</a:t>
            </a:r>
            <a:endParaRPr lang="en-US" sz="1800" dirty="0"/>
          </a:p>
        </p:txBody>
      </p:sp>
      <p:sp>
        <p:nvSpPr>
          <p:cNvPr id="11" name="text-304"/>
          <p:cNvSpPr txBox="1"/>
          <p:nvPr/>
        </p:nvSpPr>
        <p:spPr>
          <a:xfrm>
            <a:off x="8402117" y="2240280"/>
            <a:ext cx="2966618" cy="32918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bg1"/>
                </a:solidFill>
              </a:rPr>
              <a:t>Same-day interrupt for critical events, on top of the nightly run</a:t>
            </a:r>
            <a:endParaRPr lang="en-US" sz="1500" dirty="0"/>
          </a:p>
          <a:p>
            <a:pPr marL="177800" indent="-177800">
              <a:spcAft>
                <a:spcPts val="800"/>
              </a:spcAft>
              <a:buSzPct val="100000"/>
              <a:buChar char="•"/>
            </a:pPr>
            <a:r>
              <a:rPr lang="en-US" sz="1500" dirty="0">
                <a:solidFill>
                  <a:schemeClr val="bg1"/>
                </a:solidFill>
              </a:rPr>
              <a:t>CI: tests and image build on every push</a:t>
            </a:r>
            <a:endParaRPr lang="en-US" sz="1500" dirty="0"/>
          </a:p>
          <a:p>
            <a:pPr marL="177800" indent="-177800">
              <a:spcAft>
                <a:spcPts val="800"/>
              </a:spcAft>
              <a:buSzPct val="100000"/>
              <a:buChar char="•"/>
            </a:pPr>
            <a:r>
              <a:rPr lang="en-US" sz="1500" dirty="0">
                <a:solidFill>
                  <a:schemeClr val="bg1"/>
                </a:solidFill>
              </a:rPr>
              <a:t>Incremental identity matching at 10× scale</a:t>
            </a:r>
            <a:endParaRPr lang="en-US" sz="1500" dirty="0"/>
          </a:p>
          <a:p>
            <a:pPr marL="177800" indent="-177800">
              <a:spcAft>
                <a:spcPts val="800"/>
              </a:spcAft>
              <a:buSzPct val="100000"/>
              <a:buChar char="•"/>
            </a:pPr>
            <a:r>
              <a:rPr lang="en-US" sz="1500" dirty="0">
                <a:solidFill>
                  <a:schemeClr val="bg1"/>
                </a:solidFill>
              </a:rPr>
              <a:t>Retrain on real outcomes; monitor calibration drift</a:t>
            </a:r>
            <a:endParaRPr lang="en-US" sz="1500" dirty="0"/>
          </a:p>
        </p:txBody>
      </p:sp>
      <p:sp>
        <p:nvSpPr>
          <p:cNvPr id="12" name="text-305"/>
          <p:cNvSpPr txBox="1"/>
          <p:nvPr/>
        </p:nvSpPr>
        <p:spPr>
          <a:xfrm>
            <a:off x="548640" y="5943600"/>
            <a:ext cx="10180015" cy="365760"/>
          </a:xfrm>
          <a:prstGeom prst="rect">
            <a:avLst/>
          </a:prstGeom>
          <a:noFill/>
          <a:ln/>
        </p:spPr>
        <p:txBody>
          <a:bodyPr wrap="square" lIns="0" tIns="0" rIns="0" bIns="0" rtlCol="0" anchor="t"/>
          <a:lstStyle/>
          <a:p>
            <a:pPr indent="0" marL="0">
              <a:buNone/>
            </a:pPr>
            <a:r>
              <a:rPr lang="en-US" sz="1300" dirty="0">
                <a:solidFill>
                  <a:schemeClr val="accent6"/>
                </a:solidFill>
              </a:rPr>
              <a:t>Code, decisions log and setup: csm-triage repository · DECISIONS.md lists every choice with its reason</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Triage Navy and Saffron">
  <a:themeElements>
    <a:clrScheme name="Triage Navy and Saffron">
      <a:dk1>
        <a:srgbClr val="0F172A"/>
      </a:dk1>
      <a:lt1>
        <a:srgbClr val="FFFFFF"/>
      </a:lt1>
      <a:dk2>
        <a:srgbClr val="0F2A4A"/>
      </a:dk2>
      <a:lt2>
        <a:srgbClr val="F4F6FB"/>
      </a:lt2>
      <a:accent1>
        <a:srgbClr val="E8A92B"/>
      </a:accent1>
      <a:accent2>
        <a:srgbClr val="0F2A4A"/>
      </a:accent2>
      <a:accent3>
        <a:srgbClr val="16A34A"/>
      </a:accent3>
      <a:accent4>
        <a:srgbClr val="DC2626"/>
      </a:accent4>
      <a:accent5>
        <a:srgbClr val="64748B"/>
      </a:accent5>
      <a:accent6>
        <a:srgbClr val="E5EBF5"/>
      </a:accent6>
      <a:hlink>
        <a:srgbClr val="0F2A4A"/>
      </a:hlink>
      <a:folHlink>
        <a:srgbClr val="64748B"/>
      </a:folHlink>
    </a:clrScheme>
    <a:fontScheme name="Triage Navy and Saffr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Triage — Solution brief</dc:title>
  <dc:subject>CSM churn-risk triage: architecture, model, evaluation and trade-offs</dc:subject>
  <dc:creator>Kuldeep Chouhan</dc:creator>
  <cp:lastModifiedBy>Kuldeep Chouhan</cp:lastModifiedBy>
  <cp:revision>1</cp:revision>
  <dcterms:created xsi:type="dcterms:W3CDTF">2026-10-18T19:20:55Z</dcterms:created>
  <dcterms:modified xsi:type="dcterms:W3CDTF">2026-10-18T19:20:55Z</dcterms:modified>
</cp:coreProperties>
</file>