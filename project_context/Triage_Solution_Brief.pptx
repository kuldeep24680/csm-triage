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2a6318e-0fee-d3e1-c1bd-a583efff2ef1}">
          <p14:sldIdLst>
            <p14:sldId id="256"/>
            <p14:sldId id="257"/>
            <p14:sldId id="258"/>
            <p14:sldId id="259"/>
          </p14:sldIdLst>
        </p14:section>
        <p14:section name="Design" id="{27d27831-304d-104e-df9b-1884ac3884f2}">
          <p14:sldIdLst>
            <p14:sldId id="260"/>
            <p14:sldId id="261"/>
            <p14:sldId id="262"/>
            <p14:sldId id="263"/>
            <p14:sldId id="264"/>
          </p14:sldIdLst>
        </p14:section>
        <p14:section name="Evidence" id="{6e684f45-5481-843b-7550-f26484880ebe}">
          <p14:sldIdLst>
            <p14:sldId id="265"/>
            <p14:sldId id="266"/>
            <p14:sldId id="267"/>
          </p14:sldIdLst>
        </p14:section>
        <p14:section name="Judgement" id="{717e45bd-9131-c968-4ec8-afeea616d3c1}">
          <p14:sldIdLst>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Churners listed 14–90 days early</c:v>
                </c:pt>
              </c:strCache>
            </c:strRef>
          </c:tx>
          <c:spPr>
            <a:solidFill>
              <a:srgbClr val="0F2A4A"/>
            </a:solidFill>
            <a:effectLst/>
          </c:spPr>
          <c:invertIfNegative val="0"/>
          <c:dLbls>
            <c:numFmt formatCode="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Triage model</c:v>
                  </c:pt>
                  <c:pt idx="1">
                    <c:v>Red/yellow/green rules</c:v>
                  </c:pt>
                  <c:pt idx="2">
                    <c:v>Revenue + renewal date</c:v>
                  </c:pt>
                  <c:pt idx="3">
                    <c:v>Perfect foresight</c:v>
                  </c:pt>
                </c:lvl>
              </c:multiLvlStrCache>
            </c:multiLvlStrRef>
          </c:cat>
          <c:val>
            <c:numRef>
              <c:f>Sheet1!$B$2:$B$5</c:f>
              <c:numCache>
                <c:formatCode>General</c:formatCode>
                <c:ptCount val="4"/>
                <c:pt idx="0">
                  <c:v>75</c:v>
                </c:pt>
                <c:pt idx="1">
                  <c:v>55</c:v>
                </c:pt>
                <c:pt idx="2">
                  <c:v>30</c:v>
                </c:pt>
                <c:pt idx="3">
                  <c:v>100</c:v>
                </c:pt>
              </c:numCache>
            </c:numRef>
          </c:val>
        </c:ser>
        <c:ser>
          <c:idx val="1"/>
          <c:order val="1"/>
          <c:tx>
            <c:strRef>
              <c:f>Sheet1!$C$1</c:f>
              <c:strCache>
                <c:ptCount val="1"/>
                <c:pt idx="0">
                  <c:v>Lost revenue listed early</c:v>
                </c:pt>
              </c:strCache>
            </c:strRef>
          </c:tx>
          <c:spPr>
            <a:solidFill>
              <a:srgbClr val="E8A92B"/>
            </a:solidFill>
            <a:effectLst/>
          </c:spPr>
          <c:invertIfNegative val="0"/>
          <c:dLbls>
            <c:numFmt formatCode="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Triage model</c:v>
                  </c:pt>
                  <c:pt idx="1">
                    <c:v>Red/yellow/green rules</c:v>
                  </c:pt>
                  <c:pt idx="2">
                    <c:v>Revenue + renewal date</c:v>
                  </c:pt>
                  <c:pt idx="3">
                    <c:v>Perfect foresight</c:v>
                  </c:pt>
                </c:lvl>
              </c:multiLvlStrCache>
            </c:multiLvlStrRef>
          </c:cat>
          <c:val>
            <c:numRef>
              <c:f>Sheet1!$C$2:$C$5</c:f>
              <c:numCache>
                <c:formatCode>General</c:formatCode>
                <c:ptCount val="4"/>
                <c:pt idx="0">
                  <c:v>95</c:v>
                </c:pt>
                <c:pt idx="1">
                  <c:v>81</c:v>
                </c:pt>
                <c:pt idx="2">
                  <c:v>88</c:v>
                </c:pt>
                <c:pt idx="3">
                  <c:v>100</c:v>
                </c:pt>
              </c:numCache>
            </c:numRef>
          </c:val>
        </c:ser>
        <c:dLbls>
          <c:numFmt formatCode="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Triage is a churn-risk triage system for CSM teams. The one-line design principle: a fitted model ranks, the LLM only explains from checked facts, and a human decides and sends. Everything in the walkthrough is built around keeping those three roles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kept the intent (nothing slips) and changed the mechanism. A colour has no action attached; capacity is the real constraint, so red means 'in your top 15 this week'. I refused auto-send: the list's precision is about 10% per slot, so an automatic 'we noticed a problem' email would mostly go to healthy customers and can accelerate churn.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is an operational metric, not AUC: of the renewals that were lost in the last six months, how many sat on a CSM's 15-call list between 14 and 90 days before renewal. Same capacity and the same revenue weighting for every method; only the risk estimate changes. Precision looks low until you compare it with perfect foresight, which is why I report the ceiling next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screens carry the product. The call list answers who and why; the evidence drawer answers 'can I trust this number'. Rows that arrived after the run are shown but hatched as unused, which is how I prove the score only used what it could see at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boring infrastructure. One Postgres holds raw records, normalised tables, identity decisions, scores, briefs and the audit trail, so every claim on screen is a join away from its evidence. The API serves the built React app, so there is one deployable image used by both the api and scheduler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wrong identity match mixes two customers' data, which is worse than a missing match, so uncertain matches go to an unresolved queue with the best candidate kept as evidence. Late data is the subtle one: the telemetry outage is backfilled a month later, and because every row keeps arrived_at, a replayed run sees exactly what the original run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records are kept verbatim with a hash, so any normalisation bug can be replayed. The decision layer never overwrites: a new run writes new score rows, which is what makes 'what changed since last week' a simple diff and keeps old screens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don't store a mutable 'health' field. An account's state is the snapshot of 24 signals computed as of the run date, using only data that had both happened and arrived. The score row adds the decision: probability, contributions, what changed, and the band. Grey is a first-class state, because 'we can't see this account' is exactly how quiet churn gets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won on validation and gives exact per-account contributions, which become the 'Why' bars. Gradient boosting would have had to beat it clearly to justify losing that. The sign constraint came from a real bug: collinearity gave rising usage a positive risk weight, which produced explanations like 'usage up 34%' as a reason to worry. Dropping those signals cost 0.007 AUC and improved churners caught early from 71% to 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of evaluation. Ranking quality (AUC, PR-AUC) on renewal snapshots. Calibration, because the UI shows percentages and a CSM should be able to read 20% as one in five. And the operational replay: rebuild each week's list on the test period and ask whether the lost renewals were on it in time. Thresholds such as 'no probability floor on the call list' were chosen on validation, not test: a floor of 0.07 cut churned ARR caught early from 93% to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trigger is a long-running scheduler process in its own container. It reads each company's timezone from the database every loop, so a new tenant needs no config change. I deliberately allow exactly one automatic retry: it recovers transient failures without hiding real ones. Resume skips completed durable steps and briefs already written, so a retry costs no duplicate LLM spend, and it keeps the model version the run started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hallucinated fact in a customer email is the worst failure mode, so validation is mechanical, not a prompt instruction: citations must exist and numbers must match. Tenant isolation is enforced by the database rather than by remembering a WHERE clause; a request with no tenant set sees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were in the brief. They come from asking what would make a CSM stop trusting the list, or what would page someone at 2 a.m. Each maps to a test, a database constraint, or a state the UI shows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I'd most expect to be challenged is the missing probability floor: some Red accounts are low-risk but very high-value. I chose that on validation because big accounts carry most of the revenue, and the UI labels those rows as 'low risk, but a large renewal is close' so the CSM knows why they are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real compose stack end to end found two bugs the unit tests didn't: a double click on Run now could start two runs, and the sign-in page showed the development password in production. Both are fixed and covered. The briefs step went from about 127 seconds to roughly 30 by slicing source data once per run and reusing briefs whose facts haven't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slide; I won't present it, but it's here so every term in the deck has a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want answers to these four questions before tuning anything further, because they change the label and the thresholds. The next engineering step is a same-day interrupt for critical events, layered on top of the nightly run rather than replacing it, since the nightly reconcile is needed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863840" cy="12801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548640" y="3429000"/>
            <a:ext cx="7680960" cy="109728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rtlCol="0"/>
          <a:lstStyle>
            <a:lvl1pPr algn="l" indent="0" marL="0">
              <a:buNone/>
              <a:defRPr lang="en-US" sz="1600" dirty="0">
                <a:solidFill>
                  <a:schemeClr val="accent5"/>
                </a:solidFill>
              </a:defRPr>
            </a:lvl1pPr>
          </a:lstStyle>
          <a:p>
            <a:pPr algn="l" indent="0" marL="0">
              <a:buNone/>
            </a:pPr>
            <a:endParaRPr lang="en-US" sz="1600" dirty="0"/>
          </a:p>
        </p:txBody>
      </p:sp>
      <p:sp>
        <p:nvSpPr>
          <p:cNvPr id="4"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Triage · Solution brief</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863840" cy="1280160"/>
          </a:xfrm>
          <a:prstGeom prst="rect">
            <a:avLst/>
          </a:prstGeom>
          <a:noFill/>
          <a:ln/>
        </p:spPr>
        <p:txBody>
          <a:bodyPr wrap="square" lIns="0" tIns="0" rIns="0" bIns="0" rtlCol="0" anchor="b"/>
          <a:lstStyle/>
          <a:p>
            <a:pPr algn="l" indent="0" marL="0">
              <a:buNone/>
            </a:pPr>
            <a:r>
              <a:rPr lang="en-US" sz="6000" b="1" dirty="0">
                <a:solidFill>
                  <a:schemeClr val="bg1"/>
                </a:solidFill>
              </a:rPr>
              <a:t>Triage</a:t>
            </a:r>
            <a:endParaRPr lang="en-US" sz="6000" dirty="0"/>
          </a:p>
        </p:txBody>
      </p:sp>
      <p:sp>
        <p:nvSpPr>
          <p:cNvPr id="3" name="Text 0"/>
          <p:cNvSpPr/>
          <p:nvPr>
            <p:ph idx="101" type="body" hasCustomPrompt="1"/>
          </p:nvPr>
        </p:nvSpPr>
        <p:spPr>
          <a:xfrm>
            <a:off x="548640" y="3429000"/>
            <a:ext cx="7680960" cy="1097280"/>
          </a:xfrm>
          <a:prstGeom prst="rect">
            <a:avLst/>
          </a:prstGeom>
          <a:noFill/>
          <a:ln/>
        </p:spPr>
        <p:txBody>
          <a:bodyPr wrap="square" lIns="0" tIns="0" rIns="0" bIns="0" rtlCol="0" anchor="t"/>
          <a:lstStyle/>
          <a:p>
            <a:pPr algn="l" indent="0" marL="0">
              <a:buNone/>
            </a:pPr>
            <a:r>
              <a:rPr lang="en-US" sz="2200" dirty="0">
                <a:solidFill>
                  <a:schemeClr val="accent6"/>
                </a:solidFill>
              </a:rPr>
              <a:t>Who to call this week, and why: churn-risk triage for Customer Success teams</a:t>
            </a:r>
            <a:endParaRPr lang="en-US" sz="2200" dirty="0"/>
          </a:p>
        </p:txBody>
      </p:sp>
      <p:sp>
        <p:nvSpPr>
          <p:cNvPr id="4" name="text-1"/>
          <p:cNvSpPr txBox="1"/>
          <p:nvPr/>
        </p:nvSpPr>
        <p:spPr>
          <a:xfrm>
            <a:off x="548640" y="4754880"/>
            <a:ext cx="7315200" cy="365760"/>
          </a:xfrm>
          <a:prstGeom prst="rect">
            <a:avLst/>
          </a:prstGeom>
          <a:noFill/>
          <a:ln/>
        </p:spPr>
        <p:txBody>
          <a:bodyPr wrap="square" lIns="0" tIns="0" rIns="0" bIns="0" rtlCol="0" anchor="t"/>
          <a:lstStyle/>
          <a:p>
            <a:pPr indent="0" marL="0">
              <a:buNone/>
            </a:pPr>
            <a:r>
              <a:rPr lang="en-US" sz="1600" dirty="0">
                <a:solidFill>
                  <a:schemeClr val="accent6"/>
                </a:solidFill>
              </a:rPr>
              <a:t>Solution brief  ·  Kuldeep Chouhan  ·  October 2026</a:t>
            </a:r>
            <a:endParaRPr lang="en-US" sz="1600" dirty="0"/>
          </a:p>
        </p:txBody>
      </p:sp>
      <p:sp>
        <p:nvSpPr>
          <p:cNvPr id="5" name="card-2"/>
          <p:cNvSpPr/>
          <p:nvPr/>
        </p:nvSpPr>
        <p:spPr>
          <a:xfrm>
            <a:off x="8549640" y="2148840"/>
            <a:ext cx="3108960" cy="685800"/>
          </a:xfrm>
          <a:prstGeom prst="roundRect">
            <a:avLst>
              <a:gd name="adj" fmla="val 10667"/>
            </a:avLst>
          </a:prstGeom>
          <a:solidFill>
            <a:srgbClr val="1A3A60"/>
          </a:solidFill>
          <a:ln w="12700">
            <a:solidFill>
              <a:srgbClr val="1A3A60"/>
            </a:solidFill>
            <a:prstDash val="solid"/>
          </a:ln>
        </p:spPr>
      </p:sp>
      <p:sp>
        <p:nvSpPr>
          <p:cNvPr id="6" name="badge-3"/>
          <p:cNvSpPr/>
          <p:nvPr/>
        </p:nvSpPr>
        <p:spPr>
          <a:xfrm>
            <a:off x="8686800" y="2299716"/>
            <a:ext cx="384048" cy="384048"/>
          </a:xfrm>
          <a:prstGeom prst="ellipse">
            <a:avLst/>
          </a:prstGeom>
          <a:solidFill>
            <a:schemeClr val="accent1"/>
          </a:solidFill>
          <a:ln w="12700">
            <a:solidFill>
              <a:schemeClr val="accent1"/>
            </a:solidFill>
            <a:prstDash val="solid"/>
          </a:ln>
        </p:spPr>
      </p:sp>
      <p:sp>
        <p:nvSpPr>
          <p:cNvPr id="7" name="badgetext-4"/>
          <p:cNvSpPr txBox="1"/>
          <p:nvPr/>
        </p:nvSpPr>
        <p:spPr>
          <a:xfrm>
            <a:off x="8686800" y="2299716"/>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8" name="text-5"/>
          <p:cNvSpPr txBox="1"/>
          <p:nvPr/>
        </p:nvSpPr>
        <p:spPr>
          <a:xfrm>
            <a:off x="9189720" y="2258568"/>
            <a:ext cx="2423160" cy="457200"/>
          </a:xfrm>
          <a:prstGeom prst="rect">
            <a:avLst/>
          </a:prstGeom>
          <a:noFill/>
          <a:ln/>
        </p:spPr>
        <p:txBody>
          <a:bodyPr wrap="square" lIns="0" tIns="0" rIns="0" bIns="0" rtlCol="0" anchor="ctr"/>
          <a:lstStyle/>
          <a:p>
            <a:pPr indent="0" marL="0">
              <a:buNone/>
            </a:pPr>
            <a:r>
              <a:rPr lang="en-US" sz="1400" b="1" dirty="0">
                <a:solidFill>
                  <a:schemeClr val="bg1"/>
                </a:solidFill>
              </a:rPr>
              <a:t>Model  </a:t>
            </a:r>
            <a:pPr indent="0" marL="0">
              <a:buNone/>
            </a:pPr>
            <a:r>
              <a:rPr lang="en-US" sz="1400" dirty="0">
                <a:solidFill>
                  <a:schemeClr val="accent6"/>
                </a:solidFill>
              </a:rPr>
              <a:t>ranks every account</a:t>
            </a:r>
            <a:endParaRPr lang="en-US" sz="1400" dirty="0"/>
          </a:p>
        </p:txBody>
      </p:sp>
      <p:sp>
        <p:nvSpPr>
          <p:cNvPr id="9" name="card-6"/>
          <p:cNvSpPr/>
          <p:nvPr/>
        </p:nvSpPr>
        <p:spPr>
          <a:xfrm>
            <a:off x="8549640" y="3017520"/>
            <a:ext cx="3108960" cy="685800"/>
          </a:xfrm>
          <a:prstGeom prst="roundRect">
            <a:avLst>
              <a:gd name="adj" fmla="val 10667"/>
            </a:avLst>
          </a:prstGeom>
          <a:solidFill>
            <a:srgbClr val="1A3A60"/>
          </a:solidFill>
          <a:ln w="12700">
            <a:solidFill>
              <a:srgbClr val="1A3A60"/>
            </a:solidFill>
            <a:prstDash val="solid"/>
          </a:ln>
        </p:spPr>
      </p:sp>
      <p:sp>
        <p:nvSpPr>
          <p:cNvPr id="10" name="badge-7"/>
          <p:cNvSpPr/>
          <p:nvPr/>
        </p:nvSpPr>
        <p:spPr>
          <a:xfrm>
            <a:off x="8686800" y="3168396"/>
            <a:ext cx="384048" cy="384048"/>
          </a:xfrm>
          <a:prstGeom prst="ellipse">
            <a:avLst/>
          </a:prstGeom>
          <a:solidFill>
            <a:schemeClr val="accent1"/>
          </a:solidFill>
          <a:ln w="12700">
            <a:solidFill>
              <a:schemeClr val="accent1"/>
            </a:solidFill>
            <a:prstDash val="solid"/>
          </a:ln>
        </p:spPr>
      </p:sp>
      <p:sp>
        <p:nvSpPr>
          <p:cNvPr id="11" name="badgetext-8"/>
          <p:cNvSpPr txBox="1"/>
          <p:nvPr/>
        </p:nvSpPr>
        <p:spPr>
          <a:xfrm>
            <a:off x="8686800" y="3168396"/>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2" name="text-9"/>
          <p:cNvSpPr txBox="1"/>
          <p:nvPr/>
        </p:nvSpPr>
        <p:spPr>
          <a:xfrm>
            <a:off x="9189720" y="3127248"/>
            <a:ext cx="2423160" cy="457200"/>
          </a:xfrm>
          <a:prstGeom prst="rect">
            <a:avLst/>
          </a:prstGeom>
          <a:noFill/>
          <a:ln/>
        </p:spPr>
        <p:txBody>
          <a:bodyPr wrap="square" lIns="0" tIns="0" rIns="0" bIns="0" rtlCol="0" anchor="ctr"/>
          <a:lstStyle/>
          <a:p>
            <a:pPr indent="0" marL="0">
              <a:buNone/>
            </a:pPr>
            <a:r>
              <a:rPr lang="en-US" sz="1400" b="1" dirty="0">
                <a:solidFill>
                  <a:schemeClr val="bg1"/>
                </a:solidFill>
              </a:rPr>
              <a:t>LLM  </a:t>
            </a:r>
            <a:pPr indent="0" marL="0">
              <a:buNone/>
            </a:pPr>
            <a:r>
              <a:rPr lang="en-US" sz="1400" dirty="0">
                <a:solidFill>
                  <a:schemeClr val="accent6"/>
                </a:solidFill>
              </a:rPr>
              <a:t>explains, from checked facts</a:t>
            </a:r>
            <a:endParaRPr lang="en-US" sz="1400" dirty="0"/>
          </a:p>
        </p:txBody>
      </p:sp>
      <p:sp>
        <p:nvSpPr>
          <p:cNvPr id="13" name="card-10"/>
          <p:cNvSpPr/>
          <p:nvPr/>
        </p:nvSpPr>
        <p:spPr>
          <a:xfrm>
            <a:off x="8549640" y="3886200"/>
            <a:ext cx="3108960" cy="685800"/>
          </a:xfrm>
          <a:prstGeom prst="roundRect">
            <a:avLst>
              <a:gd name="adj" fmla="val 10667"/>
            </a:avLst>
          </a:prstGeom>
          <a:solidFill>
            <a:srgbClr val="1A3A60"/>
          </a:solidFill>
          <a:ln w="12700">
            <a:solidFill>
              <a:srgbClr val="1A3A60"/>
            </a:solidFill>
            <a:prstDash val="solid"/>
          </a:ln>
        </p:spPr>
      </p:sp>
      <p:sp>
        <p:nvSpPr>
          <p:cNvPr id="14" name="badge-11"/>
          <p:cNvSpPr/>
          <p:nvPr/>
        </p:nvSpPr>
        <p:spPr>
          <a:xfrm>
            <a:off x="8686800" y="4037076"/>
            <a:ext cx="384048" cy="384048"/>
          </a:xfrm>
          <a:prstGeom prst="ellipse">
            <a:avLst/>
          </a:prstGeom>
          <a:solidFill>
            <a:schemeClr val="accent1"/>
          </a:solidFill>
          <a:ln w="12700">
            <a:solidFill>
              <a:schemeClr val="accent1"/>
            </a:solidFill>
            <a:prstDash val="solid"/>
          </a:ln>
        </p:spPr>
      </p:sp>
      <p:sp>
        <p:nvSpPr>
          <p:cNvPr id="15" name="badgetext-12"/>
          <p:cNvSpPr txBox="1"/>
          <p:nvPr/>
        </p:nvSpPr>
        <p:spPr>
          <a:xfrm>
            <a:off x="8686800" y="4037076"/>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6" name="text-13"/>
          <p:cNvSpPr txBox="1"/>
          <p:nvPr/>
        </p:nvSpPr>
        <p:spPr>
          <a:xfrm>
            <a:off x="9189720" y="3995928"/>
            <a:ext cx="2423160" cy="457200"/>
          </a:xfrm>
          <a:prstGeom prst="rect">
            <a:avLst/>
          </a:prstGeom>
          <a:noFill/>
          <a:ln/>
        </p:spPr>
        <p:txBody>
          <a:bodyPr wrap="square" lIns="0" tIns="0" rIns="0" bIns="0" rtlCol="0" anchor="ctr"/>
          <a:lstStyle/>
          <a:p>
            <a:pPr indent="0" marL="0">
              <a:buNone/>
            </a:pPr>
            <a:r>
              <a:rPr lang="en-US" sz="1400" b="1" dirty="0">
                <a:solidFill>
                  <a:schemeClr val="bg1"/>
                </a:solidFill>
              </a:rPr>
              <a:t>CSM  </a:t>
            </a:r>
            <a:pPr indent="0" marL="0">
              <a:buNone/>
            </a:pPr>
            <a:r>
              <a:rPr lang="en-US" sz="1400" dirty="0">
                <a:solidFill>
                  <a:schemeClr val="accent6"/>
                </a:solidFill>
              </a:rPr>
              <a:t>decides and sends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rPr>
              <a:t>The request, reframed</a:t>
            </a: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lIns="0" tIns="0" rIns="0" bIns="0" rtlCol="0" anchor="t"/>
          <a:lstStyle/>
          <a:p>
            <a:pPr algn="l" indent="0" marL="0">
              <a:buNone/>
            </a:pPr>
            <a:r>
              <a:rPr lang="en-US" sz="1600" dirty="0">
                <a:solidFill>
                  <a:schemeClr val="accent5"/>
                </a:solidFill>
              </a:rPr>
              <a:t>The VP asked for a red/yellow/green health score and an automatic email when an account goes red</a:t>
            </a:r>
            <a:endParaRPr lang="en-US" sz="1600" dirty="0"/>
          </a:p>
        </p:txBody>
      </p:sp>
      <p:sp>
        <p:nvSpPr>
          <p:cNvPr id="4" name="card-14"/>
          <p:cNvSpPr/>
          <p:nvPr/>
        </p:nvSpPr>
        <p:spPr>
          <a:xfrm>
            <a:off x="548640" y="1600200"/>
            <a:ext cx="3291840" cy="4480560"/>
          </a:xfrm>
          <a:prstGeom prst="roundRect">
            <a:avLst>
              <a:gd name="adj" fmla="val 2222"/>
            </a:avLst>
          </a:prstGeom>
          <a:solidFill>
            <a:schemeClr val="tx2"/>
          </a:solidFill>
          <a:ln w="12700">
            <a:solidFill>
              <a:schemeClr val="tx2"/>
            </a:solidFill>
            <a:prstDash val="solid"/>
          </a:ln>
        </p:spPr>
      </p:sp>
      <p:sp>
        <p:nvSpPr>
          <p:cNvPr id="5" name="text-15"/>
          <p:cNvSpPr txBox="1"/>
          <p:nvPr/>
        </p:nvSpPr>
        <p:spPr>
          <a:xfrm>
            <a:off x="822960" y="1645920"/>
            <a:ext cx="914400" cy="822960"/>
          </a:xfrm>
          <a:prstGeom prst="rect">
            <a:avLst/>
          </a:prstGeom>
          <a:noFill/>
          <a:ln/>
        </p:spPr>
        <p:txBody>
          <a:bodyPr wrap="square" lIns="0" tIns="0" rIns="0" bIns="0" rtlCol="0" anchor="t"/>
          <a:lstStyle/>
          <a:p>
            <a:pPr indent="0" marL="0">
              <a:buNone/>
            </a:pPr>
            <a:r>
              <a:rPr lang="en-US" sz="7200" b="1" dirty="0">
                <a:solidFill>
                  <a:schemeClr val="accent1"/>
                </a:solidFill>
              </a:rPr>
              <a:t>“</a:t>
            </a:r>
            <a:endParaRPr lang="en-US" sz="7200" dirty="0"/>
          </a:p>
        </p:txBody>
      </p:sp>
      <p:sp>
        <p:nvSpPr>
          <p:cNvPr id="6" name="text-16"/>
          <p:cNvSpPr txBox="1"/>
          <p:nvPr/>
        </p:nvSpPr>
        <p:spPr>
          <a:xfrm>
            <a:off x="822960" y="2423160"/>
            <a:ext cx="2743200" cy="2194560"/>
          </a:xfrm>
          <a:prstGeom prst="rect">
            <a:avLst/>
          </a:prstGeom>
          <a:noFill/>
          <a:ln/>
        </p:spPr>
        <p:txBody>
          <a:bodyPr wrap="square" lIns="0" tIns="0" rIns="0" bIns="0" rtlCol="0" anchor="t"/>
          <a:lstStyle/>
          <a:p>
            <a:pPr indent="0" marL="0">
              <a:buNone/>
            </a:pPr>
            <a:r>
              <a:rPr lang="en-US" sz="1800" i="1" dirty="0">
                <a:solidFill>
                  <a:schemeClr val="bg1"/>
                </a:solidFill>
              </a:rPr>
              <a:t>A health score per account, red / yellow / green. If an account goes red, the system should email them. That way nothing slips.</a:t>
            </a:r>
            <a:endParaRPr lang="en-US" sz="1800" dirty="0"/>
          </a:p>
        </p:txBody>
      </p:sp>
      <p:sp>
        <p:nvSpPr>
          <p:cNvPr id="7" name="text-17"/>
          <p:cNvSpPr txBox="1"/>
          <p:nvPr/>
        </p:nvSpPr>
        <p:spPr>
          <a:xfrm>
            <a:off x="822960" y="4800600"/>
            <a:ext cx="2743200" cy="1097280"/>
          </a:xfrm>
          <a:prstGeom prst="rect">
            <a:avLst/>
          </a:prstGeom>
          <a:noFill/>
          <a:ln/>
        </p:spPr>
        <p:txBody>
          <a:bodyPr wrap="square" lIns="0" tIns="0" rIns="0" bIns="0" rtlCol="0" anchor="t"/>
          <a:lstStyle/>
          <a:p>
            <a:pPr indent="0" marL="0">
              <a:buNone/>
            </a:pPr>
            <a:r>
              <a:rPr lang="en-US" sz="1300" dirty="0">
                <a:solidFill>
                  <a:schemeClr val="accent6"/>
                </a:solidFill>
              </a:rPr>
              <a:t>The failure behind it: two renewals lost while the warning signs sat in Zendesk and product data</a:t>
            </a:r>
            <a:endParaRPr lang="en-US" sz="1300" dirty="0"/>
          </a:p>
        </p:txBody>
      </p:sp>
      <p:graphicFrame>
        <p:nvGraphicFramePr>
          <p:cNvPr id="3" name="table-18"/>
          <p:cNvGraphicFramePr>
            <a:graphicFrameLocks noGrp="1"/>
          </p:cNvGraphicFramePr>
          <p:nvPr>
            <p:extLst>
              <p:ext uri="{D42A27DB-BD31-4B8C-83A1-F6EECF244321}">
                <p14:modId xmlns:p14="http://schemas.microsoft.com/office/powerpoint/2010/main" val="1579011935"/>
              </p:ext>
            </p:extLst>
          </p:nvPr>
        </p:nvGraphicFramePr>
        <p:xfrm>
          <a:off x="4160520" y="1600200"/>
          <a:ext cx="7479792" cy="914400"/>
        </p:xfrm>
        <a:graphic>
          <a:graphicData uri="http://schemas.openxmlformats.org/drawingml/2006/table">
            <a:tbl>
              <a:tblPr/>
              <a:tblGrid>
                <a:gridCol w="1691640"/>
                <a:gridCol w="3044952"/>
                <a:gridCol w="2743200"/>
              </a:tblGrid>
              <a:tr h="457200">
                <a:tc>
                  <a:txBody>
                    <a:bodyPr/>
                    <a:lstStyle/>
                    <a:p>
                      <a:pPr indent="0" marL="0">
                        <a:buNone/>
                      </a:pPr>
                      <a:r>
                        <a:rPr lang="en-US" sz="1400" b="1" dirty="0">
                          <a:solidFill>
                            <a:schemeClr val="tx2"/>
                          </a:solidFill>
                        </a:rPr>
                        <a:t>Asked for</a:t>
                      </a:r>
                      <a:endParaRPr lang="en-US" sz="1400" dirty="0"/>
                    </a:p>
                  </a:txBody>
                  <a:tcPr marL="101600" marR="101600" marT="50800" marB="508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tx2"/>
                          </a:solidFill>
                        </a:rPr>
                        <a:t>What Triage does</a:t>
                      </a:r>
                      <a:endParaRPr lang="en-US" sz="1400" dirty="0"/>
                    </a:p>
                  </a:txBody>
                  <a:tcPr marL="101600" marR="101600" marT="50800" marB="508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tx2"/>
                          </a:solidFill>
                        </a:rPr>
                        <a:t>Why</a:t>
                      </a:r>
                      <a:endParaRPr lang="en-US" sz="1400" dirty="0"/>
                    </a:p>
                  </a:txBody>
                  <a:tcPr marL="101600" marR="101600" marT="50800" marB="508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solidFill>
                      <a:schemeClr val="accent6"/>
                    </a:solidFill>
                  </a:tcPr>
                </a:tc>
              </a:tr>
              <a:tr h="960120">
                <a:tc>
                  <a:txBody>
                    <a:bodyPr/>
                    <a:lstStyle/>
                    <a:p>
                      <a:pPr indent="0" marL="0">
                        <a:buNone/>
                      </a:pPr>
                      <a:r>
                        <a:rPr lang="en-US" sz="1400" b="1" dirty="0">
                          <a:solidFill>
                            <a:schemeClr val="tx1"/>
                          </a:solidFill>
                        </a:rPr>
                        <a:t>Health score</a:t>
                      </a:r>
                      <a:endParaRPr lang="en-US" sz="1400" dirty="0"/>
                    </a:p>
                  </a:txBody>
                  <a:tcPr marL="101600" marR="101600" marT="50800" marB="508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Chance of not renewing, with the reasons</a:t>
                      </a:r>
                      <a:endParaRPr lang="en-US" sz="1400" dirty="0"/>
                    </a:p>
                  </a:txBody>
                  <a:tcPr marL="101600" marR="101600" marT="50800" marB="508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accent5"/>
                          </a:solidFill>
                        </a:rPr>
                        <a:t>A colour alone doesn't say what to do</a:t>
                      </a:r>
                      <a:endParaRPr lang="en-US" sz="1400" dirty="0"/>
                    </a:p>
                  </a:txBody>
                  <a:tcPr marL="101600" marR="101600" marT="50800" marB="508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960120">
                <a:tc>
                  <a:txBody>
                    <a:bodyPr/>
                    <a:lstStyle/>
                    <a:p>
                      <a:pPr indent="0" marL="0">
                        <a:buNone/>
                      </a:pPr>
                      <a:r>
                        <a:rPr lang="en-US" sz="1400" b="1" dirty="0">
                          <a:solidFill>
                            <a:schemeClr val="tx1"/>
                          </a:solidFill>
                        </a:rPr>
                        <a:t>Red / yellow / green</a:t>
                      </a:r>
                      <a:endParaRPr lang="en-US" sz="1400" dirty="0"/>
                    </a:p>
                  </a:txBody>
                  <a:tcPr marL="101600" marR="101600" marT="50800" marB="508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Red call · Amber watch · Green healthy · Grey can't see</a:t>
                      </a:r>
                      <a:endParaRPr lang="en-US" sz="1400" dirty="0"/>
                    </a:p>
                  </a:txBody>
                  <a:tcPr marL="101600" marR="101600" marT="50800" marB="508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accent5"/>
                          </a:solidFill>
                        </a:rPr>
                        <a:t>Red is set by CSM capacity, and missing data is never green</a:t>
                      </a:r>
                      <a:endParaRPr lang="en-US" sz="1400" dirty="0"/>
                    </a:p>
                  </a:txBody>
                  <a:tcPr marL="101600" marR="101600" marT="50800" marB="508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960120">
                <a:tc>
                  <a:txBody>
                    <a:bodyPr/>
                    <a:lstStyle/>
                    <a:p>
                      <a:pPr indent="0" marL="0">
                        <a:buNone/>
                      </a:pPr>
                      <a:r>
                        <a:rPr lang="en-US" sz="1400" b="1" dirty="0">
                          <a:solidFill>
                            <a:schemeClr val="tx1"/>
                          </a:solidFill>
                        </a:rPr>
                        <a:t>Auto-email on red</a:t>
                      </a:r>
                      <a:endParaRPr lang="en-US" sz="1400" dirty="0"/>
                    </a:p>
                  </a:txBody>
                  <a:tcPr marL="101600" marR="101600" marT="50800" marB="508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Email drafted from facts; CSM edits, approves and sends</a:t>
                      </a:r>
                      <a:endParaRPr lang="en-US" sz="1400" dirty="0"/>
                    </a:p>
                  </a:txBody>
                  <a:tcPr marL="101600" marR="101600" marT="50800" marB="508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accent5"/>
                          </a:solidFill>
                        </a:rPr>
                        <a:t>At a ~10% hit rate, an automatic email mostly reaches healthy customers</a:t>
                      </a:r>
                      <a:endParaRPr lang="en-US" sz="1400" dirty="0"/>
                    </a:p>
                  </a:txBody>
                  <a:tcPr marL="101600" marR="101600" marT="50800" marB="508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868680">
                <a:tc>
                  <a:txBody>
                    <a:bodyPr/>
                    <a:lstStyle/>
                    <a:p>
                      <a:pPr indent="0" marL="0">
                        <a:buNone/>
                      </a:pPr>
                      <a:r>
                        <a:rPr lang="en-US" sz="1400" b="1" dirty="0">
                          <a:solidFill>
                            <a:schemeClr val="tx1"/>
                          </a:solidFill>
                        </a:rPr>
                        <a:t>Nothing slips</a:t>
                      </a:r>
                      <a:endParaRPr lang="en-US" sz="1400" dirty="0"/>
                    </a:p>
                  </a:txBody>
                  <a:tcPr marL="101600" marR="101600" marT="50800" marB="508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Weekly ranked list per CSM, a can't-see section, team view</a:t>
                      </a:r>
                      <a:endParaRPr lang="en-US" sz="1400" dirty="0"/>
                    </a:p>
                  </a:txBody>
                  <a:tcPr marL="101600" marR="101600" marT="50800" marB="508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accent5"/>
                          </a:solidFill>
                        </a:rPr>
                        <a:t>Coverage without noise</a:t>
                      </a:r>
                      <a:endParaRPr lang="en-US" sz="1400" dirty="0"/>
                    </a:p>
                  </a:txBody>
                  <a:tcPr marL="101600" marR="101600" marT="50800" marB="508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rPr>
              <a:t>Results on six months the model never saw</a:t>
            </a: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lIns="0" tIns="0" rIns="0" bIns="0" rtlCol="0" anchor="t"/>
          <a:lstStyle/>
          <a:p>
            <a:pPr algn="l" indent="0" marL="0">
              <a:buNone/>
            </a:pPr>
            <a:r>
              <a:rPr lang="en-US" sz="1600" dirty="0">
                <a:solidFill>
                  <a:schemeClr val="accent5"/>
                </a:solidFill>
              </a:rPr>
              <a:t>Weekly replay of the call list: 3 companies, 38 weeks, 167 lost renewals, 15 calls per CSM per week</a:t>
            </a:r>
            <a:endParaRPr lang="en-US" sz="1600" dirty="0"/>
          </a:p>
        </p:txBody>
      </p:sp>
      <p:sp>
        <p:nvSpPr>
          <p:cNvPr id="4" name="card-19"/>
          <p:cNvSpPr/>
          <p:nvPr/>
        </p:nvSpPr>
        <p:spPr>
          <a:xfrm>
            <a:off x="548640" y="1691640"/>
            <a:ext cx="2606040" cy="2880360"/>
          </a:xfrm>
          <a:prstGeom prst="roundRect">
            <a:avLst>
              <a:gd name="adj" fmla="val 2807"/>
            </a:avLst>
          </a:prstGeom>
          <a:solidFill>
            <a:schemeClr val="bg2"/>
          </a:solidFill>
          <a:ln w="12700">
            <a:solidFill>
              <a:schemeClr val="bg2"/>
            </a:solidFill>
            <a:prstDash val="solid"/>
          </a:ln>
        </p:spPr>
      </p:sp>
      <p:sp>
        <p:nvSpPr>
          <p:cNvPr id="5" name="text-20"/>
          <p:cNvSpPr txBox="1"/>
          <p:nvPr/>
        </p:nvSpPr>
        <p:spPr>
          <a:xfrm>
            <a:off x="777240" y="1874520"/>
            <a:ext cx="2148840" cy="914400"/>
          </a:xfrm>
          <a:prstGeom prst="rect">
            <a:avLst/>
          </a:prstGeom>
          <a:noFill/>
          <a:ln/>
        </p:spPr>
        <p:txBody>
          <a:bodyPr wrap="square" lIns="0" tIns="0" rIns="0" bIns="0" rtlCol="0" anchor="t"/>
          <a:lstStyle/>
          <a:p>
            <a:pPr indent="0" marL="0">
              <a:buNone/>
            </a:pPr>
            <a:r>
              <a:rPr lang="en-US" sz="4800" b="1" dirty="0">
                <a:solidFill>
                  <a:schemeClr val="tx2"/>
                </a:solidFill>
              </a:rPr>
              <a:t>75%</a:t>
            </a:r>
            <a:endParaRPr lang="en-US" sz="4800" dirty="0"/>
          </a:p>
        </p:txBody>
      </p:sp>
      <p:sp>
        <p:nvSpPr>
          <p:cNvPr id="6" name="text-21"/>
          <p:cNvSpPr txBox="1"/>
          <p:nvPr/>
        </p:nvSpPr>
        <p:spPr>
          <a:xfrm>
            <a:off x="777240" y="2834640"/>
            <a:ext cx="2148840" cy="914400"/>
          </a:xfrm>
          <a:prstGeom prst="rect">
            <a:avLst/>
          </a:prstGeom>
          <a:noFill/>
          <a:ln/>
        </p:spPr>
        <p:txBody>
          <a:bodyPr wrap="square" lIns="0" tIns="0" rIns="0" bIns="0" rtlCol="0" anchor="t"/>
          <a:lstStyle/>
          <a:p>
            <a:pPr indent="0" marL="0">
              <a:buNone/>
            </a:pPr>
            <a:r>
              <a:rPr lang="en-US" sz="1500" dirty="0">
                <a:solidFill>
                  <a:schemeClr val="tx1"/>
                </a:solidFill>
              </a:rPr>
              <a:t>of churners listed 14–90 days before renewal</a:t>
            </a:r>
            <a:endParaRPr lang="en-US" sz="1500" dirty="0"/>
          </a:p>
        </p:txBody>
      </p:sp>
      <p:sp>
        <p:nvSpPr>
          <p:cNvPr id="7" name="text-22"/>
          <p:cNvSpPr txBox="1"/>
          <p:nvPr/>
        </p:nvSpPr>
        <p:spPr>
          <a:xfrm>
            <a:off x="777240" y="3931920"/>
            <a:ext cx="2148840" cy="457200"/>
          </a:xfrm>
          <a:prstGeom prst="rect">
            <a:avLst/>
          </a:prstGeom>
          <a:noFill/>
          <a:ln/>
        </p:spPr>
        <p:txBody>
          <a:bodyPr wrap="square" lIns="0" tIns="0" rIns="0" bIns="0" rtlCol="0" anchor="t"/>
          <a:lstStyle/>
          <a:p>
            <a:pPr indent="0" marL="0">
              <a:buNone/>
            </a:pPr>
            <a:r>
              <a:rPr lang="en-US" sz="1300" dirty="0">
                <a:solidFill>
                  <a:schemeClr val="accent5"/>
                </a:solidFill>
              </a:rPr>
              <a:t>Red/yellow/green rules: 55%</a:t>
            </a:r>
            <a:endParaRPr lang="en-US" sz="1300" dirty="0"/>
          </a:p>
        </p:txBody>
      </p:sp>
      <p:sp>
        <p:nvSpPr>
          <p:cNvPr id="8" name="card-23"/>
          <p:cNvSpPr/>
          <p:nvPr/>
        </p:nvSpPr>
        <p:spPr>
          <a:xfrm>
            <a:off x="3401568" y="1691640"/>
            <a:ext cx="2606040" cy="2880360"/>
          </a:xfrm>
          <a:prstGeom prst="roundRect">
            <a:avLst>
              <a:gd name="adj" fmla="val 2807"/>
            </a:avLst>
          </a:prstGeom>
          <a:solidFill>
            <a:schemeClr val="bg2"/>
          </a:solidFill>
          <a:ln w="12700">
            <a:solidFill>
              <a:schemeClr val="bg2"/>
            </a:solidFill>
            <a:prstDash val="solid"/>
          </a:ln>
        </p:spPr>
      </p:sp>
      <p:sp>
        <p:nvSpPr>
          <p:cNvPr id="9" name="text-24"/>
          <p:cNvSpPr txBox="1"/>
          <p:nvPr/>
        </p:nvSpPr>
        <p:spPr>
          <a:xfrm>
            <a:off x="3630168" y="1874520"/>
            <a:ext cx="2148840" cy="914400"/>
          </a:xfrm>
          <a:prstGeom prst="rect">
            <a:avLst/>
          </a:prstGeom>
          <a:noFill/>
          <a:ln/>
        </p:spPr>
        <p:txBody>
          <a:bodyPr wrap="square" lIns="0" tIns="0" rIns="0" bIns="0" rtlCol="0" anchor="t"/>
          <a:lstStyle/>
          <a:p>
            <a:pPr indent="0" marL="0">
              <a:buNone/>
            </a:pPr>
            <a:r>
              <a:rPr lang="en-US" sz="4800" b="1" dirty="0">
                <a:solidFill>
                  <a:schemeClr val="tx2"/>
                </a:solidFill>
              </a:rPr>
              <a:t>95%</a:t>
            </a:r>
            <a:endParaRPr lang="en-US" sz="4800" dirty="0"/>
          </a:p>
        </p:txBody>
      </p:sp>
      <p:sp>
        <p:nvSpPr>
          <p:cNvPr id="10" name="text-25"/>
          <p:cNvSpPr txBox="1"/>
          <p:nvPr/>
        </p:nvSpPr>
        <p:spPr>
          <a:xfrm>
            <a:off x="3630168" y="2834640"/>
            <a:ext cx="2148840" cy="914400"/>
          </a:xfrm>
          <a:prstGeom prst="rect">
            <a:avLst/>
          </a:prstGeom>
          <a:noFill/>
          <a:ln/>
        </p:spPr>
        <p:txBody>
          <a:bodyPr wrap="square" lIns="0" tIns="0" rIns="0" bIns="0" rtlCol="0" anchor="t"/>
          <a:lstStyle/>
          <a:p>
            <a:pPr indent="0" marL="0">
              <a:buNone/>
            </a:pPr>
            <a:r>
              <a:rPr lang="en-US" sz="1500" dirty="0">
                <a:solidFill>
                  <a:schemeClr val="tx1"/>
                </a:solidFill>
              </a:rPr>
              <a:t>of churned revenue listed early</a:t>
            </a:r>
            <a:endParaRPr lang="en-US" sz="1500" dirty="0"/>
          </a:p>
        </p:txBody>
      </p:sp>
      <p:sp>
        <p:nvSpPr>
          <p:cNvPr id="11" name="text-26"/>
          <p:cNvSpPr txBox="1"/>
          <p:nvPr/>
        </p:nvSpPr>
        <p:spPr>
          <a:xfrm>
            <a:off x="3630168" y="3931920"/>
            <a:ext cx="2148840" cy="457200"/>
          </a:xfrm>
          <a:prstGeom prst="rect">
            <a:avLst/>
          </a:prstGeom>
          <a:noFill/>
          <a:ln/>
        </p:spPr>
        <p:txBody>
          <a:bodyPr wrap="square" lIns="0" tIns="0" rIns="0" bIns="0" rtlCol="0" anchor="t"/>
          <a:lstStyle/>
          <a:p>
            <a:pPr indent="0" marL="0">
              <a:buNone/>
            </a:pPr>
            <a:r>
              <a:rPr lang="en-US" sz="1300" dirty="0">
                <a:solidFill>
                  <a:schemeClr val="accent5"/>
                </a:solidFill>
              </a:rPr>
              <a:t>Rules: 81%</a:t>
            </a:r>
            <a:endParaRPr lang="en-US" sz="1300" dirty="0"/>
          </a:p>
        </p:txBody>
      </p:sp>
      <p:sp>
        <p:nvSpPr>
          <p:cNvPr id="12" name="card-27"/>
          <p:cNvSpPr/>
          <p:nvPr/>
        </p:nvSpPr>
        <p:spPr>
          <a:xfrm>
            <a:off x="6254496" y="1691640"/>
            <a:ext cx="2606040" cy="2880360"/>
          </a:xfrm>
          <a:prstGeom prst="roundRect">
            <a:avLst>
              <a:gd name="adj" fmla="val 2807"/>
            </a:avLst>
          </a:prstGeom>
          <a:solidFill>
            <a:schemeClr val="bg2"/>
          </a:solidFill>
          <a:ln w="12700">
            <a:solidFill>
              <a:schemeClr val="bg2"/>
            </a:solidFill>
            <a:prstDash val="solid"/>
          </a:ln>
        </p:spPr>
      </p:sp>
      <p:sp>
        <p:nvSpPr>
          <p:cNvPr id="13" name="text-28"/>
          <p:cNvSpPr txBox="1"/>
          <p:nvPr/>
        </p:nvSpPr>
        <p:spPr>
          <a:xfrm>
            <a:off x="6483096" y="1874520"/>
            <a:ext cx="2148840" cy="914400"/>
          </a:xfrm>
          <a:prstGeom prst="rect">
            <a:avLst/>
          </a:prstGeom>
          <a:noFill/>
          <a:ln/>
        </p:spPr>
        <p:txBody>
          <a:bodyPr wrap="square" lIns="0" tIns="0" rIns="0" bIns="0" rtlCol="0" anchor="t"/>
          <a:lstStyle/>
          <a:p>
            <a:pPr indent="0" marL="0">
              <a:buNone/>
            </a:pPr>
            <a:r>
              <a:rPr lang="en-US" sz="4800" b="1" dirty="0">
                <a:solidFill>
                  <a:schemeClr val="tx2"/>
                </a:solidFill>
              </a:rPr>
              <a:t>0.75</a:t>
            </a:r>
            <a:endParaRPr lang="en-US" sz="4800" dirty="0"/>
          </a:p>
        </p:txBody>
      </p:sp>
      <p:sp>
        <p:nvSpPr>
          <p:cNvPr id="14" name="text-29"/>
          <p:cNvSpPr txBox="1"/>
          <p:nvPr/>
        </p:nvSpPr>
        <p:spPr>
          <a:xfrm>
            <a:off x="6483096" y="2834640"/>
            <a:ext cx="2148840" cy="914400"/>
          </a:xfrm>
          <a:prstGeom prst="rect">
            <a:avLst/>
          </a:prstGeom>
          <a:noFill/>
          <a:ln/>
        </p:spPr>
        <p:txBody>
          <a:bodyPr wrap="square" lIns="0" tIns="0" rIns="0" bIns="0" rtlCol="0" anchor="t"/>
          <a:lstStyle/>
          <a:p>
            <a:pPr indent="0" marL="0">
              <a:buNone/>
            </a:pPr>
            <a:r>
              <a:rPr lang="en-US" sz="1500" dirty="0">
                <a:solidFill>
                  <a:schemeClr val="tx1"/>
                </a:solidFill>
              </a:rPr>
              <a:t>ranking accuracy: how often a churner is ranked above a renewer (0.5 = coin flip)</a:t>
            </a:r>
            <a:endParaRPr lang="en-US" sz="1500" dirty="0"/>
          </a:p>
        </p:txBody>
      </p:sp>
      <p:sp>
        <p:nvSpPr>
          <p:cNvPr id="15" name="text-30"/>
          <p:cNvSpPr txBox="1"/>
          <p:nvPr/>
        </p:nvSpPr>
        <p:spPr>
          <a:xfrm>
            <a:off x="6483096" y="3931920"/>
            <a:ext cx="2148840" cy="457200"/>
          </a:xfrm>
          <a:prstGeom prst="rect">
            <a:avLst/>
          </a:prstGeom>
          <a:noFill/>
          <a:ln/>
        </p:spPr>
        <p:txBody>
          <a:bodyPr wrap="square" lIns="0" tIns="0" rIns="0" bIns="0" rtlCol="0" anchor="t"/>
          <a:lstStyle/>
          <a:p>
            <a:pPr indent="0" marL="0">
              <a:buNone/>
            </a:pPr>
            <a:r>
              <a:rPr lang="en-US" sz="1300" dirty="0">
                <a:solidFill>
                  <a:schemeClr val="accent5"/>
                </a:solidFill>
              </a:rPr>
              <a:t>Rules 0.59</a:t>
            </a:r>
            <a:endParaRPr lang="en-US" sz="1300" dirty="0"/>
          </a:p>
        </p:txBody>
      </p:sp>
      <p:sp>
        <p:nvSpPr>
          <p:cNvPr id="16" name="card-31"/>
          <p:cNvSpPr/>
          <p:nvPr/>
        </p:nvSpPr>
        <p:spPr>
          <a:xfrm>
            <a:off x="9107424" y="1691640"/>
            <a:ext cx="2606040" cy="2880360"/>
          </a:xfrm>
          <a:prstGeom prst="roundRect">
            <a:avLst>
              <a:gd name="adj" fmla="val 2807"/>
            </a:avLst>
          </a:prstGeom>
          <a:solidFill>
            <a:schemeClr val="bg2"/>
          </a:solidFill>
          <a:ln w="12700">
            <a:solidFill>
              <a:schemeClr val="bg2"/>
            </a:solidFill>
            <a:prstDash val="solid"/>
          </a:ln>
        </p:spPr>
      </p:sp>
      <p:sp>
        <p:nvSpPr>
          <p:cNvPr id="17" name="text-32"/>
          <p:cNvSpPr txBox="1"/>
          <p:nvPr/>
        </p:nvSpPr>
        <p:spPr>
          <a:xfrm>
            <a:off x="9336024" y="1874520"/>
            <a:ext cx="2148840" cy="914400"/>
          </a:xfrm>
          <a:prstGeom prst="rect">
            <a:avLst/>
          </a:prstGeom>
          <a:noFill/>
          <a:ln/>
        </p:spPr>
        <p:txBody>
          <a:bodyPr wrap="square" lIns="0" tIns="0" rIns="0" bIns="0" rtlCol="0" anchor="t"/>
          <a:lstStyle/>
          <a:p>
            <a:pPr indent="0" marL="0">
              <a:buNone/>
            </a:pPr>
            <a:r>
              <a:rPr lang="en-US" sz="4800" b="1" dirty="0">
                <a:solidFill>
                  <a:schemeClr val="tx2"/>
                </a:solidFill>
              </a:rPr>
              <a:t>105</a:t>
            </a:r>
            <a:endParaRPr lang="en-US" sz="4800" dirty="0"/>
          </a:p>
        </p:txBody>
      </p:sp>
      <p:sp>
        <p:nvSpPr>
          <p:cNvPr id="18" name="text-33"/>
          <p:cNvSpPr txBox="1"/>
          <p:nvPr/>
        </p:nvSpPr>
        <p:spPr>
          <a:xfrm>
            <a:off x="9336024" y="2834640"/>
            <a:ext cx="2148840" cy="914400"/>
          </a:xfrm>
          <a:prstGeom prst="rect">
            <a:avLst/>
          </a:prstGeom>
          <a:noFill/>
          <a:ln/>
        </p:spPr>
        <p:txBody>
          <a:bodyPr wrap="square" lIns="0" tIns="0" rIns="0" bIns="0" rtlCol="0" anchor="t"/>
          <a:lstStyle/>
          <a:p>
            <a:pPr indent="0" marL="0">
              <a:buNone/>
            </a:pPr>
            <a:r>
              <a:rPr lang="en-US" sz="1500" dirty="0">
                <a:solidFill>
                  <a:schemeClr val="tx1"/>
                </a:solidFill>
              </a:rPr>
              <a:t>days of warning on Kestrel Health, one of the two lost renewals</a:t>
            </a:r>
            <a:endParaRPr lang="en-US" sz="1500" dirty="0"/>
          </a:p>
        </p:txBody>
      </p:sp>
      <p:sp>
        <p:nvSpPr>
          <p:cNvPr id="19" name="text-34"/>
          <p:cNvSpPr txBox="1"/>
          <p:nvPr/>
        </p:nvSpPr>
        <p:spPr>
          <a:xfrm>
            <a:off x="9336024" y="3931920"/>
            <a:ext cx="2148840" cy="457200"/>
          </a:xfrm>
          <a:prstGeom prst="rect">
            <a:avLst/>
          </a:prstGeom>
          <a:noFill/>
          <a:ln/>
        </p:spPr>
        <p:txBody>
          <a:bodyPr wrap="square" lIns="0" tIns="0" rIns="0" bIns="0" rtlCol="0" anchor="t"/>
          <a:lstStyle/>
          <a:p>
            <a:pPr indent="0" marL="0">
              <a:buNone/>
            </a:pPr>
            <a:r>
              <a:rPr lang="en-US" sz="1300" dirty="0">
                <a:solidFill>
                  <a:schemeClr val="accent5"/>
                </a:solidFill>
              </a:rPr>
              <a:t>Rules never listed it</a:t>
            </a:r>
            <a:endParaRPr lang="en-US" sz="1300" dirty="0"/>
          </a:p>
        </p:txBody>
      </p:sp>
      <p:sp>
        <p:nvSpPr>
          <p:cNvPr id="20" name="card-35"/>
          <p:cNvSpPr/>
          <p:nvPr/>
        </p:nvSpPr>
        <p:spPr>
          <a:xfrm>
            <a:off x="548640" y="4892040"/>
            <a:ext cx="11094415" cy="1143000"/>
          </a:xfrm>
          <a:prstGeom prst="roundRect">
            <a:avLst>
              <a:gd name="adj" fmla="val 6400"/>
            </a:avLst>
          </a:prstGeom>
          <a:solidFill>
            <a:schemeClr val="accent6"/>
          </a:solidFill>
          <a:ln w="12700">
            <a:solidFill>
              <a:schemeClr val="accent6"/>
            </a:solidFill>
            <a:prstDash val="solid"/>
          </a:ln>
        </p:spPr>
      </p:sp>
      <p:sp>
        <p:nvSpPr>
          <p:cNvPr id="21" name="text-36"/>
          <p:cNvSpPr txBox="1"/>
          <p:nvPr/>
        </p:nvSpPr>
        <p:spPr>
          <a:xfrm>
            <a:off x="822960" y="5029200"/>
            <a:ext cx="10545775" cy="914400"/>
          </a:xfrm>
          <a:prstGeom prst="rect">
            <a:avLst/>
          </a:prstGeom>
          <a:noFill/>
          <a:ln/>
        </p:spPr>
        <p:txBody>
          <a:bodyPr wrap="square" lIns="0" tIns="0" rIns="0" bIns="0" rtlCol="0" anchor="ctr"/>
          <a:lstStyle/>
          <a:p>
            <a:pPr indent="0" marL="0">
              <a:buNone/>
            </a:pPr>
            <a:r>
              <a:rPr lang="en-US" sz="1500" b="1" dirty="0">
                <a:solidFill>
                  <a:schemeClr val="tx1"/>
                </a:solidFill>
              </a:rPr>
              <a:t>Brightline Logistics</a:t>
            </a:r>
            <a:pPr indent="0" marL="0">
              <a:buNone/>
            </a:pPr>
            <a:r>
              <a:rPr lang="en-US" sz="1500" dirty="0">
                <a:solidFill>
                  <a:schemeClr val="tx1"/>
                </a:solidFill>
              </a:rPr>
              <a:t> (no product data, support storm) was listed from February; the rules waited until May.  </a:t>
            </a:r>
            <a:pPr indent="0" marL="0">
              <a:buNone/>
            </a:pPr>
            <a:r>
              <a:rPr lang="en-US" sz="1500" b="1" dirty="0">
                <a:solidFill>
                  <a:schemeClr val="tx1"/>
                </a:solidFill>
              </a:rPr>
              <a:t>Hit rate is 9.4%</a:t>
            </a:r>
            <a:pPr indent="0" marL="0">
              <a:buNone/>
            </a:pPr>
            <a:r>
              <a:rPr lang="en-US" sz="1500" dirty="0">
                <a:solidFill>
                  <a:schemeClr val="tx1"/>
                </a:solidFill>
              </a:rPr>
              <a:t> of call slots, against 16% with perfect foresight: few accounts in any 15-call list actually churn.</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rPr>
              <a:t>What a CSM sees</a:t>
            </a: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lIns="0" tIns="0" rIns="0" bIns="0" rtlCol="0" anchor="t"/>
          <a:lstStyle/>
          <a:p>
            <a:pPr algn="l" indent="0" marL="0">
              <a:buNone/>
            </a:pPr>
            <a:r>
              <a:rPr lang="en-US" sz="1600" dirty="0">
                <a:solidFill>
                  <a:schemeClr val="accent5"/>
                </a:solidFill>
              </a:rPr>
              <a:t>Every number on screen traces back to the run, the model version and the source rows behind it</a:t>
            </a:r>
            <a:endParaRPr lang="en-US" sz="1600" dirty="0"/>
          </a:p>
        </p:txBody>
      </p:sp>
      <p:pic>
        <p:nvPicPr>
          <p:cNvPr id="4" name="shot-37" descr="Call list: ranked accounts with risk, reasons and draft status">    </p:cNvPr>
          <p:cNvPicPr>
            <a:picLocks noChangeAspect="1"/>
          </p:cNvPicPr>
          <p:nvPr/>
        </p:nvPicPr>
        <p:blipFill>
          <a:blip r:embed="rId1"/>
          <a:stretch>
            <a:fillRect/>
          </a:stretch>
        </p:blipFill>
        <p:spPr>
          <a:xfrm>
            <a:off x="548640" y="1600200"/>
            <a:ext cx="6126480" cy="3813162"/>
          </a:xfrm>
          <a:prstGeom prst="rect">
            <a:avLst/>
          </a:prstGeom>
        </p:spPr>
      </p:pic>
      <p:pic>
        <p:nvPicPr>
          <p:cNvPr id="5" name="shot-38" descr="Evidence drawer: weekly usage rows behind one signal, with arrival dates">    </p:cNvPr>
          <p:cNvPicPr>
            <a:picLocks noChangeAspect="1"/>
          </p:cNvPicPr>
          <p:nvPr/>
        </p:nvPicPr>
        <p:blipFill>
          <a:blip r:embed="rId2"/>
          <a:stretch>
            <a:fillRect/>
          </a:stretch>
        </p:blipFill>
        <p:spPr>
          <a:xfrm>
            <a:off x="6995160" y="1600200"/>
            <a:ext cx="4647895" cy="2690887"/>
          </a:xfrm>
          <a:prstGeom prst="rect">
            <a:avLst/>
          </a:prstGeom>
        </p:spPr>
      </p:pic>
      <p:sp>
        <p:nvSpPr>
          <p:cNvPr id="6" name="text-39"/>
          <p:cNvSpPr txBox="1"/>
          <p:nvPr/>
        </p:nvSpPr>
        <p:spPr>
          <a:xfrm>
            <a:off x="548640" y="5550522"/>
            <a:ext cx="6126480" cy="548640"/>
          </a:xfrm>
          <a:prstGeom prst="rect">
            <a:avLst/>
          </a:prstGeom>
          <a:noFill/>
          <a:ln/>
        </p:spPr>
        <p:txBody>
          <a:bodyPr wrap="square" lIns="0" tIns="0" rIns="0" bIns="0" rtlCol="0" anchor="t"/>
          <a:lstStyle/>
          <a:p>
            <a:pPr indent="0" marL="0">
              <a:buNone/>
            </a:pPr>
            <a:r>
              <a:rPr lang="en-US" sz="1300" b="1" dirty="0">
                <a:solidFill>
                  <a:schemeClr val="accent5"/>
                </a:solidFill>
              </a:rPr>
              <a:t>Call list. </a:t>
            </a:r>
            <a:pPr indent="0" marL="0">
              <a:buNone/>
            </a:pPr>
            <a:r>
              <a:rPr lang="en-US" sz="1300" dirty="0">
                <a:solidFill>
                  <a:schemeClr val="accent5"/>
                </a:solidFill>
              </a:rPr>
              <a:t>Ranked by risk × revenue × renewal urgency, with the top reasons, the 12-week trend and the draft's status</a:t>
            </a:r>
            <a:endParaRPr lang="en-US" sz="1300" dirty="0"/>
          </a:p>
        </p:txBody>
      </p:sp>
      <p:sp>
        <p:nvSpPr>
          <p:cNvPr id="7" name="text-40"/>
          <p:cNvSpPr txBox="1"/>
          <p:nvPr/>
        </p:nvSpPr>
        <p:spPr>
          <a:xfrm>
            <a:off x="6995160" y="4400815"/>
            <a:ext cx="4647895" cy="548640"/>
          </a:xfrm>
          <a:prstGeom prst="rect">
            <a:avLst/>
          </a:prstGeom>
          <a:noFill/>
          <a:ln/>
        </p:spPr>
        <p:txBody>
          <a:bodyPr wrap="square" lIns="0" tIns="0" rIns="0" bIns="0" rtlCol="0" anchor="t"/>
          <a:lstStyle/>
          <a:p>
            <a:pPr indent="0" marL="0">
              <a:buNone/>
            </a:pPr>
            <a:r>
              <a:rPr lang="en-US" sz="1300" b="1" dirty="0">
                <a:solidFill>
                  <a:schemeClr val="accent5"/>
                </a:solidFill>
              </a:rPr>
              <a:t>Evidence. </a:t>
            </a:r>
            <a:pPr indent="0" marL="0">
              <a:buNone/>
            </a:pPr>
            <a:r>
              <a:rPr lang="en-US" sz="1300" dirty="0">
                <a:solidFill>
                  <a:schemeClr val="accent5"/>
                </a:solidFill>
              </a:rPr>
              <a:t>Click any reason to see the rows the run used, and when each row arrived</a:t>
            </a:r>
            <a:endParaRPr lang="en-US" sz="1300" dirty="0"/>
          </a:p>
        </p:txBody>
      </p:sp>
      <p:sp>
        <p:nvSpPr>
          <p:cNvPr id="8" name="card-41"/>
          <p:cNvSpPr/>
          <p:nvPr/>
        </p:nvSpPr>
        <p:spPr>
          <a:xfrm>
            <a:off x="6995160" y="5068327"/>
            <a:ext cx="4647895" cy="1103873"/>
          </a:xfrm>
          <a:prstGeom prst="roundRect">
            <a:avLst>
              <a:gd name="adj" fmla="val 6627"/>
            </a:avLst>
          </a:prstGeom>
          <a:solidFill>
            <a:schemeClr val="accent6"/>
          </a:solidFill>
          <a:ln w="12700">
            <a:solidFill>
              <a:schemeClr val="accent6"/>
            </a:solidFill>
            <a:prstDash val="solid"/>
          </a:ln>
        </p:spPr>
      </p:sp>
      <p:sp>
        <p:nvSpPr>
          <p:cNvPr id="9" name="text-42"/>
          <p:cNvSpPr txBox="1"/>
          <p:nvPr/>
        </p:nvSpPr>
        <p:spPr>
          <a:xfrm>
            <a:off x="7223760" y="5232919"/>
            <a:ext cx="4190695" cy="829553"/>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Each note points to the fact it came from (F3, E1)</a:t>
            </a:r>
            <a:endParaRPr lang="en-US" sz="1400" dirty="0"/>
          </a:p>
          <a:p>
            <a:pPr marL="177800" indent="-177800">
              <a:spcAft>
                <a:spcPts val="500"/>
              </a:spcAft>
              <a:buSzPct val="100000"/>
              <a:buChar char="•"/>
            </a:pPr>
            <a:r>
              <a:rPr lang="en-US" sz="1400" dirty="0">
                <a:solidFill>
                  <a:schemeClr val="tx1"/>
                </a:solidFill>
              </a:rPr>
              <a:t>Draft email: approve, then Open in Gmail</a:t>
            </a:r>
            <a:endParaRPr lang="en-US" sz="1400" dirty="0"/>
          </a:p>
          <a:p>
            <a:pPr marL="177800" indent="-177800">
              <a:spcAft>
                <a:spcPts val="500"/>
              </a:spcAft>
              <a:buSzPct val="100000"/>
              <a:buChar char="•"/>
            </a:pPr>
            <a:r>
              <a:rPr lang="en-US" sz="1400" dirty="0">
                <a:solidFill>
                  <a:schemeClr val="tx1"/>
                </a:solidFill>
              </a:rPr>
              <a:t>Managers: team view, runs, model card</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rPr>
              <a:t>Stack and architecture</a:t>
            </a: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lIns="0" tIns="0" rIns="0" bIns="0" rtlCol="0" anchor="t"/>
          <a:lstStyle/>
          <a:p>
            <a:pPr algn="l" indent="0" marL="0">
              <a:buNone/>
            </a:pPr>
            <a:r>
              <a:rPr lang="en-US" sz="1600" dirty="0">
                <a:solidFill>
                  <a:schemeClr val="accent5"/>
                </a:solidFill>
              </a:rPr>
              <a:t>A batch pipeline feeding a read-mostly app; one Postgres is the system of record for data, decisions and audit</a:t>
            </a:r>
            <a:endParaRPr lang="en-US" sz="1600" dirty="0"/>
          </a:p>
        </p:txBody>
      </p:sp>
      <p:sp>
        <p:nvSpPr>
          <p:cNvPr id="4" name="card-43"/>
          <p:cNvSpPr/>
          <p:nvPr/>
        </p:nvSpPr>
        <p:spPr>
          <a:xfrm>
            <a:off x="548640" y="1691640"/>
            <a:ext cx="1645920" cy="1325880"/>
          </a:xfrm>
          <a:prstGeom prst="roundRect">
            <a:avLst>
              <a:gd name="adj" fmla="val 5517"/>
            </a:avLst>
          </a:prstGeom>
          <a:solidFill>
            <a:schemeClr val="bg2"/>
          </a:solidFill>
          <a:ln w="12700">
            <a:solidFill>
              <a:schemeClr val="bg2"/>
            </a:solidFill>
            <a:prstDash val="solid"/>
          </a:ln>
        </p:spPr>
      </p:sp>
      <p:sp>
        <p:nvSpPr>
          <p:cNvPr id="5" name="text-44"/>
          <p:cNvSpPr txBox="1"/>
          <p:nvPr/>
        </p:nvSpPr>
        <p:spPr>
          <a:xfrm>
            <a:off x="685800" y="1828800"/>
            <a:ext cx="1371600" cy="411480"/>
          </a:xfrm>
          <a:prstGeom prst="rect">
            <a:avLst/>
          </a:prstGeom>
          <a:noFill/>
          <a:ln/>
        </p:spPr>
        <p:txBody>
          <a:bodyPr wrap="square" lIns="0" tIns="0" rIns="0" bIns="0" rtlCol="0" anchor="t"/>
          <a:lstStyle/>
          <a:p>
            <a:pPr indent="0" marL="0">
              <a:buNone/>
            </a:pPr>
            <a:r>
              <a:rPr lang="en-US" sz="1500" b="1" dirty="0">
                <a:solidFill>
                  <a:schemeClr val="tx2"/>
                </a:solidFill>
              </a:rPr>
              <a:t>5 sources</a:t>
            </a:r>
            <a:endParaRPr lang="en-US" sz="1500" dirty="0"/>
          </a:p>
        </p:txBody>
      </p:sp>
      <p:sp>
        <p:nvSpPr>
          <p:cNvPr id="6" name="text-45"/>
          <p:cNvSpPr txBox="1"/>
          <p:nvPr/>
        </p:nvSpPr>
        <p:spPr>
          <a:xfrm>
            <a:off x="685800" y="2240280"/>
            <a:ext cx="1371600" cy="731520"/>
          </a:xfrm>
          <a:prstGeom prst="rect">
            <a:avLst/>
          </a:prstGeom>
          <a:noFill/>
          <a:ln/>
        </p:spPr>
        <p:txBody>
          <a:bodyPr wrap="square" lIns="0" tIns="0" rIns="0" bIns="0" rtlCol="0" anchor="t"/>
          <a:lstStyle/>
          <a:p>
            <a:pPr indent="0" marL="0">
              <a:buNone/>
            </a:pPr>
            <a:r>
              <a:rPr lang="en-US" sz="1200" dirty="0">
                <a:solidFill>
                  <a:schemeClr val="accent5"/>
                </a:solidFill>
              </a:rPr>
              <a:t>Salesforce · Zendesk · Gmail · product · Stripe</a:t>
            </a:r>
            <a:endParaRPr lang="en-US" sz="1200" dirty="0"/>
          </a:p>
        </p:txBody>
      </p:sp>
      <p:sp>
        <p:nvSpPr>
          <p:cNvPr id="7" name="arrow-46"/>
          <p:cNvSpPr/>
          <p:nvPr/>
        </p:nvSpPr>
        <p:spPr>
          <a:xfrm>
            <a:off x="2221992" y="2354580"/>
            <a:ext cx="188915" cy="0"/>
          </a:xfrm>
          <a:prstGeom prst="line">
            <a:avLst/>
          </a:prstGeom>
          <a:noFill/>
          <a:ln w="19050">
            <a:solidFill>
              <a:schemeClr val="accent5"/>
            </a:solidFill>
            <a:prstDash val="solid"/>
            <a:tailEnd type="triangle"/>
          </a:ln>
        </p:spPr>
      </p:sp>
      <p:sp>
        <p:nvSpPr>
          <p:cNvPr id="8" name="card-47"/>
          <p:cNvSpPr/>
          <p:nvPr/>
        </p:nvSpPr>
        <p:spPr>
          <a:xfrm>
            <a:off x="2438339" y="1691640"/>
            <a:ext cx="1645920" cy="1325880"/>
          </a:xfrm>
          <a:prstGeom prst="roundRect">
            <a:avLst>
              <a:gd name="adj" fmla="val 5517"/>
            </a:avLst>
          </a:prstGeom>
          <a:solidFill>
            <a:schemeClr val="bg2"/>
          </a:solidFill>
          <a:ln w="12700">
            <a:solidFill>
              <a:schemeClr val="bg2"/>
            </a:solidFill>
            <a:prstDash val="solid"/>
          </a:ln>
        </p:spPr>
      </p:sp>
      <p:sp>
        <p:nvSpPr>
          <p:cNvPr id="9" name="text-48"/>
          <p:cNvSpPr txBox="1"/>
          <p:nvPr/>
        </p:nvSpPr>
        <p:spPr>
          <a:xfrm>
            <a:off x="2575499" y="1828800"/>
            <a:ext cx="1371600" cy="411480"/>
          </a:xfrm>
          <a:prstGeom prst="rect">
            <a:avLst/>
          </a:prstGeom>
          <a:noFill/>
          <a:ln/>
        </p:spPr>
        <p:txBody>
          <a:bodyPr wrap="square" lIns="0" tIns="0" rIns="0" bIns="0" rtlCol="0" anchor="t"/>
          <a:lstStyle/>
          <a:p>
            <a:pPr indent="0" marL="0">
              <a:buNone/>
            </a:pPr>
            <a:r>
              <a:rPr lang="en-US" sz="1500" b="1" dirty="0">
                <a:solidFill>
                  <a:schemeClr val="tx2"/>
                </a:solidFill>
              </a:rPr>
              <a:t>Landing zone</a:t>
            </a:r>
            <a:endParaRPr lang="en-US" sz="1500" dirty="0"/>
          </a:p>
        </p:txBody>
      </p:sp>
      <p:sp>
        <p:nvSpPr>
          <p:cNvPr id="10" name="text-49"/>
          <p:cNvSpPr txBox="1"/>
          <p:nvPr/>
        </p:nvSpPr>
        <p:spPr>
          <a:xfrm>
            <a:off x="2575499" y="2240280"/>
            <a:ext cx="1371600" cy="731520"/>
          </a:xfrm>
          <a:prstGeom prst="rect">
            <a:avLst/>
          </a:prstGeom>
          <a:noFill/>
          <a:ln/>
        </p:spPr>
        <p:txBody>
          <a:bodyPr wrap="square" lIns="0" tIns="0" rIns="0" bIns="0" rtlCol="0" anchor="t"/>
          <a:lstStyle/>
          <a:p>
            <a:pPr indent="0" marL="0">
              <a:buNone/>
            </a:pPr>
            <a:r>
              <a:rPr lang="en-US" sz="1200" dirty="0">
                <a:solidFill>
                  <a:schemeClr val="accent5"/>
                </a:solidFill>
              </a:rPr>
              <a:t>JSONL, partitioned by arrival date</a:t>
            </a:r>
            <a:endParaRPr lang="en-US" sz="1200" dirty="0"/>
          </a:p>
        </p:txBody>
      </p:sp>
      <p:sp>
        <p:nvSpPr>
          <p:cNvPr id="11" name="arrow-50"/>
          <p:cNvSpPr/>
          <p:nvPr/>
        </p:nvSpPr>
        <p:spPr>
          <a:xfrm>
            <a:off x="4111691" y="2354580"/>
            <a:ext cx="188915" cy="0"/>
          </a:xfrm>
          <a:prstGeom prst="line">
            <a:avLst/>
          </a:prstGeom>
          <a:noFill/>
          <a:ln w="19050">
            <a:solidFill>
              <a:schemeClr val="accent5"/>
            </a:solidFill>
            <a:prstDash val="solid"/>
            <a:tailEnd type="triangle"/>
          </a:ln>
        </p:spPr>
      </p:sp>
      <p:sp>
        <p:nvSpPr>
          <p:cNvPr id="12" name="card-51"/>
          <p:cNvSpPr/>
          <p:nvPr/>
        </p:nvSpPr>
        <p:spPr>
          <a:xfrm>
            <a:off x="4328038" y="1691640"/>
            <a:ext cx="1645920" cy="1325880"/>
          </a:xfrm>
          <a:prstGeom prst="roundRect">
            <a:avLst>
              <a:gd name="adj" fmla="val 5517"/>
            </a:avLst>
          </a:prstGeom>
          <a:solidFill>
            <a:schemeClr val="bg2"/>
          </a:solidFill>
          <a:ln w="12700">
            <a:solidFill>
              <a:schemeClr val="bg2"/>
            </a:solidFill>
            <a:prstDash val="solid"/>
          </a:ln>
        </p:spPr>
      </p:sp>
      <p:sp>
        <p:nvSpPr>
          <p:cNvPr id="13" name="text-52"/>
          <p:cNvSpPr txBox="1"/>
          <p:nvPr/>
        </p:nvSpPr>
        <p:spPr>
          <a:xfrm>
            <a:off x="4465198" y="1828800"/>
            <a:ext cx="1371600" cy="411480"/>
          </a:xfrm>
          <a:prstGeom prst="rect">
            <a:avLst/>
          </a:prstGeom>
          <a:noFill/>
          <a:ln/>
        </p:spPr>
        <p:txBody>
          <a:bodyPr wrap="square" lIns="0" tIns="0" rIns="0" bIns="0" rtlCol="0" anchor="t"/>
          <a:lstStyle/>
          <a:p>
            <a:pPr indent="0" marL="0">
              <a:buNone/>
            </a:pPr>
            <a:r>
              <a:rPr lang="en-US" sz="1500" b="1" dirty="0">
                <a:solidFill>
                  <a:schemeClr val="tx2"/>
                </a:solidFill>
              </a:rPr>
              <a:t>Ingest + match</a:t>
            </a:r>
            <a:endParaRPr lang="en-US" sz="1500" dirty="0"/>
          </a:p>
        </p:txBody>
      </p:sp>
      <p:sp>
        <p:nvSpPr>
          <p:cNvPr id="14" name="text-53"/>
          <p:cNvSpPr txBox="1"/>
          <p:nvPr/>
        </p:nvSpPr>
        <p:spPr>
          <a:xfrm>
            <a:off x="4465198" y="2240280"/>
            <a:ext cx="1371600" cy="731520"/>
          </a:xfrm>
          <a:prstGeom prst="rect">
            <a:avLst/>
          </a:prstGeom>
          <a:noFill/>
          <a:ln/>
        </p:spPr>
        <p:txBody>
          <a:bodyPr wrap="square" lIns="0" tIns="0" rIns="0" bIns="0" rtlCol="0" anchor="t"/>
          <a:lstStyle/>
          <a:p>
            <a:pPr indent="0" marL="0">
              <a:buNone/>
            </a:pPr>
            <a:r>
              <a:rPr lang="en-US" sz="1200" dirty="0">
                <a:solidFill>
                  <a:schemeClr val="accent5"/>
                </a:solidFill>
              </a:rPr>
              <a:t>remove duplicates, fix time zones and formats, link records to accounts</a:t>
            </a:r>
            <a:endParaRPr lang="en-US" sz="1200" dirty="0"/>
          </a:p>
        </p:txBody>
      </p:sp>
      <p:sp>
        <p:nvSpPr>
          <p:cNvPr id="15" name="arrow-54"/>
          <p:cNvSpPr/>
          <p:nvPr/>
        </p:nvSpPr>
        <p:spPr>
          <a:xfrm>
            <a:off x="6001390" y="2354580"/>
            <a:ext cx="188915" cy="0"/>
          </a:xfrm>
          <a:prstGeom prst="line">
            <a:avLst/>
          </a:prstGeom>
          <a:noFill/>
          <a:ln w="19050">
            <a:solidFill>
              <a:schemeClr val="accent5"/>
            </a:solidFill>
            <a:prstDash val="solid"/>
            <a:tailEnd type="triangle"/>
          </a:ln>
        </p:spPr>
      </p:sp>
      <p:sp>
        <p:nvSpPr>
          <p:cNvPr id="16" name="card-55"/>
          <p:cNvSpPr/>
          <p:nvPr/>
        </p:nvSpPr>
        <p:spPr>
          <a:xfrm>
            <a:off x="6217737" y="1691640"/>
            <a:ext cx="1645920" cy="1325880"/>
          </a:xfrm>
          <a:prstGeom prst="roundRect">
            <a:avLst>
              <a:gd name="adj" fmla="val 5517"/>
            </a:avLst>
          </a:prstGeom>
          <a:solidFill>
            <a:schemeClr val="tx2"/>
          </a:solidFill>
          <a:ln w="12700">
            <a:solidFill>
              <a:schemeClr val="tx2"/>
            </a:solidFill>
            <a:prstDash val="solid"/>
          </a:ln>
        </p:spPr>
      </p:sp>
      <p:sp>
        <p:nvSpPr>
          <p:cNvPr id="17" name="text-56"/>
          <p:cNvSpPr txBox="1"/>
          <p:nvPr/>
        </p:nvSpPr>
        <p:spPr>
          <a:xfrm>
            <a:off x="6354897" y="1828800"/>
            <a:ext cx="1371600" cy="411480"/>
          </a:xfrm>
          <a:prstGeom prst="rect">
            <a:avLst/>
          </a:prstGeom>
          <a:noFill/>
          <a:ln/>
        </p:spPr>
        <p:txBody>
          <a:bodyPr wrap="square" lIns="0" tIns="0" rIns="0" bIns="0" rtlCol="0" anchor="t"/>
          <a:lstStyle/>
          <a:p>
            <a:pPr indent="0" marL="0">
              <a:buNone/>
            </a:pPr>
            <a:r>
              <a:rPr lang="en-US" sz="1500" b="1" dirty="0">
                <a:solidFill>
                  <a:schemeClr val="bg1"/>
                </a:solidFill>
              </a:rPr>
              <a:t>Postgres 16</a:t>
            </a:r>
            <a:endParaRPr lang="en-US" sz="1500" dirty="0"/>
          </a:p>
        </p:txBody>
      </p:sp>
      <p:sp>
        <p:nvSpPr>
          <p:cNvPr id="18" name="text-57"/>
          <p:cNvSpPr txBox="1"/>
          <p:nvPr/>
        </p:nvSpPr>
        <p:spPr>
          <a:xfrm>
            <a:off x="6354897" y="2240280"/>
            <a:ext cx="1371600" cy="731520"/>
          </a:xfrm>
          <a:prstGeom prst="rect">
            <a:avLst/>
          </a:prstGeom>
          <a:noFill/>
          <a:ln/>
        </p:spPr>
        <p:txBody>
          <a:bodyPr wrap="square" lIns="0" tIns="0" rIns="0" bIns="0" rtlCol="0" anchor="t"/>
          <a:lstStyle/>
          <a:p>
            <a:pPr indent="0" marL="0">
              <a:buNone/>
            </a:pPr>
            <a:r>
              <a:rPr lang="en-US" sz="1200" dirty="0">
                <a:solidFill>
                  <a:schemeClr val="accent6"/>
                </a:solidFill>
              </a:rPr>
              <a:t>the database keeps each company's data apart</a:t>
            </a:r>
            <a:endParaRPr lang="en-US" sz="1200" dirty="0"/>
          </a:p>
        </p:txBody>
      </p:sp>
      <p:sp>
        <p:nvSpPr>
          <p:cNvPr id="19" name="arrow-58"/>
          <p:cNvSpPr/>
          <p:nvPr/>
        </p:nvSpPr>
        <p:spPr>
          <a:xfrm>
            <a:off x="7891089" y="2354580"/>
            <a:ext cx="188915" cy="0"/>
          </a:xfrm>
          <a:prstGeom prst="line">
            <a:avLst/>
          </a:prstGeom>
          <a:noFill/>
          <a:ln w="19050">
            <a:solidFill>
              <a:schemeClr val="accent5"/>
            </a:solidFill>
            <a:prstDash val="solid"/>
            <a:tailEnd type="triangle"/>
          </a:ln>
        </p:spPr>
      </p:sp>
      <p:sp>
        <p:nvSpPr>
          <p:cNvPr id="20" name="card-59"/>
          <p:cNvSpPr/>
          <p:nvPr/>
        </p:nvSpPr>
        <p:spPr>
          <a:xfrm>
            <a:off x="8107436" y="1691640"/>
            <a:ext cx="1645920" cy="1325880"/>
          </a:xfrm>
          <a:prstGeom prst="roundRect">
            <a:avLst>
              <a:gd name="adj" fmla="val 5517"/>
            </a:avLst>
          </a:prstGeom>
          <a:solidFill>
            <a:schemeClr val="tx2"/>
          </a:solidFill>
          <a:ln w="12700">
            <a:solidFill>
              <a:schemeClr val="tx2"/>
            </a:solidFill>
            <a:prstDash val="solid"/>
          </a:ln>
        </p:spPr>
      </p:sp>
      <p:sp>
        <p:nvSpPr>
          <p:cNvPr id="21" name="text-60"/>
          <p:cNvSpPr txBox="1"/>
          <p:nvPr/>
        </p:nvSpPr>
        <p:spPr>
          <a:xfrm>
            <a:off x="8244596" y="1828800"/>
            <a:ext cx="1371600" cy="411480"/>
          </a:xfrm>
          <a:prstGeom prst="rect">
            <a:avLst/>
          </a:prstGeom>
          <a:noFill/>
          <a:ln/>
        </p:spPr>
        <p:txBody>
          <a:bodyPr wrap="square" lIns="0" tIns="0" rIns="0" bIns="0" rtlCol="0" anchor="t"/>
          <a:lstStyle/>
          <a:p>
            <a:pPr indent="0" marL="0">
              <a:buNone/>
            </a:pPr>
            <a:r>
              <a:rPr lang="en-US" sz="1500" b="1" dirty="0">
                <a:solidFill>
                  <a:schemeClr val="bg1"/>
                </a:solidFill>
              </a:rPr>
              <a:t>Nightly agent run</a:t>
            </a:r>
            <a:endParaRPr lang="en-US" sz="1500" dirty="0"/>
          </a:p>
        </p:txBody>
      </p:sp>
      <p:sp>
        <p:nvSpPr>
          <p:cNvPr id="22" name="text-61"/>
          <p:cNvSpPr txBox="1"/>
          <p:nvPr/>
        </p:nvSpPr>
        <p:spPr>
          <a:xfrm>
            <a:off x="8244596" y="2240280"/>
            <a:ext cx="1371600" cy="731520"/>
          </a:xfrm>
          <a:prstGeom prst="rect">
            <a:avLst/>
          </a:prstGeom>
          <a:noFill/>
          <a:ln/>
        </p:spPr>
        <p:txBody>
          <a:bodyPr wrap="square" lIns="0" tIns="0" rIns="0" bIns="0" rtlCol="0" anchor="t"/>
          <a:lstStyle/>
          <a:p>
            <a:pPr indent="0" marL="0">
              <a:buNone/>
            </a:pPr>
            <a:r>
              <a:rPr lang="en-US" sz="1200" dirty="0">
                <a:solidFill>
                  <a:schemeClr val="accent6"/>
                </a:solidFill>
              </a:rPr>
              <a:t>features → model → priority → diff → briefs</a:t>
            </a:r>
            <a:endParaRPr lang="en-US" sz="1200" dirty="0"/>
          </a:p>
        </p:txBody>
      </p:sp>
      <p:sp>
        <p:nvSpPr>
          <p:cNvPr id="23" name="arrow-62"/>
          <p:cNvSpPr/>
          <p:nvPr/>
        </p:nvSpPr>
        <p:spPr>
          <a:xfrm>
            <a:off x="9780788" y="2354580"/>
            <a:ext cx="188915" cy="0"/>
          </a:xfrm>
          <a:prstGeom prst="line">
            <a:avLst/>
          </a:prstGeom>
          <a:noFill/>
          <a:ln w="19050">
            <a:solidFill>
              <a:schemeClr val="accent5"/>
            </a:solidFill>
            <a:prstDash val="solid"/>
            <a:tailEnd type="triangle"/>
          </a:ln>
        </p:spPr>
      </p:sp>
      <p:sp>
        <p:nvSpPr>
          <p:cNvPr id="24" name="card-63"/>
          <p:cNvSpPr/>
          <p:nvPr/>
        </p:nvSpPr>
        <p:spPr>
          <a:xfrm>
            <a:off x="9997135" y="1691640"/>
            <a:ext cx="1645920" cy="1325880"/>
          </a:xfrm>
          <a:prstGeom prst="roundRect">
            <a:avLst>
              <a:gd name="adj" fmla="val 5517"/>
            </a:avLst>
          </a:prstGeom>
          <a:solidFill>
            <a:schemeClr val="bg2"/>
          </a:solidFill>
          <a:ln w="12700">
            <a:solidFill>
              <a:schemeClr val="bg2"/>
            </a:solidFill>
            <a:prstDash val="solid"/>
          </a:ln>
        </p:spPr>
      </p:sp>
      <p:sp>
        <p:nvSpPr>
          <p:cNvPr id="25" name="text-64"/>
          <p:cNvSpPr txBox="1"/>
          <p:nvPr/>
        </p:nvSpPr>
        <p:spPr>
          <a:xfrm>
            <a:off x="10134295" y="1828800"/>
            <a:ext cx="1371600" cy="411480"/>
          </a:xfrm>
          <a:prstGeom prst="rect">
            <a:avLst/>
          </a:prstGeom>
          <a:noFill/>
          <a:ln/>
        </p:spPr>
        <p:txBody>
          <a:bodyPr wrap="square" lIns="0" tIns="0" rIns="0" bIns="0" rtlCol="0" anchor="t"/>
          <a:lstStyle/>
          <a:p>
            <a:pPr indent="0" marL="0">
              <a:buNone/>
            </a:pPr>
            <a:r>
              <a:rPr lang="en-US" sz="1500" b="1" dirty="0">
                <a:solidFill>
                  <a:schemeClr val="tx2"/>
                </a:solidFill>
              </a:rPr>
              <a:t>FastAPI + React</a:t>
            </a:r>
            <a:endParaRPr lang="en-US" sz="1500" dirty="0"/>
          </a:p>
        </p:txBody>
      </p:sp>
      <p:sp>
        <p:nvSpPr>
          <p:cNvPr id="26" name="text-65"/>
          <p:cNvSpPr txBox="1"/>
          <p:nvPr/>
        </p:nvSpPr>
        <p:spPr>
          <a:xfrm>
            <a:off x="10134295" y="2240280"/>
            <a:ext cx="1371600" cy="731520"/>
          </a:xfrm>
          <a:prstGeom prst="rect">
            <a:avLst/>
          </a:prstGeom>
          <a:noFill/>
          <a:ln/>
        </p:spPr>
        <p:txBody>
          <a:bodyPr wrap="square" lIns="0" tIns="0" rIns="0" bIns="0" rtlCol="0" anchor="t"/>
          <a:lstStyle/>
          <a:p>
            <a:pPr indent="0" marL="0">
              <a:buNone/>
            </a:pPr>
            <a:r>
              <a:rPr lang="en-US" sz="1200" dirty="0">
                <a:solidFill>
                  <a:schemeClr val="accent5"/>
                </a:solidFill>
              </a:rPr>
              <a:t>call list, account, evidence, runs, model</a:t>
            </a:r>
            <a:endParaRPr lang="en-US" sz="1200" dirty="0"/>
          </a:p>
        </p:txBody>
      </p:sp>
      <p:graphicFrame>
        <p:nvGraphicFramePr>
          <p:cNvPr id="6" name="table-66"/>
          <p:cNvGraphicFramePr>
            <a:graphicFrameLocks noGrp="1"/>
          </p:cNvGraphicFramePr>
          <p:nvPr>
            <p:extLst>
              <p:ext uri="{D42A27DB-BD31-4B8C-83A1-F6EECF244321}">
                <p14:modId xmlns:p14="http://schemas.microsoft.com/office/powerpoint/2010/main" val="1579011935"/>
              </p:ext>
            </p:extLst>
          </p:nvPr>
        </p:nvGraphicFramePr>
        <p:xfrm>
          <a:off x="548640" y="3337560"/>
          <a:ext cx="6949440" cy="914400"/>
        </p:xfrm>
        <a:graphic>
          <a:graphicData uri="http://schemas.openxmlformats.org/drawingml/2006/table">
            <a:tbl>
              <a:tblPr/>
              <a:tblGrid>
                <a:gridCol w="1554480"/>
                <a:gridCol w="5394960"/>
              </a:tblGrid>
              <a:tr h="384048">
                <a:tc>
                  <a:txBody>
                    <a:bodyPr/>
                    <a:lstStyle/>
                    <a:p>
                      <a:pPr indent="0" marL="0">
                        <a:buNone/>
                      </a:pPr>
                      <a:r>
                        <a:rPr lang="en-US" sz="1400" b="1" dirty="0">
                          <a:solidFill>
                            <a:schemeClr val="tx2"/>
                          </a:solidFill>
                        </a:rPr>
                        <a:t>Backend</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Python 3.12, FastAPI, pandas, scikit-learn</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384048">
                <a:tc>
                  <a:txBody>
                    <a:bodyPr/>
                    <a:lstStyle/>
                    <a:p>
                      <a:pPr indent="0" marL="0">
                        <a:buNone/>
                      </a:pPr>
                      <a:r>
                        <a:rPr lang="en-US" sz="1400" b="1" dirty="0">
                          <a:solidFill>
                            <a:schemeClr val="tx2"/>
                          </a:solidFill>
                        </a:rPr>
                        <a:t>Data</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Postgres 16, with per-company data isolation built into the database</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384048">
                <a:tc>
                  <a:txBody>
                    <a:bodyPr/>
                    <a:lstStyle/>
                    <a:p>
                      <a:pPr indent="0" marL="0">
                        <a:buNone/>
                      </a:pPr>
                      <a:r>
                        <a:rPr lang="en-US" sz="1400" b="1" dirty="0">
                          <a:solidFill>
                            <a:schemeClr val="tx2"/>
                          </a:solidFill>
                        </a:rPr>
                        <a:t>LLM</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OpenAI gpt-4o-mini behind a grounding validator; template fallback</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384048">
                <a:tc>
                  <a:txBody>
                    <a:bodyPr/>
                    <a:lstStyle/>
                    <a:p>
                      <a:pPr indent="0" marL="0">
                        <a:buNone/>
                      </a:pPr>
                      <a:r>
                        <a:rPr lang="en-US" sz="1400" b="1" dirty="0">
                          <a:solidFill>
                            <a:schemeClr val="tx2"/>
                          </a:solidFill>
                        </a:rPr>
                        <a:t>Frontend</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React + TypeScript (Vite), served by the API</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384048">
                <a:tc>
                  <a:txBody>
                    <a:bodyPr/>
                    <a:lstStyle/>
                    <a:p>
                      <a:pPr indent="0" marL="0">
                        <a:buNone/>
                      </a:pPr>
                      <a:r>
                        <a:rPr lang="en-US" sz="1400" b="1" dirty="0">
                          <a:solidFill>
                            <a:schemeClr val="tx2"/>
                          </a:solidFill>
                        </a:rPr>
                        <a:t>Runtime</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Docker Compose on one AWS server: database, app, scheduler, HTTPS proxy</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384048">
                <a:tc>
                  <a:txBody>
                    <a:bodyPr/>
                    <a:lstStyle/>
                    <a:p>
                      <a:pPr indent="0" marL="0">
                        <a:buNone/>
                      </a:pPr>
                      <a:r>
                        <a:rPr lang="en-US" sz="1400" b="1" dirty="0">
                          <a:solidFill>
                            <a:schemeClr val="tx2"/>
                          </a:solidFill>
                        </a:rPr>
                        <a:t>Observability</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Structured logs; every request has an ID that links it to its log lines</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bl>
          </a:graphicData>
        </a:graphic>
      </p:graphicFrame>
      <p:sp>
        <p:nvSpPr>
          <p:cNvPr id="28" name="card-67"/>
          <p:cNvSpPr/>
          <p:nvPr/>
        </p:nvSpPr>
        <p:spPr>
          <a:xfrm>
            <a:off x="7863840" y="3337560"/>
            <a:ext cx="3779215" cy="2304288"/>
          </a:xfrm>
          <a:prstGeom prst="roundRect">
            <a:avLst>
              <a:gd name="adj" fmla="val 3175"/>
            </a:avLst>
          </a:prstGeom>
          <a:solidFill>
            <a:schemeClr val="accent6"/>
          </a:solidFill>
          <a:ln w="12700">
            <a:solidFill>
              <a:schemeClr val="accent6"/>
            </a:solidFill>
            <a:prstDash val="solid"/>
          </a:ln>
        </p:spPr>
      </p:sp>
      <p:sp>
        <p:nvSpPr>
          <p:cNvPr id="29" name="text-68"/>
          <p:cNvSpPr txBox="1"/>
          <p:nvPr/>
        </p:nvSpPr>
        <p:spPr>
          <a:xfrm>
            <a:off x="8092440" y="3474720"/>
            <a:ext cx="3383280" cy="365760"/>
          </a:xfrm>
          <a:prstGeom prst="rect">
            <a:avLst/>
          </a:prstGeom>
          <a:noFill/>
          <a:ln/>
        </p:spPr>
        <p:txBody>
          <a:bodyPr wrap="square" lIns="0" tIns="0" rIns="0" bIns="0" rtlCol="0" anchor="t"/>
          <a:lstStyle/>
          <a:p>
            <a:pPr indent="0" marL="0">
              <a:buNone/>
            </a:pPr>
            <a:r>
              <a:rPr lang="en-US" sz="1600" b="1" dirty="0">
                <a:solidFill>
                  <a:schemeClr val="tx2"/>
                </a:solidFill>
              </a:rPr>
              <a:t>Why this shape</a:t>
            </a:r>
            <a:endParaRPr lang="en-US" sz="1600" dirty="0"/>
          </a:p>
        </p:txBody>
      </p:sp>
      <p:sp>
        <p:nvSpPr>
          <p:cNvPr id="30" name="text-69"/>
          <p:cNvSpPr txBox="1"/>
          <p:nvPr/>
        </p:nvSpPr>
        <p:spPr>
          <a:xfrm>
            <a:off x="8092440" y="3886200"/>
            <a:ext cx="3383280" cy="16916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The decision is weekly, so a batch run fits; no stream to operate</a:t>
            </a:r>
            <a:endParaRPr lang="en-US" sz="1400" dirty="0"/>
          </a:p>
          <a:p>
            <a:pPr marL="177800" indent="-177800">
              <a:spcAft>
                <a:spcPts val="500"/>
              </a:spcAft>
              <a:buSzPct val="100000"/>
              <a:buChar char="•"/>
            </a:pPr>
            <a:r>
              <a:rPr lang="en-US" sz="1400" dirty="0">
                <a:solidFill>
                  <a:schemeClr val="tx1"/>
                </a:solidFill>
              </a:rPr>
              <a:t>One database keeps scores, evidence and audit joinable</a:t>
            </a:r>
            <a:endParaRPr lang="en-US" sz="1400" dirty="0"/>
          </a:p>
          <a:p>
            <a:pPr marL="177800" indent="-177800">
              <a:spcAft>
                <a:spcPts val="500"/>
              </a:spcAft>
              <a:buSzPct val="100000"/>
              <a:buChar char="•"/>
            </a:pPr>
            <a:r>
              <a:rPr lang="en-US" sz="1400" dirty="0">
                <a:solidFill>
                  <a:schemeClr val="tx1"/>
                </a:solidFill>
              </a:rPr>
              <a:t>Nothing AWS-specific: the same compose file runs anywhere</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rPr>
              <a:t>Messy data, handled on purpose</a:t>
            </a: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lIns="0" tIns="0" rIns="0" bIns="0" rtlCol="0" anchor="t"/>
          <a:lstStyle/>
          <a:p>
            <a:pPr algn="l" indent="0" marL="0">
              <a:buNone/>
            </a:pPr>
            <a:r>
              <a:rPr lang="en-US" sz="1600" dirty="0">
                <a:solidFill>
                  <a:schemeClr val="accent5"/>
                </a:solidFill>
              </a:rPr>
              <a:t>Synthetic, but generated from a hidden weekly health process, so outcomes are learnable and the mess is realistic</a:t>
            </a:r>
            <a:endParaRPr lang="en-US" sz="1600" dirty="0"/>
          </a:p>
        </p:txBody>
      </p:sp>
      <p:sp>
        <p:nvSpPr>
          <p:cNvPr id="4" name="card-70"/>
          <p:cNvSpPr/>
          <p:nvPr/>
        </p:nvSpPr>
        <p:spPr>
          <a:xfrm>
            <a:off x="548640" y="1645920"/>
            <a:ext cx="2514600" cy="914400"/>
          </a:xfrm>
          <a:prstGeom prst="roundRect">
            <a:avLst>
              <a:gd name="adj" fmla="val 8000"/>
            </a:avLst>
          </a:prstGeom>
          <a:solidFill>
            <a:schemeClr val="bg2"/>
          </a:solidFill>
          <a:ln w="12700">
            <a:solidFill>
              <a:schemeClr val="bg2"/>
            </a:solidFill>
            <a:prstDash val="solid"/>
          </a:ln>
        </p:spPr>
      </p:sp>
      <p:sp>
        <p:nvSpPr>
          <p:cNvPr id="5" name="text-71"/>
          <p:cNvSpPr txBox="1"/>
          <p:nvPr/>
        </p:nvSpPr>
        <p:spPr>
          <a:xfrm>
            <a:off x="731520" y="1719072"/>
            <a:ext cx="2194560" cy="502920"/>
          </a:xfrm>
          <a:prstGeom prst="rect">
            <a:avLst/>
          </a:prstGeom>
          <a:noFill/>
          <a:ln/>
        </p:spPr>
        <p:txBody>
          <a:bodyPr wrap="square" lIns="0" tIns="0" rIns="0" bIns="0" rtlCol="0" anchor="t"/>
          <a:lstStyle/>
          <a:p>
            <a:pPr indent="0" marL="0">
              <a:buNone/>
            </a:pPr>
            <a:r>
              <a:rPr lang="en-US" sz="2600" b="1" dirty="0">
                <a:solidFill>
                  <a:schemeClr val="tx2"/>
                </a:solidFill>
              </a:rPr>
              <a:t>1.19M</a:t>
            </a:r>
            <a:endParaRPr lang="en-US" sz="2600" dirty="0"/>
          </a:p>
        </p:txBody>
      </p:sp>
      <p:sp>
        <p:nvSpPr>
          <p:cNvPr id="6" name="text-72"/>
          <p:cNvSpPr txBox="1"/>
          <p:nvPr/>
        </p:nvSpPr>
        <p:spPr>
          <a:xfrm>
            <a:off x="731520" y="2194560"/>
            <a:ext cx="2194560" cy="320040"/>
          </a:xfrm>
          <a:prstGeom prst="rect">
            <a:avLst/>
          </a:prstGeom>
          <a:noFill/>
          <a:ln/>
        </p:spPr>
        <p:txBody>
          <a:bodyPr wrap="square" lIns="0" tIns="0" rIns="0" bIns="0" rtlCol="0" anchor="t"/>
          <a:lstStyle/>
          <a:p>
            <a:pPr indent="0" marL="0">
              <a:buNone/>
            </a:pPr>
            <a:r>
              <a:rPr lang="en-US" sz="1300" dirty="0">
                <a:solidFill>
                  <a:schemeClr val="accent5"/>
                </a:solidFill>
              </a:rPr>
              <a:t>raw records</a:t>
            </a:r>
            <a:endParaRPr lang="en-US" sz="1300" dirty="0"/>
          </a:p>
        </p:txBody>
      </p:sp>
      <p:sp>
        <p:nvSpPr>
          <p:cNvPr id="7" name="card-73"/>
          <p:cNvSpPr/>
          <p:nvPr/>
        </p:nvSpPr>
        <p:spPr>
          <a:xfrm>
            <a:off x="548640" y="2724912"/>
            <a:ext cx="2514600" cy="914400"/>
          </a:xfrm>
          <a:prstGeom prst="roundRect">
            <a:avLst>
              <a:gd name="adj" fmla="val 8000"/>
            </a:avLst>
          </a:prstGeom>
          <a:solidFill>
            <a:schemeClr val="bg2"/>
          </a:solidFill>
          <a:ln w="12700">
            <a:solidFill>
              <a:schemeClr val="bg2"/>
            </a:solidFill>
            <a:prstDash val="solid"/>
          </a:ln>
        </p:spPr>
      </p:sp>
      <p:sp>
        <p:nvSpPr>
          <p:cNvPr id="8" name="text-74"/>
          <p:cNvSpPr txBox="1"/>
          <p:nvPr/>
        </p:nvSpPr>
        <p:spPr>
          <a:xfrm>
            <a:off x="731520" y="2798064"/>
            <a:ext cx="2194560" cy="502920"/>
          </a:xfrm>
          <a:prstGeom prst="rect">
            <a:avLst/>
          </a:prstGeom>
          <a:noFill/>
          <a:ln/>
        </p:spPr>
        <p:txBody>
          <a:bodyPr wrap="square" lIns="0" tIns="0" rIns="0" bIns="0" rtlCol="0" anchor="t"/>
          <a:lstStyle/>
          <a:p>
            <a:pPr indent="0" marL="0">
              <a:buNone/>
            </a:pPr>
            <a:r>
              <a:rPr lang="en-US" sz="2600" b="1" dirty="0">
                <a:solidFill>
                  <a:schemeClr val="tx2"/>
                </a:solidFill>
              </a:rPr>
              <a:t>5,000</a:t>
            </a:r>
            <a:endParaRPr lang="en-US" sz="2600" dirty="0"/>
          </a:p>
        </p:txBody>
      </p:sp>
      <p:sp>
        <p:nvSpPr>
          <p:cNvPr id="9" name="text-75"/>
          <p:cNvSpPr txBox="1"/>
          <p:nvPr/>
        </p:nvSpPr>
        <p:spPr>
          <a:xfrm>
            <a:off x="731520" y="3273552"/>
            <a:ext cx="2194560" cy="320040"/>
          </a:xfrm>
          <a:prstGeom prst="rect">
            <a:avLst/>
          </a:prstGeom>
          <a:noFill/>
          <a:ln/>
        </p:spPr>
        <p:txBody>
          <a:bodyPr wrap="square" lIns="0" tIns="0" rIns="0" bIns="0" rtlCol="0" anchor="t"/>
          <a:lstStyle/>
          <a:p>
            <a:pPr indent="0" marL="0">
              <a:buNone/>
            </a:pPr>
            <a:r>
              <a:rPr lang="en-US" sz="1300" dirty="0">
                <a:solidFill>
                  <a:schemeClr val="accent5"/>
                </a:solidFill>
              </a:rPr>
              <a:t>accounts</a:t>
            </a:r>
            <a:endParaRPr lang="en-US" sz="1300" dirty="0"/>
          </a:p>
        </p:txBody>
      </p:sp>
      <p:sp>
        <p:nvSpPr>
          <p:cNvPr id="10" name="card-76"/>
          <p:cNvSpPr/>
          <p:nvPr/>
        </p:nvSpPr>
        <p:spPr>
          <a:xfrm>
            <a:off x="548640" y="3803904"/>
            <a:ext cx="2514600" cy="914400"/>
          </a:xfrm>
          <a:prstGeom prst="roundRect">
            <a:avLst>
              <a:gd name="adj" fmla="val 8000"/>
            </a:avLst>
          </a:prstGeom>
          <a:solidFill>
            <a:schemeClr val="bg2"/>
          </a:solidFill>
          <a:ln w="12700">
            <a:solidFill>
              <a:schemeClr val="bg2"/>
            </a:solidFill>
            <a:prstDash val="solid"/>
          </a:ln>
        </p:spPr>
      </p:sp>
      <p:sp>
        <p:nvSpPr>
          <p:cNvPr id="11" name="text-77"/>
          <p:cNvSpPr txBox="1"/>
          <p:nvPr/>
        </p:nvSpPr>
        <p:spPr>
          <a:xfrm>
            <a:off x="731520" y="3877056"/>
            <a:ext cx="2194560" cy="502920"/>
          </a:xfrm>
          <a:prstGeom prst="rect">
            <a:avLst/>
          </a:prstGeom>
          <a:noFill/>
          <a:ln/>
        </p:spPr>
        <p:txBody>
          <a:bodyPr wrap="square" lIns="0" tIns="0" rIns="0" bIns="0" rtlCol="0" anchor="t"/>
          <a:lstStyle/>
          <a:p>
            <a:pPr indent="0" marL="0">
              <a:buNone/>
            </a:pPr>
            <a:r>
              <a:rPr lang="en-US" sz="2600" b="1" dirty="0">
                <a:solidFill>
                  <a:schemeClr val="tx2"/>
                </a:solidFill>
              </a:rPr>
              <a:t>3</a:t>
            </a:r>
            <a:endParaRPr lang="en-US" sz="2600" dirty="0"/>
          </a:p>
        </p:txBody>
      </p:sp>
      <p:sp>
        <p:nvSpPr>
          <p:cNvPr id="12" name="text-78"/>
          <p:cNvSpPr txBox="1"/>
          <p:nvPr/>
        </p:nvSpPr>
        <p:spPr>
          <a:xfrm>
            <a:off x="731520" y="4352544"/>
            <a:ext cx="2194560" cy="320040"/>
          </a:xfrm>
          <a:prstGeom prst="rect">
            <a:avLst/>
          </a:prstGeom>
          <a:noFill/>
          <a:ln/>
        </p:spPr>
        <p:txBody>
          <a:bodyPr wrap="square" lIns="0" tIns="0" rIns="0" bIns="0" rtlCol="0" anchor="t"/>
          <a:lstStyle/>
          <a:p>
            <a:pPr indent="0" marL="0">
              <a:buNone/>
            </a:pPr>
            <a:r>
              <a:rPr lang="en-US" sz="1300" dirty="0">
                <a:solidFill>
                  <a:schemeClr val="accent5"/>
                </a:solidFill>
              </a:rPr>
              <a:t>companies, 3 years</a:t>
            </a:r>
            <a:endParaRPr lang="en-US" sz="1300" dirty="0"/>
          </a:p>
        </p:txBody>
      </p:sp>
      <p:sp>
        <p:nvSpPr>
          <p:cNvPr id="13" name="card-79"/>
          <p:cNvSpPr/>
          <p:nvPr/>
        </p:nvSpPr>
        <p:spPr>
          <a:xfrm>
            <a:off x="548640" y="4882896"/>
            <a:ext cx="2514600" cy="914400"/>
          </a:xfrm>
          <a:prstGeom prst="roundRect">
            <a:avLst>
              <a:gd name="adj" fmla="val 8000"/>
            </a:avLst>
          </a:prstGeom>
          <a:solidFill>
            <a:schemeClr val="bg2"/>
          </a:solidFill>
          <a:ln w="12700">
            <a:solidFill>
              <a:schemeClr val="bg2"/>
            </a:solidFill>
            <a:prstDash val="solid"/>
          </a:ln>
        </p:spPr>
      </p:sp>
      <p:sp>
        <p:nvSpPr>
          <p:cNvPr id="14" name="text-80"/>
          <p:cNvSpPr txBox="1"/>
          <p:nvPr/>
        </p:nvSpPr>
        <p:spPr>
          <a:xfrm>
            <a:off x="731520" y="4956048"/>
            <a:ext cx="2194560" cy="502920"/>
          </a:xfrm>
          <a:prstGeom prst="rect">
            <a:avLst/>
          </a:prstGeom>
          <a:noFill/>
          <a:ln/>
        </p:spPr>
        <p:txBody>
          <a:bodyPr wrap="square" lIns="0" tIns="0" rIns="0" bIns="0" rtlCol="0" anchor="t"/>
          <a:lstStyle/>
          <a:p>
            <a:pPr indent="0" marL="0">
              <a:buNone/>
            </a:pPr>
            <a:r>
              <a:rPr lang="en-US" sz="2600" b="1" dirty="0">
                <a:solidFill>
                  <a:schemeClr val="tx2"/>
                </a:solidFill>
              </a:rPr>
              <a:t>956</a:t>
            </a:r>
            <a:endParaRPr lang="en-US" sz="2600" dirty="0"/>
          </a:p>
        </p:txBody>
      </p:sp>
      <p:sp>
        <p:nvSpPr>
          <p:cNvPr id="15" name="text-81"/>
          <p:cNvSpPr txBox="1"/>
          <p:nvPr/>
        </p:nvSpPr>
        <p:spPr>
          <a:xfrm>
            <a:off x="731520" y="5431536"/>
            <a:ext cx="2194560" cy="320040"/>
          </a:xfrm>
          <a:prstGeom prst="rect">
            <a:avLst/>
          </a:prstGeom>
          <a:noFill/>
          <a:ln/>
        </p:spPr>
        <p:txBody>
          <a:bodyPr wrap="square" lIns="0" tIns="0" rIns="0" bIns="0" rtlCol="0" anchor="t"/>
          <a:lstStyle/>
          <a:p>
            <a:pPr indent="0" marL="0">
              <a:buNone/>
            </a:pPr>
            <a:r>
              <a:rPr lang="en-US" sz="1300" dirty="0">
                <a:solidFill>
                  <a:schemeClr val="accent5"/>
                </a:solidFill>
              </a:rPr>
              <a:t>bad lines rejected with a reason</a:t>
            </a:r>
            <a:endParaRPr lang="en-US" sz="1300" dirty="0"/>
          </a:p>
        </p:txBody>
      </p:sp>
      <p:graphicFrame>
        <p:nvGraphicFramePr>
          <p:cNvPr id="7" name="table-82"/>
          <p:cNvGraphicFramePr>
            <a:graphicFrameLocks noGrp="1"/>
          </p:cNvGraphicFramePr>
          <p:nvPr>
            <p:extLst>
              <p:ext uri="{D42A27DB-BD31-4B8C-83A1-F6EECF244321}">
                <p14:modId xmlns:p14="http://schemas.microsoft.com/office/powerpoint/2010/main" val="1579011935"/>
              </p:ext>
            </p:extLst>
          </p:nvPr>
        </p:nvGraphicFramePr>
        <p:xfrm>
          <a:off x="3337560" y="1645920"/>
          <a:ext cx="8305495" cy="914400"/>
        </p:xfrm>
        <a:graphic>
          <a:graphicData uri="http://schemas.openxmlformats.org/drawingml/2006/table">
            <a:tbl>
              <a:tblPr/>
              <a:tblGrid>
                <a:gridCol w="3291840"/>
                <a:gridCol w="5013655"/>
              </a:tblGrid>
              <a:tr h="384048">
                <a:tc>
                  <a:txBody>
                    <a:bodyPr/>
                    <a:lstStyle/>
                    <a:p>
                      <a:pPr indent="0" marL="0">
                        <a:buNone/>
                      </a:pPr>
                      <a:r>
                        <a:rPr lang="en-US" sz="1300" b="1" dirty="0">
                          <a:solidFill>
                            <a:schemeClr val="tx2"/>
                          </a:solidFill>
                        </a:rPr>
                        <a:t>What the data does</a:t>
                      </a:r>
                      <a:endParaRPr lang="en-US" sz="13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solidFill>
                      <a:schemeClr val="accent6"/>
                    </a:solidFill>
                  </a:tcPr>
                </a:tc>
                <a:tc>
                  <a:txBody>
                    <a:bodyPr/>
                    <a:lstStyle/>
                    <a:p>
                      <a:pPr indent="0" marL="0">
                        <a:buNone/>
                      </a:pPr>
                      <a:r>
                        <a:rPr lang="en-US" sz="1300" b="1" dirty="0">
                          <a:solidFill>
                            <a:schemeClr val="tx2"/>
                          </a:solidFill>
                        </a:rPr>
                        <a:t>How Triage handles it</a:t>
                      </a:r>
                      <a:endParaRPr lang="en-US" sz="13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solidFill>
                      <a:schemeClr val="accent6"/>
                    </a:solidFill>
                  </a:tcPr>
                </a:tc>
              </a:tr>
              <a:tr h="658368">
                <a:tc>
                  <a:txBody>
                    <a:bodyPr/>
                    <a:lstStyle/>
                    <a:p>
                      <a:pPr indent="0" marL="0">
                        <a:buNone/>
                      </a:pPr>
                      <a:r>
                        <a:rPr lang="en-US" sz="1300" dirty="0">
                          <a:solidFill>
                            <a:schemeClr val="tx1"/>
                          </a:solidFill>
                        </a:rPr>
                        <a:t>Duplicates: webhook retries, same email in two mailboxes</a:t>
                      </a:r>
                      <a:endParaRPr lang="en-US" sz="13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300" dirty="0">
                          <a:solidFill>
                            <a:schemeClr val="tx1"/>
                          </a:solidFill>
                        </a:rPr>
                        <a:t>Checked at three levels (file, exact copy, same event), so reloading changes nothing</a:t>
                      </a:r>
                      <a:endParaRPr lang="en-US" sz="13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658368">
                <a:tc>
                  <a:txBody>
                    <a:bodyPr/>
                    <a:lstStyle/>
                    <a:p>
                      <a:pPr indent="0" marL="0">
                        <a:buNone/>
                      </a:pPr>
                      <a:r>
                        <a:rPr lang="en-US" sz="1300" dirty="0">
                          <a:solidFill>
                            <a:schemeClr val="tx1"/>
                          </a:solidFill>
                        </a:rPr>
                        <a:t>Late and out-of-order data (2-week telemetry outage backfilled)</a:t>
                      </a:r>
                      <a:endParaRPr lang="en-US" sz="13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300" dirty="0">
                          <a:solidFill>
                            <a:schemeClr val="tx1"/>
                          </a:solidFill>
                        </a:rPr>
                        <a:t>Every record keeps when it arrived; a score only uses data that had arrived by its date</a:t>
                      </a:r>
                      <a:endParaRPr lang="en-US" sz="13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548640">
                <a:tc>
                  <a:txBody>
                    <a:bodyPr/>
                    <a:lstStyle/>
                    <a:p>
                      <a:pPr indent="0" marL="0">
                        <a:buNone/>
                      </a:pPr>
                      <a:r>
                        <a:rPr lang="en-US" sz="1300" dirty="0">
                          <a:solidFill>
                            <a:schemeClr val="tx1"/>
                          </a:solidFill>
                        </a:rPr>
                        <a:t>5 timestamp conventions, 3 schema changes</a:t>
                      </a:r>
                      <a:endParaRPr lang="en-US" sz="13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300" dirty="0">
                          <a:solidFill>
                            <a:schemeClr val="tx1"/>
                          </a:solidFill>
                        </a:rPr>
                        <a:t>Each source is converted to one time zone (UTC) and one format</a:t>
                      </a:r>
                      <a:endParaRPr lang="en-US" sz="13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777240">
                <a:tc>
                  <a:txBody>
                    <a:bodyPr/>
                    <a:lstStyle/>
                    <a:p>
                      <a:pPr indent="0" marL="0">
                        <a:buNone/>
                      </a:pPr>
                      <a:r>
                        <a:rPr lang="en-US" sz="1300" dirty="0">
                          <a:solidFill>
                            <a:schemeClr val="tx1"/>
                          </a:solidFill>
                        </a:rPr>
                        <a:t>IDs that don't match across systems</a:t>
                      </a:r>
                      <a:endParaRPr lang="en-US" sz="13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300" dirty="0">
                          <a:solidFill>
                            <a:schemeClr val="tx1"/>
                          </a:solidFill>
                        </a:rPr>
                        <a:t>Matched by ID, then email, then domain, then a close name match; if unsure, left for review. 2 wrong out of ~14k checked</a:t>
                      </a:r>
                      <a:endParaRPr lang="en-US" sz="13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548640">
                <a:tc>
                  <a:txBody>
                    <a:bodyPr/>
                    <a:lstStyle/>
                    <a:p>
                      <a:pPr indent="0" marL="0">
                        <a:buNone/>
                      </a:pPr>
                      <a:r>
                        <a:rPr lang="en-US" sz="1300" dirty="0">
                          <a:solidFill>
                            <a:schemeClr val="tx1"/>
                          </a:solidFill>
                        </a:rPr>
                        <a:t>Stale CRM renewal dates (~15%)</a:t>
                      </a:r>
                      <a:endParaRPr lang="en-US" sz="13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300" dirty="0">
                          <a:solidFill>
                            <a:schemeClr val="tx1"/>
                          </a:solidFill>
                        </a:rPr>
                        <a:t>Fall back to contract anniversary, flagged in the UI</a:t>
                      </a:r>
                      <a:endParaRPr lang="en-US" sz="13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548640">
                <a:tc>
                  <a:txBody>
                    <a:bodyPr/>
                    <a:lstStyle/>
                    <a:p>
                      <a:pPr indent="0" marL="0">
                        <a:buNone/>
                      </a:pPr>
                      <a:r>
                        <a:rPr lang="en-US" sz="1300" dirty="0">
                          <a:solidFill>
                            <a:schemeClr val="tx1"/>
                          </a:solidFill>
                        </a:rPr>
                        <a:t>Sparse accounts with no usage or contact</a:t>
                      </a:r>
                      <a:endParaRPr lang="en-US" sz="13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300" dirty="0">
                          <a:solidFill>
                            <a:schemeClr val="tx1"/>
                          </a:solidFill>
                        </a:rPr>
                        <a:t>Shown as Grey (can't see), never scored as healthy</a:t>
                      </a:r>
                      <a:endParaRPr lang="en-US" sz="13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rPr>
              <a:t>Data model</a:t>
            </a: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lIns="0" tIns="0" rIns="0" bIns="0" rtlCol="0" anchor="t"/>
          <a:lstStyle/>
          <a:p>
            <a:pPr algn="l" indent="0" marL="0">
              <a:buNone/>
            </a:pPr>
            <a:r>
              <a:rPr lang="en-US" sz="1600" dirty="0">
                <a:solidFill>
                  <a:schemeClr val="accent5"/>
                </a:solidFill>
              </a:rPr>
              <a:t>26 tables in five layers. Every row is tagged with its company; history is added to, never overwritten</a:t>
            </a:r>
            <a:endParaRPr lang="en-US" sz="1600" dirty="0"/>
          </a:p>
        </p:txBody>
      </p:sp>
      <p:sp>
        <p:nvSpPr>
          <p:cNvPr id="4" name="card-83"/>
          <p:cNvSpPr/>
          <p:nvPr/>
        </p:nvSpPr>
        <p:spPr>
          <a:xfrm>
            <a:off x="548640" y="1691640"/>
            <a:ext cx="2057400" cy="2651760"/>
          </a:xfrm>
          <a:prstGeom prst="roundRect">
            <a:avLst>
              <a:gd name="adj" fmla="val 3556"/>
            </a:avLst>
          </a:prstGeom>
          <a:solidFill>
            <a:schemeClr val="bg2"/>
          </a:solidFill>
          <a:ln w="12700">
            <a:solidFill>
              <a:schemeClr val="bg2"/>
            </a:solidFill>
            <a:prstDash val="solid"/>
          </a:ln>
        </p:spPr>
      </p:sp>
      <p:sp>
        <p:nvSpPr>
          <p:cNvPr id="5" name="text-84"/>
          <p:cNvSpPr txBox="1"/>
          <p:nvPr/>
        </p:nvSpPr>
        <p:spPr>
          <a:xfrm>
            <a:off x="713232" y="1828800"/>
            <a:ext cx="1728216" cy="365760"/>
          </a:xfrm>
          <a:prstGeom prst="rect">
            <a:avLst/>
          </a:prstGeom>
          <a:noFill/>
          <a:ln/>
        </p:spPr>
        <p:txBody>
          <a:bodyPr wrap="square" lIns="0" tIns="0" rIns="0" bIns="0" rtlCol="0" anchor="t"/>
          <a:lstStyle/>
          <a:p>
            <a:pPr indent="0" marL="0">
              <a:buNone/>
            </a:pPr>
            <a:r>
              <a:rPr lang="en-US" sz="1600" b="1" dirty="0">
                <a:solidFill>
                  <a:schemeClr val="tx2"/>
                </a:solidFill>
              </a:rPr>
              <a:t>Raw</a:t>
            </a:r>
            <a:endParaRPr lang="en-US" sz="1600" dirty="0"/>
          </a:p>
        </p:txBody>
      </p:sp>
      <p:sp>
        <p:nvSpPr>
          <p:cNvPr id="6" name="text-85"/>
          <p:cNvSpPr txBox="1"/>
          <p:nvPr/>
        </p:nvSpPr>
        <p:spPr>
          <a:xfrm>
            <a:off x="713232" y="2240280"/>
            <a:ext cx="1728216" cy="19659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landing_files</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raw_records (sha256)</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rejected_records</a:t>
            </a:r>
            <a:endParaRPr lang="en-US" sz="1300" dirty="0"/>
          </a:p>
        </p:txBody>
      </p:sp>
      <p:sp>
        <p:nvSpPr>
          <p:cNvPr id="7" name="arrow-86"/>
          <p:cNvSpPr/>
          <p:nvPr/>
        </p:nvSpPr>
        <p:spPr>
          <a:xfrm>
            <a:off x="2624328" y="3017520"/>
            <a:ext cx="165278" cy="0"/>
          </a:xfrm>
          <a:prstGeom prst="line">
            <a:avLst/>
          </a:prstGeom>
          <a:noFill/>
          <a:ln w="19050">
            <a:solidFill>
              <a:schemeClr val="accent5"/>
            </a:solidFill>
            <a:prstDash val="solid"/>
            <a:tailEnd type="triangle"/>
          </a:ln>
        </p:spPr>
      </p:sp>
      <p:sp>
        <p:nvSpPr>
          <p:cNvPr id="8" name="card-87"/>
          <p:cNvSpPr/>
          <p:nvPr/>
        </p:nvSpPr>
        <p:spPr>
          <a:xfrm>
            <a:off x="2807894" y="1691640"/>
            <a:ext cx="2057400" cy="2651760"/>
          </a:xfrm>
          <a:prstGeom prst="roundRect">
            <a:avLst>
              <a:gd name="adj" fmla="val 3556"/>
            </a:avLst>
          </a:prstGeom>
          <a:solidFill>
            <a:schemeClr val="bg2"/>
          </a:solidFill>
          <a:ln w="12700">
            <a:solidFill>
              <a:schemeClr val="bg2"/>
            </a:solidFill>
            <a:prstDash val="solid"/>
          </a:ln>
        </p:spPr>
      </p:sp>
      <p:sp>
        <p:nvSpPr>
          <p:cNvPr id="9" name="text-88"/>
          <p:cNvSpPr txBox="1"/>
          <p:nvPr/>
        </p:nvSpPr>
        <p:spPr>
          <a:xfrm>
            <a:off x="2972486" y="1828800"/>
            <a:ext cx="1728216" cy="365760"/>
          </a:xfrm>
          <a:prstGeom prst="rect">
            <a:avLst/>
          </a:prstGeom>
          <a:noFill/>
          <a:ln/>
        </p:spPr>
        <p:txBody>
          <a:bodyPr wrap="square" lIns="0" tIns="0" rIns="0" bIns="0" rtlCol="0" anchor="t"/>
          <a:lstStyle/>
          <a:p>
            <a:pPr indent="0" marL="0">
              <a:buNone/>
            </a:pPr>
            <a:r>
              <a:rPr lang="en-US" sz="1600" b="1" dirty="0">
                <a:solidFill>
                  <a:schemeClr val="tx2"/>
                </a:solidFill>
              </a:rPr>
              <a:t>Normalised</a:t>
            </a:r>
            <a:endParaRPr lang="en-US" sz="1600" dirty="0"/>
          </a:p>
        </p:txBody>
      </p:sp>
      <p:sp>
        <p:nvSpPr>
          <p:cNvPr id="10" name="text-89"/>
          <p:cNvSpPr txBox="1"/>
          <p:nvPr/>
        </p:nvSpPr>
        <p:spPr>
          <a:xfrm>
            <a:off x="2972486" y="2240280"/>
            <a:ext cx="1728216" cy="19659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crm_account_versions</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accounts · crm_contacts</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crm_opportunities</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tickets · emails</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usage_weekly</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billing_events</a:t>
            </a:r>
            <a:endParaRPr lang="en-US" sz="1300" dirty="0"/>
          </a:p>
        </p:txBody>
      </p:sp>
      <p:sp>
        <p:nvSpPr>
          <p:cNvPr id="11" name="arrow-90"/>
          <p:cNvSpPr/>
          <p:nvPr/>
        </p:nvSpPr>
        <p:spPr>
          <a:xfrm>
            <a:off x="4883582" y="3017520"/>
            <a:ext cx="165278" cy="0"/>
          </a:xfrm>
          <a:prstGeom prst="line">
            <a:avLst/>
          </a:prstGeom>
          <a:noFill/>
          <a:ln w="19050">
            <a:solidFill>
              <a:schemeClr val="accent5"/>
            </a:solidFill>
            <a:prstDash val="solid"/>
            <a:tailEnd type="triangle"/>
          </a:ln>
        </p:spPr>
      </p:sp>
      <p:sp>
        <p:nvSpPr>
          <p:cNvPr id="12" name="card-91"/>
          <p:cNvSpPr/>
          <p:nvPr/>
        </p:nvSpPr>
        <p:spPr>
          <a:xfrm>
            <a:off x="5067148" y="1691640"/>
            <a:ext cx="2057400" cy="2651760"/>
          </a:xfrm>
          <a:prstGeom prst="roundRect">
            <a:avLst>
              <a:gd name="adj" fmla="val 3556"/>
            </a:avLst>
          </a:prstGeom>
          <a:solidFill>
            <a:schemeClr val="bg2"/>
          </a:solidFill>
          <a:ln w="12700">
            <a:solidFill>
              <a:schemeClr val="bg2"/>
            </a:solidFill>
            <a:prstDash val="solid"/>
          </a:ln>
        </p:spPr>
      </p:sp>
      <p:sp>
        <p:nvSpPr>
          <p:cNvPr id="13" name="text-92"/>
          <p:cNvSpPr txBox="1"/>
          <p:nvPr/>
        </p:nvSpPr>
        <p:spPr>
          <a:xfrm>
            <a:off x="5231740" y="1828800"/>
            <a:ext cx="1728216" cy="365760"/>
          </a:xfrm>
          <a:prstGeom prst="rect">
            <a:avLst/>
          </a:prstGeom>
          <a:noFill/>
          <a:ln/>
        </p:spPr>
        <p:txBody>
          <a:bodyPr wrap="square" lIns="0" tIns="0" rIns="0" bIns="0" rtlCol="0" anchor="t"/>
          <a:lstStyle/>
          <a:p>
            <a:pPr indent="0" marL="0">
              <a:buNone/>
            </a:pPr>
            <a:r>
              <a:rPr lang="en-US" sz="1600" b="1" dirty="0">
                <a:solidFill>
                  <a:schemeClr val="tx2"/>
                </a:solidFill>
              </a:rPr>
              <a:t>Identity</a:t>
            </a:r>
            <a:endParaRPr lang="en-US" sz="1600" dirty="0"/>
          </a:p>
        </p:txBody>
      </p:sp>
      <p:sp>
        <p:nvSpPr>
          <p:cNvPr id="14" name="text-93"/>
          <p:cNvSpPr txBox="1"/>
          <p:nvPr/>
        </p:nvSpPr>
        <p:spPr>
          <a:xfrm>
            <a:off x="5231740" y="2240280"/>
            <a:ext cx="1728216" cy="19659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identity_links</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method + confidence</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 evidence per link</a:t>
            </a:r>
            <a:endParaRPr lang="en-US" sz="1300" dirty="0"/>
          </a:p>
        </p:txBody>
      </p:sp>
      <p:sp>
        <p:nvSpPr>
          <p:cNvPr id="15" name="arrow-94"/>
          <p:cNvSpPr/>
          <p:nvPr/>
        </p:nvSpPr>
        <p:spPr>
          <a:xfrm>
            <a:off x="7142836" y="3017520"/>
            <a:ext cx="165278" cy="0"/>
          </a:xfrm>
          <a:prstGeom prst="line">
            <a:avLst/>
          </a:prstGeom>
          <a:noFill/>
          <a:ln w="19050">
            <a:solidFill>
              <a:schemeClr val="accent5"/>
            </a:solidFill>
            <a:prstDash val="solid"/>
            <a:tailEnd type="triangle"/>
          </a:ln>
        </p:spPr>
      </p:sp>
      <p:sp>
        <p:nvSpPr>
          <p:cNvPr id="16" name="card-95"/>
          <p:cNvSpPr/>
          <p:nvPr/>
        </p:nvSpPr>
        <p:spPr>
          <a:xfrm>
            <a:off x="7326401" y="1691640"/>
            <a:ext cx="2057400" cy="2651760"/>
          </a:xfrm>
          <a:prstGeom prst="roundRect">
            <a:avLst>
              <a:gd name="adj" fmla="val 3556"/>
            </a:avLst>
          </a:prstGeom>
          <a:solidFill>
            <a:schemeClr val="tx2"/>
          </a:solidFill>
          <a:ln w="12700">
            <a:solidFill>
              <a:schemeClr val="tx2"/>
            </a:solidFill>
            <a:prstDash val="solid"/>
          </a:ln>
        </p:spPr>
      </p:sp>
      <p:sp>
        <p:nvSpPr>
          <p:cNvPr id="17" name="text-96"/>
          <p:cNvSpPr txBox="1"/>
          <p:nvPr/>
        </p:nvSpPr>
        <p:spPr>
          <a:xfrm>
            <a:off x="7490993" y="1828800"/>
            <a:ext cx="1728216" cy="365760"/>
          </a:xfrm>
          <a:prstGeom prst="rect">
            <a:avLst/>
          </a:prstGeom>
          <a:noFill/>
          <a:ln/>
        </p:spPr>
        <p:txBody>
          <a:bodyPr wrap="square" lIns="0" tIns="0" rIns="0" bIns="0" rtlCol="0" anchor="t"/>
          <a:lstStyle/>
          <a:p>
            <a:pPr indent="0" marL="0">
              <a:buNone/>
            </a:pPr>
            <a:r>
              <a:rPr lang="en-US" sz="1600" b="1" dirty="0">
                <a:solidFill>
                  <a:schemeClr val="accent1"/>
                </a:solidFill>
              </a:rPr>
              <a:t>Decisions</a:t>
            </a:r>
            <a:endParaRPr lang="en-US" sz="1600" dirty="0"/>
          </a:p>
        </p:txBody>
      </p:sp>
      <p:sp>
        <p:nvSpPr>
          <p:cNvPr id="18" name="text-97"/>
          <p:cNvSpPr txBox="1"/>
          <p:nvPr/>
        </p:nvSpPr>
        <p:spPr>
          <a:xfrm>
            <a:off x="7490993" y="2240280"/>
            <a:ext cx="1728216" cy="19659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models</a:t>
            </a:r>
            <a:endParaRPr lang="en-US" sz="1300" dirty="0"/>
          </a:p>
          <a:p>
            <a:pPr indent="0" marL="0">
              <a:buNone/>
            </a:pPr>
            <a:r>
              <a:rPr lang="en-US" sz="1300" dirty="0">
                <a:solidFill>
                  <a:schemeClr val="bg1"/>
                </a:solidFill>
                <a:latin typeface="Calibri" pitchFamily="34" charset="0"/>
                <a:ea typeface="Calibri" pitchFamily="34" charset="-122"/>
                <a:cs typeface="Calibri" pitchFamily="34" charset="-120"/>
              </a:rPr>
              <a:t>agent_runs (steps, heartbeat)</a:t>
            </a:r>
            <a:endParaRPr lang="en-US" sz="1300" dirty="0"/>
          </a:p>
          <a:p>
            <a:pPr indent="0" marL="0">
              <a:buNone/>
            </a:pPr>
            <a:r>
              <a:rPr lang="en-US" sz="1300" dirty="0">
                <a:solidFill>
                  <a:schemeClr val="bg1"/>
                </a:solidFill>
                <a:latin typeface="Calibri" pitchFamily="34" charset="0"/>
                <a:ea typeface="Calibri" pitchFamily="34" charset="-122"/>
                <a:cs typeface="Calibri" pitchFamily="34" charset="-120"/>
              </a:rPr>
              <a:t>feature_snapshots</a:t>
            </a:r>
            <a:endParaRPr lang="en-US" sz="1300" dirty="0"/>
          </a:p>
          <a:p>
            <a:pPr indent="0" marL="0">
              <a:buNone/>
            </a:pPr>
            <a:r>
              <a:rPr lang="en-US" sz="1300" dirty="0">
                <a:solidFill>
                  <a:schemeClr val="bg1"/>
                </a:solidFill>
                <a:latin typeface="Calibri" pitchFamily="34" charset="0"/>
                <a:ea typeface="Calibri" pitchFamily="34" charset="-122"/>
                <a:cs typeface="Calibri" pitchFamily="34" charset="-120"/>
              </a:rPr>
              <a:t>account_scores</a:t>
            </a:r>
            <a:endParaRPr lang="en-US" sz="1300" dirty="0"/>
          </a:p>
          <a:p>
            <a:pPr indent="0" marL="0">
              <a:buNone/>
            </a:pPr>
            <a:r>
              <a:rPr lang="en-US" sz="1300" dirty="0">
                <a:solidFill>
                  <a:schemeClr val="bg1"/>
                </a:solidFill>
                <a:latin typeface="Calibri" pitchFamily="34" charset="0"/>
                <a:ea typeface="Calibri" pitchFamily="34" charset="-122"/>
                <a:cs typeface="Calibri" pitchFamily="34" charset="-120"/>
              </a:rPr>
              <a:t>briefs · outreach_drafts</a:t>
            </a:r>
            <a:endParaRPr lang="en-US" sz="1300" dirty="0"/>
          </a:p>
        </p:txBody>
      </p:sp>
      <p:sp>
        <p:nvSpPr>
          <p:cNvPr id="19" name="arrow-98"/>
          <p:cNvSpPr/>
          <p:nvPr/>
        </p:nvSpPr>
        <p:spPr>
          <a:xfrm>
            <a:off x="9402089" y="3017520"/>
            <a:ext cx="165278" cy="0"/>
          </a:xfrm>
          <a:prstGeom prst="line">
            <a:avLst/>
          </a:prstGeom>
          <a:noFill/>
          <a:ln w="19050">
            <a:solidFill>
              <a:schemeClr val="accent5"/>
            </a:solidFill>
            <a:prstDash val="solid"/>
            <a:tailEnd type="triangle"/>
          </a:ln>
        </p:spPr>
      </p:sp>
      <p:sp>
        <p:nvSpPr>
          <p:cNvPr id="20" name="card-99"/>
          <p:cNvSpPr/>
          <p:nvPr/>
        </p:nvSpPr>
        <p:spPr>
          <a:xfrm>
            <a:off x="9585655" y="1691640"/>
            <a:ext cx="2057400" cy="2651760"/>
          </a:xfrm>
          <a:prstGeom prst="roundRect">
            <a:avLst>
              <a:gd name="adj" fmla="val 3556"/>
            </a:avLst>
          </a:prstGeom>
          <a:solidFill>
            <a:schemeClr val="bg2"/>
          </a:solidFill>
          <a:ln w="12700">
            <a:solidFill>
              <a:schemeClr val="bg2"/>
            </a:solidFill>
            <a:prstDash val="solid"/>
          </a:ln>
        </p:spPr>
      </p:sp>
      <p:sp>
        <p:nvSpPr>
          <p:cNvPr id="21" name="text-100"/>
          <p:cNvSpPr txBox="1"/>
          <p:nvPr/>
        </p:nvSpPr>
        <p:spPr>
          <a:xfrm>
            <a:off x="9750247" y="1828800"/>
            <a:ext cx="1728216" cy="365760"/>
          </a:xfrm>
          <a:prstGeom prst="rect">
            <a:avLst/>
          </a:prstGeom>
          <a:noFill/>
          <a:ln/>
        </p:spPr>
        <p:txBody>
          <a:bodyPr wrap="square" lIns="0" tIns="0" rIns="0" bIns="0" rtlCol="0" anchor="t"/>
          <a:lstStyle/>
          <a:p>
            <a:pPr indent="0" marL="0">
              <a:buNone/>
            </a:pPr>
            <a:r>
              <a:rPr lang="en-US" sz="1600" b="1" dirty="0">
                <a:solidFill>
                  <a:schemeClr val="tx2"/>
                </a:solidFill>
              </a:rPr>
              <a:t>Audit</a:t>
            </a:r>
            <a:endParaRPr lang="en-US" sz="1600" dirty="0"/>
          </a:p>
        </p:txBody>
      </p:sp>
      <p:sp>
        <p:nvSpPr>
          <p:cNvPr id="22" name="text-101"/>
          <p:cNvSpPr txBox="1"/>
          <p:nvPr/>
        </p:nvSpPr>
        <p:spPr>
          <a:xfrm>
            <a:off x="9750247" y="2240280"/>
            <a:ext cx="1728216" cy="19659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audit_log (who did what)</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api_requests (user, trace_id, latency)</a:t>
            </a:r>
            <a:endParaRPr lang="en-US" sz="1300" dirty="0"/>
          </a:p>
        </p:txBody>
      </p:sp>
      <p:sp>
        <p:nvSpPr>
          <p:cNvPr id="23" name="badge-102"/>
          <p:cNvSpPr/>
          <p:nvPr/>
        </p:nvSpPr>
        <p:spPr>
          <a:xfrm>
            <a:off x="548640" y="4617720"/>
            <a:ext cx="384048" cy="384048"/>
          </a:xfrm>
          <a:prstGeom prst="ellipse">
            <a:avLst/>
          </a:prstGeom>
          <a:solidFill>
            <a:schemeClr val="accent1"/>
          </a:solidFill>
          <a:ln w="12700">
            <a:solidFill>
              <a:schemeClr val="accent1"/>
            </a:solidFill>
            <a:prstDash val="solid"/>
          </a:ln>
        </p:spPr>
      </p:sp>
      <p:sp>
        <p:nvSpPr>
          <p:cNvPr id="24" name="badgetext-103"/>
          <p:cNvSpPr txBox="1"/>
          <p:nvPr/>
        </p:nvSpPr>
        <p:spPr>
          <a:xfrm>
            <a:off x="548640" y="461772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25" name="text-104"/>
          <p:cNvSpPr txBox="1"/>
          <p:nvPr/>
        </p:nvSpPr>
        <p:spPr>
          <a:xfrm>
            <a:off x="1051560" y="4617720"/>
            <a:ext cx="3108960" cy="384048"/>
          </a:xfrm>
          <a:prstGeom prst="rect">
            <a:avLst/>
          </a:prstGeom>
          <a:noFill/>
          <a:ln/>
        </p:spPr>
        <p:txBody>
          <a:bodyPr wrap="square" lIns="0" tIns="0" rIns="0" bIns="0" rtlCol="0" anchor="ctr"/>
          <a:lstStyle/>
          <a:p>
            <a:pPr indent="0" marL="0">
              <a:buNone/>
            </a:pPr>
            <a:r>
              <a:rPr lang="en-US" sz="1500" b="1" dirty="0">
                <a:solidFill>
                  <a:schemeClr val="tx2"/>
                </a:solidFill>
              </a:rPr>
              <a:t>Replayable</a:t>
            </a:r>
            <a:endParaRPr lang="en-US" sz="1500" dirty="0"/>
          </a:p>
        </p:txBody>
      </p:sp>
      <p:sp>
        <p:nvSpPr>
          <p:cNvPr id="26" name="text-105"/>
          <p:cNvSpPr txBox="1"/>
          <p:nvPr/>
        </p:nvSpPr>
        <p:spPr>
          <a:xfrm>
            <a:off x="1051560" y="5029200"/>
            <a:ext cx="3154680" cy="1005840"/>
          </a:xfrm>
          <a:prstGeom prst="rect">
            <a:avLst/>
          </a:prstGeom>
          <a:noFill/>
          <a:ln/>
        </p:spPr>
        <p:txBody>
          <a:bodyPr wrap="square" lIns="0" tIns="0" rIns="0" bIns="0" rtlCol="0" anchor="t"/>
          <a:lstStyle/>
          <a:p>
            <a:pPr indent="0" marL="0">
              <a:buNone/>
            </a:pPr>
            <a:r>
              <a:rPr lang="en-US" sz="1300" dirty="0">
                <a:solidFill>
                  <a:schemeClr val="tx1"/>
                </a:solidFill>
              </a:rPr>
              <a:t>Every record keeps when it happened and when it arrived; CRM changes are kept as versions</a:t>
            </a:r>
            <a:endParaRPr lang="en-US" sz="1300" dirty="0"/>
          </a:p>
        </p:txBody>
      </p:sp>
      <p:sp>
        <p:nvSpPr>
          <p:cNvPr id="27" name="badge-106"/>
          <p:cNvSpPr/>
          <p:nvPr/>
        </p:nvSpPr>
        <p:spPr>
          <a:xfrm>
            <a:off x="4325112" y="4617720"/>
            <a:ext cx="384048" cy="384048"/>
          </a:xfrm>
          <a:prstGeom prst="ellipse">
            <a:avLst/>
          </a:prstGeom>
          <a:solidFill>
            <a:schemeClr val="accent1"/>
          </a:solidFill>
          <a:ln w="12700">
            <a:solidFill>
              <a:schemeClr val="accent1"/>
            </a:solidFill>
            <a:prstDash val="solid"/>
          </a:ln>
        </p:spPr>
      </p:sp>
      <p:sp>
        <p:nvSpPr>
          <p:cNvPr id="28" name="badgetext-107"/>
          <p:cNvSpPr txBox="1"/>
          <p:nvPr/>
        </p:nvSpPr>
        <p:spPr>
          <a:xfrm>
            <a:off x="4325112" y="461772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29" name="text-108"/>
          <p:cNvSpPr txBox="1"/>
          <p:nvPr/>
        </p:nvSpPr>
        <p:spPr>
          <a:xfrm>
            <a:off x="4828032" y="4617720"/>
            <a:ext cx="3108960" cy="384048"/>
          </a:xfrm>
          <a:prstGeom prst="rect">
            <a:avLst/>
          </a:prstGeom>
          <a:noFill/>
          <a:ln/>
        </p:spPr>
        <p:txBody>
          <a:bodyPr wrap="square" lIns="0" tIns="0" rIns="0" bIns="0" rtlCol="0" anchor="ctr"/>
          <a:lstStyle/>
          <a:p>
            <a:pPr indent="0" marL="0">
              <a:buNone/>
            </a:pPr>
            <a:r>
              <a:rPr lang="en-US" sz="1500" b="1" dirty="0">
                <a:solidFill>
                  <a:schemeClr val="tx2"/>
                </a:solidFill>
              </a:rPr>
              <a:t>Reproducible</a:t>
            </a:r>
            <a:endParaRPr lang="en-US" sz="1500" dirty="0"/>
          </a:p>
        </p:txBody>
      </p:sp>
      <p:sp>
        <p:nvSpPr>
          <p:cNvPr id="30" name="text-109"/>
          <p:cNvSpPr txBox="1"/>
          <p:nvPr/>
        </p:nvSpPr>
        <p:spPr>
          <a:xfrm>
            <a:off x="4828032" y="5029200"/>
            <a:ext cx="3154680" cy="1005840"/>
          </a:xfrm>
          <a:prstGeom prst="rect">
            <a:avLst/>
          </a:prstGeom>
          <a:noFill/>
          <a:ln/>
        </p:spPr>
        <p:txBody>
          <a:bodyPr wrap="square" lIns="0" tIns="0" rIns="0" bIns="0" rtlCol="0" anchor="t"/>
          <a:lstStyle/>
          <a:p>
            <a:pPr indent="0" marL="0">
              <a:buNone/>
            </a:pPr>
            <a:r>
              <a:rPr lang="en-US" sz="1300" dirty="0">
                <a:solidFill>
                  <a:schemeClr val="tx1"/>
                </a:solidFill>
              </a:rPr>
              <a:t>Each score records which run and model version produced it, and the exact inputs used</a:t>
            </a:r>
            <a:endParaRPr lang="en-US" sz="1300" dirty="0"/>
          </a:p>
        </p:txBody>
      </p:sp>
      <p:sp>
        <p:nvSpPr>
          <p:cNvPr id="31" name="badge-110"/>
          <p:cNvSpPr/>
          <p:nvPr/>
        </p:nvSpPr>
        <p:spPr>
          <a:xfrm>
            <a:off x="8101584" y="4617720"/>
            <a:ext cx="384048" cy="384048"/>
          </a:xfrm>
          <a:prstGeom prst="ellipse">
            <a:avLst/>
          </a:prstGeom>
          <a:solidFill>
            <a:schemeClr val="accent1"/>
          </a:solidFill>
          <a:ln w="12700">
            <a:solidFill>
              <a:schemeClr val="accent1"/>
            </a:solidFill>
            <a:prstDash val="solid"/>
          </a:ln>
        </p:spPr>
      </p:sp>
      <p:sp>
        <p:nvSpPr>
          <p:cNvPr id="32" name="badgetext-111"/>
          <p:cNvSpPr txBox="1"/>
          <p:nvPr/>
        </p:nvSpPr>
        <p:spPr>
          <a:xfrm>
            <a:off x="8101584" y="461772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33" name="text-112"/>
          <p:cNvSpPr txBox="1"/>
          <p:nvPr/>
        </p:nvSpPr>
        <p:spPr>
          <a:xfrm>
            <a:off x="8604504" y="4617720"/>
            <a:ext cx="3108960" cy="384048"/>
          </a:xfrm>
          <a:prstGeom prst="rect">
            <a:avLst/>
          </a:prstGeom>
          <a:noFill/>
          <a:ln/>
        </p:spPr>
        <p:txBody>
          <a:bodyPr wrap="square" lIns="0" tIns="0" rIns="0" bIns="0" rtlCol="0" anchor="ctr"/>
          <a:lstStyle/>
          <a:p>
            <a:pPr indent="0" marL="0">
              <a:buNone/>
            </a:pPr>
            <a:r>
              <a:rPr lang="en-US" sz="1500" b="1" dirty="0">
                <a:solidFill>
                  <a:schemeClr val="tx2"/>
                </a:solidFill>
              </a:rPr>
              <a:t>Isolated</a:t>
            </a:r>
            <a:endParaRPr lang="en-US" sz="1500" dirty="0"/>
          </a:p>
        </p:txBody>
      </p:sp>
      <p:sp>
        <p:nvSpPr>
          <p:cNvPr id="34" name="text-113"/>
          <p:cNvSpPr txBox="1"/>
          <p:nvPr/>
        </p:nvSpPr>
        <p:spPr>
          <a:xfrm>
            <a:off x="8604504" y="5029200"/>
            <a:ext cx="3154680" cy="1005840"/>
          </a:xfrm>
          <a:prstGeom prst="rect">
            <a:avLst/>
          </a:prstGeom>
          <a:noFill/>
          <a:ln/>
        </p:spPr>
        <p:txBody>
          <a:bodyPr wrap="square" lIns="0" tIns="0" rIns="0" bIns="0" rtlCol="0" anchor="t"/>
          <a:lstStyle/>
          <a:p>
            <a:pPr indent="0" marL="0">
              <a:buNone/>
            </a:pPr>
            <a:r>
              <a:rPr lang="en-US" sz="1300" dirty="0">
                <a:solidFill>
                  <a:schemeClr val="tx1"/>
                </a:solidFill>
              </a:rPr>
              <a:t>The database itself hides other companies' rows; if no company is set, it returns nothing</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rPr>
              <a:t>How an account's state is represented</a:t>
            </a: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lIns="0" tIns="0" rIns="0" bIns="0" rtlCol="0" anchor="t"/>
          <a:lstStyle/>
          <a:p>
            <a:pPr algn="l" indent="0" marL="0">
              <a:buNone/>
            </a:pPr>
            <a:r>
              <a:rPr lang="en-US" sz="1600" dirty="0">
                <a:solidFill>
                  <a:schemeClr val="accent5"/>
                </a:solidFill>
              </a:rPr>
              <a:t>State is not a stored status; it is recomputed each run from what was known at that moment</a:t>
            </a:r>
            <a:endParaRPr lang="en-US" sz="1600" dirty="0"/>
          </a:p>
        </p:txBody>
      </p:sp>
      <p:sp>
        <p:nvSpPr>
          <p:cNvPr id="4" name="card-114"/>
          <p:cNvSpPr/>
          <p:nvPr/>
        </p:nvSpPr>
        <p:spPr>
          <a:xfrm>
            <a:off x="548640" y="1645920"/>
            <a:ext cx="5074920" cy="4434840"/>
          </a:xfrm>
          <a:prstGeom prst="roundRect">
            <a:avLst>
              <a:gd name="adj" fmla="val 1649"/>
            </a:avLst>
          </a:prstGeom>
          <a:solidFill>
            <a:schemeClr val="bg2"/>
          </a:solidFill>
          <a:ln w="12700">
            <a:solidFill>
              <a:schemeClr val="bg2"/>
            </a:solidFill>
            <a:prstDash val="solid"/>
          </a:ln>
        </p:spPr>
      </p:sp>
      <p:sp>
        <p:nvSpPr>
          <p:cNvPr id="5" name="text-115"/>
          <p:cNvSpPr txBox="1"/>
          <p:nvPr/>
        </p:nvSpPr>
        <p:spPr>
          <a:xfrm>
            <a:off x="822960" y="1783080"/>
            <a:ext cx="4572000" cy="411480"/>
          </a:xfrm>
          <a:prstGeom prst="rect">
            <a:avLst/>
          </a:prstGeom>
          <a:noFill/>
          <a:ln/>
        </p:spPr>
        <p:txBody>
          <a:bodyPr wrap="square" lIns="0" tIns="0" rIns="0" bIns="0" rtlCol="0" anchor="t"/>
          <a:lstStyle/>
          <a:p>
            <a:pPr indent="0" marL="0">
              <a:buNone/>
            </a:pPr>
            <a:r>
              <a:rPr lang="en-US" sz="1700" b="1" dirty="0">
                <a:solidFill>
                  <a:schemeClr val="tx2"/>
                </a:solidFill>
              </a:rPr>
              <a:t>A snapshot of 24 signals, as of the scoring date</a:t>
            </a:r>
            <a:endParaRPr lang="en-US" sz="1700" dirty="0"/>
          </a:p>
        </p:txBody>
      </p:sp>
      <p:sp>
        <p:nvSpPr>
          <p:cNvPr id="6" name="text-116"/>
          <p:cNvSpPr txBox="1"/>
          <p:nvPr/>
        </p:nvSpPr>
        <p:spPr>
          <a:xfrm>
            <a:off x="822960" y="2194560"/>
            <a:ext cx="4572000" cy="365760"/>
          </a:xfrm>
          <a:prstGeom prst="rect">
            <a:avLst/>
          </a:prstGeom>
          <a:noFill/>
          <a:ln/>
        </p:spPr>
        <p:txBody>
          <a:bodyPr wrap="square" lIns="0" tIns="0" rIns="0" bIns="0" rtlCol="0" anchor="t"/>
          <a:lstStyle/>
          <a:p>
            <a:pPr indent="0" marL="0">
              <a:buNone/>
            </a:pPr>
            <a:r>
              <a:rPr lang="en-US" sz="1300" dirty="0">
                <a:solidFill>
                  <a:schemeClr val="accent5"/>
                </a:solidFill>
              </a:rPr>
              <a:t>Only data that had happened and had arrived by that date: no peeking at the future</a:t>
            </a:r>
            <a:endParaRPr lang="en-US" sz="1300" dirty="0"/>
          </a:p>
        </p:txBody>
      </p:sp>
      <p:sp>
        <p:nvSpPr>
          <p:cNvPr id="7" name="badge-117"/>
          <p:cNvSpPr/>
          <p:nvPr/>
        </p:nvSpPr>
        <p:spPr>
          <a:xfrm>
            <a:off x="822960" y="2734056"/>
            <a:ext cx="384048" cy="384048"/>
          </a:xfrm>
          <a:prstGeom prst="ellipse">
            <a:avLst/>
          </a:prstGeom>
          <a:solidFill>
            <a:schemeClr val="tx2"/>
          </a:solidFill>
          <a:ln w="12700">
            <a:solidFill>
              <a:schemeClr val="tx2"/>
            </a:solidFill>
            <a:prstDash val="solid"/>
          </a:ln>
        </p:spPr>
      </p:sp>
      <p:sp>
        <p:nvSpPr>
          <p:cNvPr id="8" name="badgetext-118"/>
          <p:cNvSpPr txBox="1"/>
          <p:nvPr/>
        </p:nvSpPr>
        <p:spPr>
          <a:xfrm>
            <a:off x="822960" y="27340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9" name="text-119"/>
          <p:cNvSpPr txBox="1"/>
          <p:nvPr/>
        </p:nvSpPr>
        <p:spPr>
          <a:xfrm>
            <a:off x="1371600" y="2697480"/>
            <a:ext cx="4114800" cy="457200"/>
          </a:xfrm>
          <a:prstGeom prst="rect">
            <a:avLst/>
          </a:prstGeom>
          <a:noFill/>
          <a:ln/>
        </p:spPr>
        <p:txBody>
          <a:bodyPr wrap="square" lIns="0" tIns="0" rIns="0" bIns="0" rtlCol="0" anchor="ctr"/>
          <a:lstStyle/>
          <a:p>
            <a:pPr indent="0" marL="0">
              <a:buNone/>
            </a:pPr>
            <a:r>
              <a:rPr lang="en-US" sz="1400" b="1" dirty="0">
                <a:solidFill>
                  <a:schemeClr val="tx1"/>
                </a:solidFill>
              </a:rPr>
              <a:t>Usage  </a:t>
            </a:r>
            <a:pPr indent="0" marL="0">
              <a:buNone/>
            </a:pPr>
            <a:r>
              <a:rPr lang="en-US" sz="1400" dirty="0">
                <a:solidFill>
                  <a:schemeClr val="accent5"/>
                </a:solidFill>
              </a:rPr>
              <a:t>seat use, active-user trend, weeks since usage</a:t>
            </a:r>
            <a:endParaRPr lang="en-US" sz="1400" dirty="0"/>
          </a:p>
        </p:txBody>
      </p:sp>
      <p:sp>
        <p:nvSpPr>
          <p:cNvPr id="10" name="badge-120"/>
          <p:cNvSpPr/>
          <p:nvPr/>
        </p:nvSpPr>
        <p:spPr>
          <a:xfrm>
            <a:off x="822960" y="3392424"/>
            <a:ext cx="384048" cy="384048"/>
          </a:xfrm>
          <a:prstGeom prst="ellipse">
            <a:avLst/>
          </a:prstGeom>
          <a:solidFill>
            <a:schemeClr val="tx2"/>
          </a:solidFill>
          <a:ln w="12700">
            <a:solidFill>
              <a:schemeClr val="tx2"/>
            </a:solidFill>
            <a:prstDash val="solid"/>
          </a:ln>
        </p:spPr>
      </p:sp>
      <p:sp>
        <p:nvSpPr>
          <p:cNvPr id="11" name="badgetext-121"/>
          <p:cNvSpPr txBox="1"/>
          <p:nvPr/>
        </p:nvSpPr>
        <p:spPr>
          <a:xfrm>
            <a:off x="822960" y="339242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2" name="text-122"/>
          <p:cNvSpPr txBox="1"/>
          <p:nvPr/>
        </p:nvSpPr>
        <p:spPr>
          <a:xfrm>
            <a:off x="1371600" y="3355848"/>
            <a:ext cx="4114800" cy="457200"/>
          </a:xfrm>
          <a:prstGeom prst="rect">
            <a:avLst/>
          </a:prstGeom>
          <a:noFill/>
          <a:ln/>
        </p:spPr>
        <p:txBody>
          <a:bodyPr wrap="square" lIns="0" tIns="0" rIns="0" bIns="0" rtlCol="0" anchor="ctr"/>
          <a:lstStyle/>
          <a:p>
            <a:pPr indent="0" marL="0">
              <a:buNone/>
            </a:pPr>
            <a:r>
              <a:rPr lang="en-US" sz="1400" b="1" dirty="0">
                <a:solidFill>
                  <a:schemeClr val="tx1"/>
                </a:solidFill>
              </a:rPr>
              <a:t>Support  </a:t>
            </a:r>
            <a:pPr indent="0" marL="0">
              <a:buNone/>
            </a:pPr>
            <a:r>
              <a:rPr lang="en-US" sz="1400" dirty="0">
                <a:solidFill>
                  <a:schemeClr val="accent5"/>
                </a:solidFill>
              </a:rPr>
              <a:t>tickets, urgent tickets, bad CSAT, export requests</a:t>
            </a:r>
            <a:endParaRPr lang="en-US" sz="1400" dirty="0"/>
          </a:p>
        </p:txBody>
      </p:sp>
      <p:sp>
        <p:nvSpPr>
          <p:cNvPr id="13" name="badge-123"/>
          <p:cNvSpPr/>
          <p:nvPr/>
        </p:nvSpPr>
        <p:spPr>
          <a:xfrm>
            <a:off x="822960" y="4050792"/>
            <a:ext cx="384048" cy="384048"/>
          </a:xfrm>
          <a:prstGeom prst="ellipse">
            <a:avLst/>
          </a:prstGeom>
          <a:solidFill>
            <a:schemeClr val="tx2"/>
          </a:solidFill>
          <a:ln w="12700">
            <a:solidFill>
              <a:schemeClr val="tx2"/>
            </a:solidFill>
            <a:prstDash val="solid"/>
          </a:ln>
        </p:spPr>
      </p:sp>
      <p:sp>
        <p:nvSpPr>
          <p:cNvPr id="14" name="badgetext-124"/>
          <p:cNvSpPr txBox="1"/>
          <p:nvPr/>
        </p:nvSpPr>
        <p:spPr>
          <a:xfrm>
            <a:off x="822960" y="40507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5" name="text-125"/>
          <p:cNvSpPr txBox="1"/>
          <p:nvPr/>
        </p:nvSpPr>
        <p:spPr>
          <a:xfrm>
            <a:off x="1371600" y="4014216"/>
            <a:ext cx="4114800" cy="457200"/>
          </a:xfrm>
          <a:prstGeom prst="rect">
            <a:avLst/>
          </a:prstGeom>
          <a:noFill/>
          <a:ln/>
        </p:spPr>
        <p:txBody>
          <a:bodyPr wrap="square" lIns="0" tIns="0" rIns="0" bIns="0" rtlCol="0" anchor="ctr"/>
          <a:lstStyle/>
          <a:p>
            <a:pPr indent="0" marL="0">
              <a:buNone/>
            </a:pPr>
            <a:r>
              <a:rPr lang="en-US" sz="1400" b="1" dirty="0">
                <a:solidFill>
                  <a:schemeClr val="tx1"/>
                </a:solidFill>
              </a:rPr>
              <a:t>Email  </a:t>
            </a:r>
            <a:pPr indent="0" marL="0">
              <a:buNone/>
            </a:pPr>
            <a:r>
              <a:rPr lang="en-US" sz="1400" dirty="0">
                <a:solidFill>
                  <a:schemeClr val="accent5"/>
                </a:solidFill>
              </a:rPr>
              <a:t>inbound trend, champion silence, negative language</a:t>
            </a:r>
            <a:endParaRPr lang="en-US" sz="1400" dirty="0"/>
          </a:p>
        </p:txBody>
      </p:sp>
      <p:sp>
        <p:nvSpPr>
          <p:cNvPr id="16" name="badge-126"/>
          <p:cNvSpPr/>
          <p:nvPr/>
        </p:nvSpPr>
        <p:spPr>
          <a:xfrm>
            <a:off x="822960" y="4709160"/>
            <a:ext cx="384048" cy="384048"/>
          </a:xfrm>
          <a:prstGeom prst="ellipse">
            <a:avLst/>
          </a:prstGeom>
          <a:solidFill>
            <a:schemeClr val="tx2"/>
          </a:solidFill>
          <a:ln w="12700">
            <a:solidFill>
              <a:schemeClr val="tx2"/>
            </a:solidFill>
            <a:prstDash val="solid"/>
          </a:ln>
        </p:spPr>
      </p:sp>
      <p:sp>
        <p:nvSpPr>
          <p:cNvPr id="17" name="badgetext-127"/>
          <p:cNvSpPr txBox="1"/>
          <p:nvPr/>
        </p:nvSpPr>
        <p:spPr>
          <a:xfrm>
            <a:off x="822960" y="4709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8" name="text-128"/>
          <p:cNvSpPr txBox="1"/>
          <p:nvPr/>
        </p:nvSpPr>
        <p:spPr>
          <a:xfrm>
            <a:off x="1371600" y="4672584"/>
            <a:ext cx="4114800" cy="457200"/>
          </a:xfrm>
          <a:prstGeom prst="rect">
            <a:avLst/>
          </a:prstGeom>
          <a:noFill/>
          <a:ln/>
        </p:spPr>
        <p:txBody>
          <a:bodyPr wrap="square" lIns="0" tIns="0" rIns="0" bIns="0" rtlCol="0" anchor="ctr"/>
          <a:lstStyle/>
          <a:p>
            <a:pPr indent="0" marL="0">
              <a:buNone/>
            </a:pPr>
            <a:r>
              <a:rPr lang="en-US" sz="1400" b="1" dirty="0">
                <a:solidFill>
                  <a:schemeClr val="tx1"/>
                </a:solidFill>
              </a:rPr>
              <a:t>Billing  </a:t>
            </a:r>
            <a:pPr indent="0" marL="0">
              <a:buNone/>
            </a:pPr>
            <a:r>
              <a:rPr lang="en-US" sz="1400" dirty="0">
                <a:solidFill>
                  <a:schemeClr val="accent5"/>
                </a:solidFill>
              </a:rPr>
              <a:t>failed payments, seat contraction</a:t>
            </a:r>
            <a:endParaRPr lang="en-US" sz="1400" dirty="0"/>
          </a:p>
        </p:txBody>
      </p:sp>
      <p:sp>
        <p:nvSpPr>
          <p:cNvPr id="19" name="badge-129"/>
          <p:cNvSpPr/>
          <p:nvPr/>
        </p:nvSpPr>
        <p:spPr>
          <a:xfrm>
            <a:off x="822960" y="5367528"/>
            <a:ext cx="384048" cy="384048"/>
          </a:xfrm>
          <a:prstGeom prst="ellipse">
            <a:avLst/>
          </a:prstGeom>
          <a:solidFill>
            <a:schemeClr val="tx2"/>
          </a:solidFill>
          <a:ln w="12700">
            <a:solidFill>
              <a:schemeClr val="tx2"/>
            </a:solidFill>
            <a:prstDash val="solid"/>
          </a:ln>
        </p:spPr>
      </p:sp>
      <p:sp>
        <p:nvSpPr>
          <p:cNvPr id="20" name="badgetext-130"/>
          <p:cNvSpPr txBox="1"/>
          <p:nvPr/>
        </p:nvSpPr>
        <p:spPr>
          <a:xfrm>
            <a:off x="822960" y="53675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131"/>
          <p:cNvSpPr txBox="1"/>
          <p:nvPr/>
        </p:nvSpPr>
        <p:spPr>
          <a:xfrm>
            <a:off x="1371600" y="5330952"/>
            <a:ext cx="4114800" cy="457200"/>
          </a:xfrm>
          <a:prstGeom prst="rect">
            <a:avLst/>
          </a:prstGeom>
          <a:noFill/>
          <a:ln/>
        </p:spPr>
        <p:txBody>
          <a:bodyPr wrap="square" lIns="0" tIns="0" rIns="0" bIns="0" rtlCol="0" anchor="ctr"/>
          <a:lstStyle/>
          <a:p>
            <a:pPr indent="0" marL="0">
              <a:buNone/>
            </a:pPr>
            <a:r>
              <a:rPr lang="en-US" sz="1400" b="1" dirty="0">
                <a:solidFill>
                  <a:schemeClr val="tx1"/>
                </a:solidFill>
              </a:rPr>
              <a:t>CRM  </a:t>
            </a:r>
            <a:pPr indent="0" marL="0">
              <a:buNone/>
            </a:pPr>
            <a:r>
              <a:rPr lang="en-US" sz="1400" dirty="0">
                <a:solidFill>
                  <a:schemeClr val="accent5"/>
                </a:solidFill>
              </a:rPr>
              <a:t>ARR, tenure, segment</a:t>
            </a:r>
            <a:endParaRPr lang="en-US" sz="1400" dirty="0"/>
          </a:p>
        </p:txBody>
      </p:sp>
      <p:sp>
        <p:nvSpPr>
          <p:cNvPr id="22" name="card-132"/>
          <p:cNvSpPr/>
          <p:nvPr/>
        </p:nvSpPr>
        <p:spPr>
          <a:xfrm>
            <a:off x="5897880" y="1645920"/>
            <a:ext cx="5745175" cy="2697480"/>
          </a:xfrm>
          <a:prstGeom prst="roundRect">
            <a:avLst>
              <a:gd name="adj" fmla="val 2712"/>
            </a:avLst>
          </a:prstGeom>
          <a:solidFill>
            <a:schemeClr val="tx2"/>
          </a:solidFill>
          <a:ln w="12700">
            <a:solidFill>
              <a:schemeClr val="tx2"/>
            </a:solidFill>
            <a:prstDash val="solid"/>
          </a:ln>
        </p:spPr>
      </p:sp>
      <p:sp>
        <p:nvSpPr>
          <p:cNvPr id="23" name="text-133"/>
          <p:cNvSpPr txBox="1"/>
          <p:nvPr/>
        </p:nvSpPr>
        <p:spPr>
          <a:xfrm>
            <a:off x="6126480" y="1783080"/>
            <a:ext cx="5303520" cy="411480"/>
          </a:xfrm>
          <a:prstGeom prst="rect">
            <a:avLst/>
          </a:prstGeom>
          <a:noFill/>
          <a:ln/>
        </p:spPr>
        <p:txBody>
          <a:bodyPr wrap="square" lIns="0" tIns="0" rIns="0" bIns="0" rtlCol="0" anchor="t"/>
          <a:lstStyle/>
          <a:p>
            <a:pPr indent="0" marL="0">
              <a:buNone/>
            </a:pPr>
            <a:r>
              <a:rPr lang="en-US" sz="1700" b="1" dirty="0">
                <a:solidFill>
                  <a:schemeClr val="bg1"/>
                </a:solidFill>
              </a:rPr>
              <a:t>Each run writes one score row per account</a:t>
            </a:r>
            <a:endParaRPr lang="en-US" sz="1700" dirty="0"/>
          </a:p>
        </p:txBody>
      </p:sp>
      <p:sp>
        <p:nvSpPr>
          <p:cNvPr id="24" name="text-134"/>
          <p:cNvSpPr txBox="1"/>
          <p:nvPr/>
        </p:nvSpPr>
        <p:spPr>
          <a:xfrm>
            <a:off x="6126480" y="2240280"/>
            <a:ext cx="5303520" cy="2011680"/>
          </a:xfrm>
          <a:prstGeom prst="rect">
            <a:avLst/>
          </a:prstGeom>
          <a:noFill/>
          <a:ln/>
        </p:spPr>
        <p:txBody>
          <a:bodyPr wrap="square" lIns="0" tIns="0" rIns="0" bIns="0" rtlCol="0" anchor="t"/>
          <a:lstStyle/>
          <a:p>
            <a:pPr marL="177800" indent="-177800">
              <a:spcAft>
                <a:spcPts val="300"/>
              </a:spcAft>
              <a:buSzPct val="100000"/>
              <a:buChar char="•"/>
            </a:pPr>
            <a:r>
              <a:rPr lang="en-US" sz="1400" b="1" dirty="0">
                <a:solidFill>
                  <a:schemeClr val="bg1"/>
                </a:solidFill>
              </a:rPr>
              <a:t>Risk</a:t>
            </a:r>
            <a:pPr indent="0" marL="0">
              <a:buNone/>
            </a:pPr>
            <a:r>
              <a:rPr lang="en-US" sz="1400" dirty="0">
                <a:solidFill>
                  <a:schemeClr val="bg1"/>
                </a:solidFill>
              </a:rPr>
              <a:t>: chance of not renewing, e.g. 26%</a:t>
            </a:r>
            <a:endParaRPr lang="en-US" sz="1400" dirty="0"/>
          </a:p>
          <a:p>
            <a:pPr marL="177800" indent="-177800">
              <a:spcAft>
                <a:spcPts val="300"/>
              </a:spcAft>
              <a:buSzPct val="100000"/>
              <a:buChar char="•"/>
            </a:pPr>
            <a:r>
              <a:rPr lang="en-US" sz="1400" b="1" dirty="0">
                <a:solidFill>
                  <a:schemeClr val="bg1"/>
                </a:solidFill>
              </a:rPr>
              <a:t>Reasons</a:t>
            </a:r>
            <a:pPr indent="0" marL="0">
              <a:buNone/>
            </a:pPr>
            <a:r>
              <a:rPr lang="en-US" sz="1400" dirty="0">
                <a:solidFill>
                  <a:schemeClr val="bg1"/>
                </a:solidFill>
              </a:rPr>
              <a:t>: how much each signal raised or lowered it</a:t>
            </a:r>
            <a:endParaRPr lang="en-US" sz="1400" dirty="0"/>
          </a:p>
          <a:p>
            <a:pPr marL="177800" indent="-177800">
              <a:spcAft>
                <a:spcPts val="300"/>
              </a:spcAft>
              <a:buSzPct val="100000"/>
              <a:buChar char="•"/>
            </a:pPr>
            <a:r>
              <a:rPr lang="en-US" sz="1400" b="1" dirty="0">
                <a:solidFill>
                  <a:schemeClr val="bg1"/>
                </a:solidFill>
              </a:rPr>
              <a:t>What changed</a:t>
            </a:r>
            <a:pPr indent="0" marL="0">
              <a:buNone/>
            </a:pPr>
            <a:r>
              <a:rPr lang="en-US" sz="1400" dirty="0">
                <a:solidFill>
                  <a:schemeClr val="bg1"/>
                </a:solidFill>
              </a:rPr>
              <a:t> since the previous run</a:t>
            </a:r>
            <a:endParaRPr lang="en-US" sz="1400" dirty="0"/>
          </a:p>
          <a:p>
            <a:pPr marL="177800" indent="-177800">
              <a:spcAft>
                <a:spcPts val="300"/>
              </a:spcAft>
              <a:buSzPct val="100000"/>
              <a:buChar char="•"/>
            </a:pPr>
            <a:r>
              <a:rPr lang="en-US" sz="1400" b="1" dirty="0">
                <a:solidFill>
                  <a:schemeClr val="bg1"/>
                </a:solidFill>
              </a:rPr>
              <a:t>Coverage</a:t>
            </a:r>
            <a:pPr indent="0" marL="0">
              <a:buNone/>
            </a:pPr>
            <a:r>
              <a:rPr lang="en-US" sz="1400" dirty="0">
                <a:solidFill>
                  <a:schemeClr val="bg1"/>
                </a:solidFill>
              </a:rPr>
              <a:t>: which sources we can see</a:t>
            </a:r>
            <a:endParaRPr lang="en-US" sz="1400" dirty="0"/>
          </a:p>
          <a:p>
            <a:pPr marL="177800" indent="-177800">
              <a:spcAft>
                <a:spcPts val="300"/>
              </a:spcAft>
              <a:buSzPct val="100000"/>
              <a:buChar char="•"/>
            </a:pPr>
            <a:r>
              <a:rPr lang="en-US" sz="1400" b="1" dirty="0">
                <a:solidFill>
                  <a:schemeClr val="bg1"/>
                </a:solidFill>
              </a:rPr>
              <a:t>Priority, colour, rank</a:t>
            </a:r>
            <a:pPr indent="0" marL="0">
              <a:buNone/>
            </a:pPr>
            <a:r>
              <a:rPr lang="en-US" sz="1400" dirty="0">
                <a:solidFill>
                  <a:schemeClr val="bg1"/>
                </a:solidFill>
              </a:rPr>
              <a:t> + which run and model made it</a:t>
            </a:r>
            <a:endParaRPr lang="en-US" sz="1400" dirty="0"/>
          </a:p>
        </p:txBody>
      </p:sp>
      <p:sp>
        <p:nvSpPr>
          <p:cNvPr id="25" name="card-135"/>
          <p:cNvSpPr/>
          <p:nvPr/>
        </p:nvSpPr>
        <p:spPr>
          <a:xfrm>
            <a:off x="5897880" y="4526280"/>
            <a:ext cx="2743200" cy="685800"/>
          </a:xfrm>
          <a:prstGeom prst="roundRect">
            <a:avLst>
              <a:gd name="adj" fmla="val 10667"/>
            </a:avLst>
          </a:prstGeom>
          <a:solidFill>
            <a:schemeClr val="bg2"/>
          </a:solidFill>
          <a:ln w="12700">
            <a:solidFill>
              <a:schemeClr val="bg2"/>
            </a:solidFill>
            <a:prstDash val="solid"/>
          </a:ln>
        </p:spPr>
      </p:sp>
      <p:sp>
        <p:nvSpPr>
          <p:cNvPr id="26" name="dot-136"/>
          <p:cNvSpPr/>
          <p:nvPr/>
        </p:nvSpPr>
        <p:spPr>
          <a:xfrm>
            <a:off x="6062472" y="4754880"/>
            <a:ext cx="228600" cy="228600"/>
          </a:xfrm>
          <a:prstGeom prst="ellipse">
            <a:avLst/>
          </a:prstGeom>
          <a:solidFill>
            <a:schemeClr val="accent4"/>
          </a:solidFill>
          <a:ln w="12700">
            <a:solidFill>
              <a:schemeClr val="accent4"/>
            </a:solidFill>
            <a:prstDash val="solid"/>
          </a:ln>
        </p:spPr>
      </p:sp>
      <p:sp>
        <p:nvSpPr>
          <p:cNvPr id="27" name="text-137"/>
          <p:cNvSpPr txBox="1"/>
          <p:nvPr/>
        </p:nvSpPr>
        <p:spPr>
          <a:xfrm>
            <a:off x="6400800" y="4572000"/>
            <a:ext cx="2148840" cy="594360"/>
          </a:xfrm>
          <a:prstGeom prst="rect">
            <a:avLst/>
          </a:prstGeom>
          <a:noFill/>
          <a:ln/>
        </p:spPr>
        <p:txBody>
          <a:bodyPr wrap="square" lIns="0" tIns="0" rIns="0" bIns="0" rtlCol="0" anchor="ctr"/>
          <a:lstStyle/>
          <a:p>
            <a:pPr indent="0" marL="0">
              <a:buNone/>
            </a:pPr>
            <a:r>
              <a:rPr lang="en-US" sz="1300" b="1" dirty="0">
                <a:solidFill>
                  <a:schemeClr val="tx1"/>
                </a:solidFill>
              </a:rPr>
              <a:t>Red  </a:t>
            </a:r>
            <a:pPr indent="0" marL="0">
              <a:buNone/>
            </a:pPr>
            <a:r>
              <a:rPr lang="en-US" sz="1300" dirty="0">
                <a:solidFill>
                  <a:schemeClr val="accent5"/>
                </a:solidFill>
              </a:rPr>
              <a:t>top 15 by priority per CSM</a:t>
            </a:r>
            <a:endParaRPr lang="en-US" sz="1300" dirty="0"/>
          </a:p>
        </p:txBody>
      </p:sp>
      <p:sp>
        <p:nvSpPr>
          <p:cNvPr id="28" name="card-138"/>
          <p:cNvSpPr/>
          <p:nvPr/>
        </p:nvSpPr>
        <p:spPr>
          <a:xfrm>
            <a:off x="8796528" y="4526280"/>
            <a:ext cx="2743200" cy="685800"/>
          </a:xfrm>
          <a:prstGeom prst="roundRect">
            <a:avLst>
              <a:gd name="adj" fmla="val 10667"/>
            </a:avLst>
          </a:prstGeom>
          <a:solidFill>
            <a:schemeClr val="bg2"/>
          </a:solidFill>
          <a:ln w="12700">
            <a:solidFill>
              <a:schemeClr val="bg2"/>
            </a:solidFill>
            <a:prstDash val="solid"/>
          </a:ln>
        </p:spPr>
      </p:sp>
      <p:sp>
        <p:nvSpPr>
          <p:cNvPr id="29" name="dot-139"/>
          <p:cNvSpPr/>
          <p:nvPr/>
        </p:nvSpPr>
        <p:spPr>
          <a:xfrm>
            <a:off x="8961120" y="4754880"/>
            <a:ext cx="228600" cy="228600"/>
          </a:xfrm>
          <a:prstGeom prst="ellipse">
            <a:avLst/>
          </a:prstGeom>
          <a:solidFill>
            <a:schemeClr val="accent1"/>
          </a:solidFill>
          <a:ln w="12700">
            <a:solidFill>
              <a:schemeClr val="accent1"/>
            </a:solidFill>
            <a:prstDash val="solid"/>
          </a:ln>
        </p:spPr>
      </p:sp>
      <p:sp>
        <p:nvSpPr>
          <p:cNvPr id="30" name="text-140"/>
          <p:cNvSpPr txBox="1"/>
          <p:nvPr/>
        </p:nvSpPr>
        <p:spPr>
          <a:xfrm>
            <a:off x="9299448" y="4572000"/>
            <a:ext cx="2148840" cy="594360"/>
          </a:xfrm>
          <a:prstGeom prst="rect">
            <a:avLst/>
          </a:prstGeom>
          <a:noFill/>
          <a:ln/>
        </p:spPr>
        <p:txBody>
          <a:bodyPr wrap="square" lIns="0" tIns="0" rIns="0" bIns="0" rtlCol="0" anchor="ctr"/>
          <a:lstStyle/>
          <a:p>
            <a:pPr indent="0" marL="0">
              <a:buNone/>
            </a:pPr>
            <a:r>
              <a:rPr lang="en-US" sz="1300" b="1" dirty="0">
                <a:solidFill>
                  <a:schemeClr val="tx1"/>
                </a:solidFill>
              </a:rPr>
              <a:t>Amber  </a:t>
            </a:r>
            <a:pPr indent="0" marL="0">
              <a:buNone/>
            </a:pPr>
            <a:r>
              <a:rPr lang="en-US" sz="1300" dirty="0">
                <a:solidFill>
                  <a:schemeClr val="accent5"/>
                </a:solidFill>
              </a:rPr>
              <a:t>risk at least 2× the average</a:t>
            </a:r>
            <a:endParaRPr lang="en-US" sz="1300" dirty="0"/>
          </a:p>
        </p:txBody>
      </p:sp>
      <p:sp>
        <p:nvSpPr>
          <p:cNvPr id="31" name="card-141"/>
          <p:cNvSpPr/>
          <p:nvPr/>
        </p:nvSpPr>
        <p:spPr>
          <a:xfrm>
            <a:off x="5897880" y="5330952"/>
            <a:ext cx="2743200" cy="685800"/>
          </a:xfrm>
          <a:prstGeom prst="roundRect">
            <a:avLst>
              <a:gd name="adj" fmla="val 10667"/>
            </a:avLst>
          </a:prstGeom>
          <a:solidFill>
            <a:schemeClr val="bg2"/>
          </a:solidFill>
          <a:ln w="12700">
            <a:solidFill>
              <a:schemeClr val="bg2"/>
            </a:solidFill>
            <a:prstDash val="solid"/>
          </a:ln>
        </p:spPr>
      </p:sp>
      <p:sp>
        <p:nvSpPr>
          <p:cNvPr id="32" name="dot-142"/>
          <p:cNvSpPr/>
          <p:nvPr/>
        </p:nvSpPr>
        <p:spPr>
          <a:xfrm>
            <a:off x="6062472" y="5559552"/>
            <a:ext cx="228600" cy="228600"/>
          </a:xfrm>
          <a:prstGeom prst="ellipse">
            <a:avLst/>
          </a:prstGeom>
          <a:solidFill>
            <a:schemeClr val="accent3"/>
          </a:solidFill>
          <a:ln w="12700">
            <a:solidFill>
              <a:schemeClr val="accent3"/>
            </a:solidFill>
            <a:prstDash val="solid"/>
          </a:ln>
        </p:spPr>
      </p:sp>
      <p:sp>
        <p:nvSpPr>
          <p:cNvPr id="33" name="text-143"/>
          <p:cNvSpPr txBox="1"/>
          <p:nvPr/>
        </p:nvSpPr>
        <p:spPr>
          <a:xfrm>
            <a:off x="6400800" y="5376672"/>
            <a:ext cx="2148840" cy="594360"/>
          </a:xfrm>
          <a:prstGeom prst="rect">
            <a:avLst/>
          </a:prstGeom>
          <a:noFill/>
          <a:ln/>
        </p:spPr>
        <p:txBody>
          <a:bodyPr wrap="square" lIns="0" tIns="0" rIns="0" bIns="0" rtlCol="0" anchor="ctr"/>
          <a:lstStyle/>
          <a:p>
            <a:pPr indent="0" marL="0">
              <a:buNone/>
            </a:pPr>
            <a:r>
              <a:rPr lang="en-US" sz="1300" b="1" dirty="0">
                <a:solidFill>
                  <a:schemeClr val="tx1"/>
                </a:solidFill>
              </a:rPr>
              <a:t>Green  </a:t>
            </a:r>
            <a:pPr indent="0" marL="0">
              <a:buNone/>
            </a:pPr>
            <a:r>
              <a:rPr lang="en-US" sz="1300" dirty="0">
                <a:solidFill>
                  <a:schemeClr val="accent5"/>
                </a:solidFill>
              </a:rPr>
              <a:t>everything else</a:t>
            </a:r>
            <a:endParaRPr lang="en-US" sz="1300" dirty="0"/>
          </a:p>
        </p:txBody>
      </p:sp>
      <p:sp>
        <p:nvSpPr>
          <p:cNvPr id="34" name="card-144"/>
          <p:cNvSpPr/>
          <p:nvPr/>
        </p:nvSpPr>
        <p:spPr>
          <a:xfrm>
            <a:off x="8796528" y="5330952"/>
            <a:ext cx="2743200" cy="685800"/>
          </a:xfrm>
          <a:prstGeom prst="roundRect">
            <a:avLst>
              <a:gd name="adj" fmla="val 10667"/>
            </a:avLst>
          </a:prstGeom>
          <a:solidFill>
            <a:schemeClr val="bg2"/>
          </a:solidFill>
          <a:ln w="12700">
            <a:solidFill>
              <a:schemeClr val="bg2"/>
            </a:solidFill>
            <a:prstDash val="solid"/>
          </a:ln>
        </p:spPr>
      </p:sp>
      <p:sp>
        <p:nvSpPr>
          <p:cNvPr id="35" name="dot-145"/>
          <p:cNvSpPr/>
          <p:nvPr/>
        </p:nvSpPr>
        <p:spPr>
          <a:xfrm>
            <a:off x="8961120" y="5559552"/>
            <a:ext cx="228600" cy="228600"/>
          </a:xfrm>
          <a:prstGeom prst="ellipse">
            <a:avLst/>
          </a:prstGeom>
          <a:solidFill>
            <a:schemeClr val="accent5"/>
          </a:solidFill>
          <a:ln w="12700">
            <a:solidFill>
              <a:schemeClr val="accent5"/>
            </a:solidFill>
            <a:prstDash val="solid"/>
          </a:ln>
        </p:spPr>
      </p:sp>
      <p:sp>
        <p:nvSpPr>
          <p:cNvPr id="36" name="text-146"/>
          <p:cNvSpPr txBox="1"/>
          <p:nvPr/>
        </p:nvSpPr>
        <p:spPr>
          <a:xfrm>
            <a:off x="9299448" y="5376672"/>
            <a:ext cx="2148840" cy="594360"/>
          </a:xfrm>
          <a:prstGeom prst="rect">
            <a:avLst/>
          </a:prstGeom>
          <a:noFill/>
          <a:ln/>
        </p:spPr>
        <p:txBody>
          <a:bodyPr wrap="square" lIns="0" tIns="0" rIns="0" bIns="0" rtlCol="0" anchor="ctr"/>
          <a:lstStyle/>
          <a:p>
            <a:pPr indent="0" marL="0">
              <a:buNone/>
            </a:pPr>
            <a:r>
              <a:rPr lang="en-US" sz="1300" b="1" dirty="0">
                <a:solidFill>
                  <a:schemeClr val="tx1"/>
                </a:solidFill>
              </a:rPr>
              <a:t>Grey  </a:t>
            </a:r>
            <a:pPr indent="0" marL="0">
              <a:buNone/>
            </a:pPr>
            <a:r>
              <a:rPr lang="en-US" sz="1300" dirty="0">
                <a:solidFill>
                  <a:schemeClr val="accent5"/>
                </a:solidFill>
              </a:rPr>
              <a:t>no usage and no contact in 90 days</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rPr>
              <a:t>What the model predicts</a:t>
            </a: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lIns="0" tIns="0" rIns="0" bIns="0" rtlCol="0" anchor="t"/>
          <a:lstStyle/>
          <a:p>
            <a:pPr algn="l" indent="0" marL="0">
              <a:buNone/>
            </a:pPr>
            <a:r>
              <a:rPr lang="en-US" sz="1600" dirty="0">
                <a:solidFill>
                  <a:schemeClr val="accent5"/>
                </a:solidFill>
              </a:rPr>
              <a:t>Will this renewal be lost? The model answers that; a separate policy decides who to call this week</a:t>
            </a:r>
            <a:endParaRPr lang="en-US" sz="1600" dirty="0"/>
          </a:p>
        </p:txBody>
      </p:sp>
      <p:sp>
        <p:nvSpPr>
          <p:cNvPr id="4" name="badge-147"/>
          <p:cNvSpPr/>
          <p:nvPr/>
        </p:nvSpPr>
        <p:spPr>
          <a:xfrm>
            <a:off x="548640" y="1691640"/>
            <a:ext cx="384048" cy="384048"/>
          </a:xfrm>
          <a:prstGeom prst="ellipse">
            <a:avLst/>
          </a:prstGeom>
          <a:solidFill>
            <a:schemeClr val="accent1"/>
          </a:solidFill>
          <a:ln w="12700">
            <a:solidFill>
              <a:schemeClr val="accent1"/>
            </a:solidFill>
            <a:prstDash val="solid"/>
          </a:ln>
        </p:spPr>
      </p:sp>
      <p:sp>
        <p:nvSpPr>
          <p:cNvPr id="5" name="badgetext-148"/>
          <p:cNvSpPr txBox="1"/>
          <p:nvPr/>
        </p:nvSpPr>
        <p:spPr>
          <a:xfrm>
            <a:off x="548640" y="169164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6" name="text-149"/>
          <p:cNvSpPr txBox="1"/>
          <p:nvPr/>
        </p:nvSpPr>
        <p:spPr>
          <a:xfrm>
            <a:off x="1097280" y="1645920"/>
            <a:ext cx="6035040" cy="320040"/>
          </a:xfrm>
          <a:prstGeom prst="rect">
            <a:avLst/>
          </a:prstGeom>
          <a:noFill/>
          <a:ln/>
        </p:spPr>
        <p:txBody>
          <a:bodyPr wrap="square" lIns="0" tIns="0" rIns="0" bIns="0" rtlCol="0" anchor="t"/>
          <a:lstStyle/>
          <a:p>
            <a:pPr indent="0" marL="0">
              <a:buNone/>
            </a:pPr>
            <a:r>
              <a:rPr lang="en-US" sz="1500" b="1" dirty="0">
                <a:solidFill>
                  <a:schemeClr val="tx2"/>
                </a:solidFill>
              </a:rPr>
              <a:t>Label</a:t>
            </a:r>
            <a:endParaRPr lang="en-US" sz="1500" dirty="0"/>
          </a:p>
        </p:txBody>
      </p:sp>
      <p:sp>
        <p:nvSpPr>
          <p:cNvPr id="7" name="text-150"/>
          <p:cNvSpPr txBox="1"/>
          <p:nvPr/>
        </p:nvSpPr>
        <p:spPr>
          <a:xfrm>
            <a:off x="1097280" y="1975104"/>
            <a:ext cx="6035040" cy="502920"/>
          </a:xfrm>
          <a:prstGeom prst="rect">
            <a:avLst/>
          </a:prstGeom>
          <a:noFill/>
          <a:ln/>
        </p:spPr>
        <p:txBody>
          <a:bodyPr wrap="square" lIns="0" tIns="0" rIns="0" bIns="0" rtlCol="0" anchor="t"/>
          <a:lstStyle/>
          <a:p>
            <a:pPr indent="0" marL="0">
              <a:buNone/>
            </a:pPr>
            <a:r>
              <a:rPr lang="en-US" sz="1400" dirty="0">
                <a:solidFill>
                  <a:schemeClr val="tx1"/>
                </a:solidFill>
              </a:rPr>
              <a:t>Renewal opportunity Closed Lost in the CRM. Downgrades are a signal, not the label</a:t>
            </a:r>
            <a:endParaRPr lang="en-US" sz="1400" dirty="0"/>
          </a:p>
        </p:txBody>
      </p:sp>
      <p:sp>
        <p:nvSpPr>
          <p:cNvPr id="8" name="badge-151"/>
          <p:cNvSpPr/>
          <p:nvPr/>
        </p:nvSpPr>
        <p:spPr>
          <a:xfrm>
            <a:off x="548640" y="2560320"/>
            <a:ext cx="384048" cy="384048"/>
          </a:xfrm>
          <a:prstGeom prst="ellipse">
            <a:avLst/>
          </a:prstGeom>
          <a:solidFill>
            <a:schemeClr val="accent1"/>
          </a:solidFill>
          <a:ln w="12700">
            <a:solidFill>
              <a:schemeClr val="accent1"/>
            </a:solidFill>
            <a:prstDash val="solid"/>
          </a:ln>
        </p:spPr>
      </p:sp>
      <p:sp>
        <p:nvSpPr>
          <p:cNvPr id="9" name="badgetext-152"/>
          <p:cNvSpPr txBox="1"/>
          <p:nvPr/>
        </p:nvSpPr>
        <p:spPr>
          <a:xfrm>
            <a:off x="548640" y="256032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0" name="text-153"/>
          <p:cNvSpPr txBox="1"/>
          <p:nvPr/>
        </p:nvSpPr>
        <p:spPr>
          <a:xfrm>
            <a:off x="1097280" y="2514600"/>
            <a:ext cx="6035040" cy="320040"/>
          </a:xfrm>
          <a:prstGeom prst="rect">
            <a:avLst/>
          </a:prstGeom>
          <a:noFill/>
          <a:ln/>
        </p:spPr>
        <p:txBody>
          <a:bodyPr wrap="square" lIns="0" tIns="0" rIns="0" bIns="0" rtlCol="0" anchor="t"/>
          <a:lstStyle/>
          <a:p>
            <a:pPr indent="0" marL="0">
              <a:buNone/>
            </a:pPr>
            <a:r>
              <a:rPr lang="en-US" sz="1500" b="1" dirty="0">
                <a:solidFill>
                  <a:schemeClr val="tx2"/>
                </a:solidFill>
              </a:rPr>
              <a:t>Training set</a:t>
            </a:r>
            <a:endParaRPr lang="en-US" sz="1500" dirty="0"/>
          </a:p>
        </p:txBody>
      </p:sp>
      <p:sp>
        <p:nvSpPr>
          <p:cNvPr id="11" name="text-154"/>
          <p:cNvSpPr txBox="1"/>
          <p:nvPr/>
        </p:nvSpPr>
        <p:spPr>
          <a:xfrm>
            <a:off x="1097280" y="2843784"/>
            <a:ext cx="6035040" cy="502920"/>
          </a:xfrm>
          <a:prstGeom prst="rect">
            <a:avLst/>
          </a:prstGeom>
          <a:noFill/>
          <a:ln/>
        </p:spPr>
        <p:txBody>
          <a:bodyPr wrap="square" lIns="0" tIns="0" rIns="0" bIns="0" rtlCol="0" anchor="t"/>
          <a:lstStyle/>
          <a:p>
            <a:pPr indent="0" marL="0">
              <a:buNone/>
            </a:pPr>
            <a:r>
              <a:rPr lang="en-US" sz="1400" dirty="0">
                <a:solidFill>
                  <a:schemeClr val="tx1"/>
                </a:solidFill>
              </a:rPr>
              <a:t>29,000+ snapshots taken 1–4 months before each past renewal, using only what was known then</a:t>
            </a:r>
            <a:endParaRPr lang="en-US" sz="1400" dirty="0"/>
          </a:p>
        </p:txBody>
      </p:sp>
      <p:sp>
        <p:nvSpPr>
          <p:cNvPr id="12" name="badge-155"/>
          <p:cNvSpPr/>
          <p:nvPr/>
        </p:nvSpPr>
        <p:spPr>
          <a:xfrm>
            <a:off x="548640" y="3429000"/>
            <a:ext cx="384048" cy="384048"/>
          </a:xfrm>
          <a:prstGeom prst="ellipse">
            <a:avLst/>
          </a:prstGeom>
          <a:solidFill>
            <a:schemeClr val="accent1"/>
          </a:solidFill>
          <a:ln w="12700">
            <a:solidFill>
              <a:schemeClr val="accent1"/>
            </a:solidFill>
            <a:prstDash val="solid"/>
          </a:ln>
        </p:spPr>
      </p:sp>
      <p:sp>
        <p:nvSpPr>
          <p:cNvPr id="13" name="badgetext-156"/>
          <p:cNvSpPr txBox="1"/>
          <p:nvPr/>
        </p:nvSpPr>
        <p:spPr>
          <a:xfrm>
            <a:off x="548640" y="342900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4" name="text-157"/>
          <p:cNvSpPr txBox="1"/>
          <p:nvPr/>
        </p:nvSpPr>
        <p:spPr>
          <a:xfrm>
            <a:off x="1097280" y="3383280"/>
            <a:ext cx="6035040" cy="320040"/>
          </a:xfrm>
          <a:prstGeom prst="rect">
            <a:avLst/>
          </a:prstGeom>
          <a:noFill/>
          <a:ln/>
        </p:spPr>
        <p:txBody>
          <a:bodyPr wrap="square" lIns="0" tIns="0" rIns="0" bIns="0" rtlCol="0" anchor="t"/>
          <a:lstStyle/>
          <a:p>
            <a:pPr indent="0" marL="0">
              <a:buNone/>
            </a:pPr>
            <a:r>
              <a:rPr lang="en-US" sz="1500" b="1" dirty="0">
                <a:solidFill>
                  <a:schemeClr val="tx2"/>
                </a:solidFill>
              </a:rPr>
              <a:t>Model</a:t>
            </a:r>
            <a:endParaRPr lang="en-US" sz="1500" dirty="0"/>
          </a:p>
        </p:txBody>
      </p:sp>
      <p:sp>
        <p:nvSpPr>
          <p:cNvPr id="15" name="text-158"/>
          <p:cNvSpPr txBox="1"/>
          <p:nvPr/>
        </p:nvSpPr>
        <p:spPr>
          <a:xfrm>
            <a:off x="1097280" y="3712464"/>
            <a:ext cx="6035040" cy="502920"/>
          </a:xfrm>
          <a:prstGeom prst="rect">
            <a:avLst/>
          </a:prstGeom>
          <a:noFill/>
          <a:ln/>
        </p:spPr>
        <p:txBody>
          <a:bodyPr wrap="square" lIns="0" tIns="0" rIns="0" bIns="0" rtlCol="0" anchor="t"/>
          <a:lstStyle/>
          <a:p>
            <a:pPr indent="0" marL="0">
              <a:buNone/>
            </a:pPr>
            <a:r>
              <a:rPr lang="en-US" sz="1400" dirty="0">
                <a:solidFill>
                  <a:schemeClr val="tx1"/>
                </a:solidFill>
              </a:rPr>
              <a:t>Logistic regression (each signal gets a weight; weights add up to a probability). A signal that pushes the wrong way, e.g. more usage = more risk, is removed</a:t>
            </a:r>
            <a:endParaRPr lang="en-US" sz="1400" dirty="0"/>
          </a:p>
        </p:txBody>
      </p:sp>
      <p:sp>
        <p:nvSpPr>
          <p:cNvPr id="16" name="badge-159"/>
          <p:cNvSpPr/>
          <p:nvPr/>
        </p:nvSpPr>
        <p:spPr>
          <a:xfrm>
            <a:off x="548640" y="4297680"/>
            <a:ext cx="384048" cy="384048"/>
          </a:xfrm>
          <a:prstGeom prst="ellipse">
            <a:avLst/>
          </a:prstGeom>
          <a:solidFill>
            <a:schemeClr val="accent1"/>
          </a:solidFill>
          <a:ln w="12700">
            <a:solidFill>
              <a:schemeClr val="accent1"/>
            </a:solidFill>
            <a:prstDash val="solid"/>
          </a:ln>
        </p:spPr>
      </p:sp>
      <p:sp>
        <p:nvSpPr>
          <p:cNvPr id="17" name="badgetext-160"/>
          <p:cNvSpPr txBox="1"/>
          <p:nvPr/>
        </p:nvSpPr>
        <p:spPr>
          <a:xfrm>
            <a:off x="548640" y="429768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8" name="text-161"/>
          <p:cNvSpPr txBox="1"/>
          <p:nvPr/>
        </p:nvSpPr>
        <p:spPr>
          <a:xfrm>
            <a:off x="1097280" y="4251960"/>
            <a:ext cx="6035040" cy="320040"/>
          </a:xfrm>
          <a:prstGeom prst="rect">
            <a:avLst/>
          </a:prstGeom>
          <a:noFill/>
          <a:ln/>
        </p:spPr>
        <p:txBody>
          <a:bodyPr wrap="square" lIns="0" tIns="0" rIns="0" bIns="0" rtlCol="0" anchor="t"/>
          <a:lstStyle/>
          <a:p>
            <a:pPr indent="0" marL="0">
              <a:buNone/>
            </a:pPr>
            <a:r>
              <a:rPr lang="en-US" sz="1500" b="1" dirty="0">
                <a:solidFill>
                  <a:schemeClr val="tx2"/>
                </a:solidFill>
              </a:rPr>
              <a:t>Tenancy</a:t>
            </a:r>
            <a:endParaRPr lang="en-US" sz="1500" dirty="0"/>
          </a:p>
        </p:txBody>
      </p:sp>
      <p:sp>
        <p:nvSpPr>
          <p:cNvPr id="19" name="text-162"/>
          <p:cNvSpPr txBox="1"/>
          <p:nvPr/>
        </p:nvSpPr>
        <p:spPr>
          <a:xfrm>
            <a:off x="1097280" y="4581144"/>
            <a:ext cx="6035040" cy="502920"/>
          </a:xfrm>
          <a:prstGeom prst="rect">
            <a:avLst/>
          </a:prstGeom>
          <a:noFill/>
          <a:ln/>
        </p:spPr>
        <p:txBody>
          <a:bodyPr wrap="square" lIns="0" tIns="0" rIns="0" bIns="0" rtlCol="0" anchor="t"/>
          <a:lstStyle/>
          <a:p>
            <a:pPr indent="0" marL="0">
              <a:buNone/>
            </a:pPr>
            <a:r>
              <a:rPr lang="en-US" sz="1400" dirty="0">
                <a:solidFill>
                  <a:schemeClr val="tx1"/>
                </a:solidFill>
              </a:rPr>
              <a:t>One model learns from all companies, then its percentages are adjusted per company (the smallest has only ~100 renewals)</a:t>
            </a:r>
            <a:endParaRPr lang="en-US" sz="1400" dirty="0"/>
          </a:p>
        </p:txBody>
      </p:sp>
      <p:sp>
        <p:nvSpPr>
          <p:cNvPr id="20" name="badge-163"/>
          <p:cNvSpPr/>
          <p:nvPr/>
        </p:nvSpPr>
        <p:spPr>
          <a:xfrm>
            <a:off x="548640" y="5166360"/>
            <a:ext cx="384048" cy="384048"/>
          </a:xfrm>
          <a:prstGeom prst="ellipse">
            <a:avLst/>
          </a:prstGeom>
          <a:solidFill>
            <a:schemeClr val="accent1"/>
          </a:solidFill>
          <a:ln w="12700">
            <a:solidFill>
              <a:schemeClr val="accent1"/>
            </a:solidFill>
            <a:prstDash val="solid"/>
          </a:ln>
        </p:spPr>
      </p:sp>
      <p:sp>
        <p:nvSpPr>
          <p:cNvPr id="21" name="badgetext-164"/>
          <p:cNvSpPr txBox="1"/>
          <p:nvPr/>
        </p:nvSpPr>
        <p:spPr>
          <a:xfrm>
            <a:off x="548640" y="516636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22" name="text-165"/>
          <p:cNvSpPr txBox="1"/>
          <p:nvPr/>
        </p:nvSpPr>
        <p:spPr>
          <a:xfrm>
            <a:off x="1097280" y="5120640"/>
            <a:ext cx="6035040" cy="320040"/>
          </a:xfrm>
          <a:prstGeom prst="rect">
            <a:avLst/>
          </a:prstGeom>
          <a:noFill/>
          <a:ln/>
        </p:spPr>
        <p:txBody>
          <a:bodyPr wrap="square" lIns="0" tIns="0" rIns="0" bIns="0" rtlCol="0" anchor="t"/>
          <a:lstStyle/>
          <a:p>
            <a:pPr indent="0" marL="0">
              <a:buNone/>
            </a:pPr>
            <a:r>
              <a:rPr lang="en-US" sz="1500" b="1" dirty="0">
                <a:solidFill>
                  <a:schemeClr val="tx2"/>
                </a:solidFill>
              </a:rPr>
              <a:t>Split</a:t>
            </a:r>
            <a:endParaRPr lang="en-US" sz="1500" dirty="0"/>
          </a:p>
        </p:txBody>
      </p:sp>
      <p:sp>
        <p:nvSpPr>
          <p:cNvPr id="23" name="text-166"/>
          <p:cNvSpPr txBox="1"/>
          <p:nvPr/>
        </p:nvSpPr>
        <p:spPr>
          <a:xfrm>
            <a:off x="1097280" y="5449824"/>
            <a:ext cx="6035040" cy="502920"/>
          </a:xfrm>
          <a:prstGeom prst="rect">
            <a:avLst/>
          </a:prstGeom>
          <a:noFill/>
          <a:ln/>
        </p:spPr>
        <p:txBody>
          <a:bodyPr wrap="square" lIns="0" tIns="0" rIns="0" bIns="0" rtlCol="0" anchor="t"/>
          <a:lstStyle/>
          <a:p>
            <a:pPr indent="0" marL="0">
              <a:buNone/>
            </a:pPr>
            <a:r>
              <a:rPr lang="en-US" sz="1400" dirty="0">
                <a:solidFill>
                  <a:schemeClr val="tx1"/>
                </a:solidFill>
              </a:rPr>
              <a:t>By time: train → validate (12–6 months ago) → test (last 6 months, used once)</a:t>
            </a:r>
            <a:endParaRPr lang="en-US" sz="1400" dirty="0"/>
          </a:p>
        </p:txBody>
      </p:sp>
      <p:sp>
        <p:nvSpPr>
          <p:cNvPr id="24" name="card-167"/>
          <p:cNvSpPr/>
          <p:nvPr/>
        </p:nvSpPr>
        <p:spPr>
          <a:xfrm>
            <a:off x="7086600" y="1645920"/>
            <a:ext cx="4556455" cy="2377440"/>
          </a:xfrm>
          <a:prstGeom prst="roundRect">
            <a:avLst>
              <a:gd name="adj" fmla="val 3077"/>
            </a:avLst>
          </a:prstGeom>
          <a:solidFill>
            <a:schemeClr val="tx2"/>
          </a:solidFill>
          <a:ln w="12700">
            <a:solidFill>
              <a:schemeClr val="tx2"/>
            </a:solidFill>
            <a:prstDash val="solid"/>
          </a:ln>
        </p:spPr>
      </p:sp>
      <p:sp>
        <p:nvSpPr>
          <p:cNvPr id="25" name="text-168"/>
          <p:cNvSpPr txBox="1"/>
          <p:nvPr/>
        </p:nvSpPr>
        <p:spPr>
          <a:xfrm>
            <a:off x="7360920" y="1783080"/>
            <a:ext cx="4007815" cy="365760"/>
          </a:xfrm>
          <a:prstGeom prst="rect">
            <a:avLst/>
          </a:prstGeom>
          <a:noFill/>
          <a:ln/>
        </p:spPr>
        <p:txBody>
          <a:bodyPr wrap="square" lIns="0" tIns="0" rIns="0" bIns="0" rtlCol="0" anchor="t"/>
          <a:lstStyle/>
          <a:p>
            <a:pPr indent="0" marL="0">
              <a:buNone/>
            </a:pPr>
            <a:r>
              <a:rPr lang="en-US" sz="1600" b="1" dirty="0">
                <a:solidFill>
                  <a:schemeClr val="accent1"/>
                </a:solidFill>
              </a:rPr>
              <a:t>Policy, not model</a:t>
            </a:r>
            <a:endParaRPr lang="en-US" sz="1600" dirty="0"/>
          </a:p>
        </p:txBody>
      </p:sp>
      <p:sp>
        <p:nvSpPr>
          <p:cNvPr id="26" name="text-169"/>
          <p:cNvSpPr txBox="1"/>
          <p:nvPr/>
        </p:nvSpPr>
        <p:spPr>
          <a:xfrm>
            <a:off x="7360920" y="2194560"/>
            <a:ext cx="4007815" cy="502920"/>
          </a:xfrm>
          <a:prstGeom prst="rect">
            <a:avLst/>
          </a:prstGeom>
          <a:noFill/>
          <a:ln/>
        </p:spPr>
        <p:txBody>
          <a:bodyPr wrap="square" lIns="0" tIns="0" rIns="0" bIns="0" rtlCol="0" anchor="t"/>
          <a:lstStyle/>
          <a:p>
            <a:pPr indent="0" marL="0">
              <a:buNone/>
            </a:pPr>
            <a:r>
              <a:rPr lang="en-US" sz="1600" b="1" dirty="0">
                <a:solidFill>
                  <a:schemeClr val="bg1"/>
                </a:solidFill>
              </a:rPr>
              <a:t>priority = risk × √revenue × urgency</a:t>
            </a:r>
            <a:endParaRPr lang="en-US" sz="1600" dirty="0"/>
          </a:p>
        </p:txBody>
      </p:sp>
      <p:sp>
        <p:nvSpPr>
          <p:cNvPr id="27" name="text-170"/>
          <p:cNvSpPr txBox="1"/>
          <p:nvPr/>
        </p:nvSpPr>
        <p:spPr>
          <a:xfrm>
            <a:off x="7360920" y="2743200"/>
            <a:ext cx="4007815" cy="123444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bg1"/>
                </a:solidFill>
              </a:rPr>
              <a:t>√revenue: a $500k account can't bury every $20k account</a:t>
            </a:r>
            <a:endParaRPr lang="en-US" sz="1300" dirty="0"/>
          </a:p>
          <a:p>
            <a:pPr marL="177800" indent="-177800">
              <a:spcAft>
                <a:spcPts val="300"/>
              </a:spcAft>
              <a:buSzPct val="100000"/>
              <a:buChar char="•"/>
            </a:pPr>
            <a:r>
              <a:rPr lang="en-US" sz="1300" dirty="0">
                <a:solidFill>
                  <a:schemeClr val="bg1"/>
                </a:solidFill>
              </a:rPr>
              <a:t>Urgency peaks 15–120 days before renewal</a:t>
            </a:r>
            <a:endParaRPr lang="en-US" sz="1300" dirty="0"/>
          </a:p>
          <a:p>
            <a:pPr marL="177800" indent="-177800">
              <a:spcAft>
                <a:spcPts val="300"/>
              </a:spcAft>
              <a:buSzPct val="100000"/>
              <a:buChar char="•"/>
            </a:pPr>
            <a:r>
              <a:rPr lang="en-US" sz="1300" dirty="0">
                <a:solidFill>
                  <a:schemeClr val="bg1"/>
                </a:solidFill>
              </a:rPr>
              <a:t>Renewal timing is left out of the model so it isn't counted twice</a:t>
            </a:r>
            <a:endParaRPr lang="en-US" sz="1300" dirty="0"/>
          </a:p>
        </p:txBody>
      </p:sp>
      <p:sp>
        <p:nvSpPr>
          <p:cNvPr id="28" name="card-171"/>
          <p:cNvSpPr/>
          <p:nvPr/>
        </p:nvSpPr>
        <p:spPr>
          <a:xfrm>
            <a:off x="7086600" y="4206240"/>
            <a:ext cx="4556455" cy="1828800"/>
          </a:xfrm>
          <a:prstGeom prst="roundRect">
            <a:avLst>
              <a:gd name="adj" fmla="val 4000"/>
            </a:avLst>
          </a:prstGeom>
          <a:solidFill>
            <a:schemeClr val="accent6"/>
          </a:solidFill>
          <a:ln w="12700">
            <a:solidFill>
              <a:schemeClr val="accent6"/>
            </a:solidFill>
            <a:prstDash val="solid"/>
          </a:ln>
        </p:spPr>
      </p:sp>
      <p:sp>
        <p:nvSpPr>
          <p:cNvPr id="29" name="text-172"/>
          <p:cNvSpPr txBox="1"/>
          <p:nvPr/>
        </p:nvSpPr>
        <p:spPr>
          <a:xfrm>
            <a:off x="7360920" y="4343400"/>
            <a:ext cx="4007815" cy="365760"/>
          </a:xfrm>
          <a:prstGeom prst="rect">
            <a:avLst/>
          </a:prstGeom>
          <a:noFill/>
          <a:ln/>
        </p:spPr>
        <p:txBody>
          <a:bodyPr wrap="square" lIns="0" tIns="0" rIns="0" bIns="0" rtlCol="0" anchor="t"/>
          <a:lstStyle/>
          <a:p>
            <a:pPr indent="0" marL="0">
              <a:buNone/>
            </a:pPr>
            <a:r>
              <a:rPr lang="en-US" sz="1600" b="1" dirty="0">
                <a:solidFill>
                  <a:schemeClr val="tx2"/>
                </a:solidFill>
              </a:rPr>
              <a:t>Where the LLM sits</a:t>
            </a:r>
            <a:endParaRPr lang="en-US" sz="1600" dirty="0"/>
          </a:p>
        </p:txBody>
      </p:sp>
      <p:sp>
        <p:nvSpPr>
          <p:cNvPr id="30" name="text-173"/>
          <p:cNvSpPr txBox="1"/>
          <p:nvPr/>
        </p:nvSpPr>
        <p:spPr>
          <a:xfrm>
            <a:off x="7360920" y="4754880"/>
            <a:ext cx="4007815" cy="1188720"/>
          </a:xfrm>
          <a:prstGeom prst="rect">
            <a:avLst/>
          </a:prstGeom>
          <a:noFill/>
          <a:ln/>
        </p:spPr>
        <p:txBody>
          <a:bodyPr wrap="square" lIns="0" tIns="0" rIns="0" bIns="0" rtlCol="0" anchor="t"/>
          <a:lstStyle/>
          <a:p>
            <a:pPr indent="0" marL="0">
              <a:buNone/>
            </a:pPr>
            <a:r>
              <a:rPr lang="en-US" sz="1400" dirty="0">
                <a:solidFill>
                  <a:schemeClr val="tx1"/>
                </a:solidFill>
              </a:rPr>
              <a:t>After ranking, only for accounts on the call list. Scores and ranks are identical with the LLM switched off.</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rPr>
              <a:t>How it is evaluated</a:t>
            </a: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lIns="0" tIns="0" rIns="0" bIns="0" rtlCol="0" anchor="t"/>
          <a:lstStyle/>
          <a:p>
            <a:pPr algn="l" indent="0" marL="0">
              <a:buNone/>
            </a:pPr>
            <a:r>
              <a:rPr lang="en-US" sz="1600" dirty="0">
                <a:solidFill>
                  <a:schemeClr val="accent5"/>
                </a:solidFill>
              </a:rPr>
              <a:t>Judged by replaying the weekly call list: the real decision is who fills a CSM's 15 slots each week</a:t>
            </a:r>
            <a:endParaRPr lang="en-US" sz="1600" dirty="0"/>
          </a:p>
        </p:txBody>
      </p:sp>
      <p:graphicFrame>
        <p:nvGraphicFramePr>
          <p:cNvPr id="4" name="chart-174" descr=""/>
          <p:cNvGraphicFramePr/>
          <p:nvPr/>
        </p:nvGraphicFramePr>
        <p:xfrm>
          <a:off x="548640" y="1600200"/>
          <a:ext cx="6766560" cy="4434840"/>
        </p:xfrm>
        <a:graphic xmlns:a="http://schemas.openxmlformats.org/drawingml/2006/main">
          <a:graphicData uri="http://schemas.openxmlformats.org/drawingml/2006/chart">
            <c:chart xmlns:c="http://schemas.openxmlformats.org/drawingml/2006/chart" r:id="rId1"/>
          </a:graphicData>
        </a:graphic>
      </p:graphicFrame>
      <p:sp>
        <p:nvSpPr>
          <p:cNvPr id="5" name="text-175"/>
          <p:cNvSpPr txBox="1"/>
          <p:nvPr/>
        </p:nvSpPr>
        <p:spPr>
          <a:xfrm>
            <a:off x="7635240" y="1645920"/>
            <a:ext cx="4007815" cy="292608"/>
          </a:xfrm>
          <a:prstGeom prst="rect">
            <a:avLst/>
          </a:prstGeom>
          <a:noFill/>
          <a:ln/>
        </p:spPr>
        <p:txBody>
          <a:bodyPr wrap="square" lIns="0" tIns="0" rIns="0" bIns="0" rtlCol="0" anchor="t"/>
          <a:lstStyle/>
          <a:p>
            <a:pPr indent="0" marL="0">
              <a:buNone/>
            </a:pPr>
            <a:r>
              <a:rPr lang="en-US" sz="1500" b="1" dirty="0">
                <a:solidFill>
                  <a:schemeClr val="tx2"/>
                </a:solidFill>
              </a:rPr>
              <a:t>Ranking accuracy</a:t>
            </a:r>
            <a:endParaRPr lang="en-US" sz="1500" dirty="0"/>
          </a:p>
        </p:txBody>
      </p:sp>
      <p:sp>
        <p:nvSpPr>
          <p:cNvPr id="6" name="text-176"/>
          <p:cNvSpPr txBox="1"/>
          <p:nvPr/>
        </p:nvSpPr>
        <p:spPr>
          <a:xfrm>
            <a:off x="7635240" y="1947672"/>
            <a:ext cx="4007815" cy="566928"/>
          </a:xfrm>
          <a:prstGeom prst="rect">
            <a:avLst/>
          </a:prstGeom>
          <a:noFill/>
          <a:ln/>
        </p:spPr>
        <p:txBody>
          <a:bodyPr wrap="square" lIns="0" tIns="0" rIns="0" bIns="0" rtlCol="0" anchor="t"/>
          <a:lstStyle/>
          <a:p>
            <a:pPr indent="0" marL="0">
              <a:buNone/>
            </a:pPr>
            <a:r>
              <a:rPr lang="en-US" sz="1300" dirty="0">
                <a:solidFill>
                  <a:schemeClr val="tx1"/>
                </a:solidFill>
              </a:rPr>
              <a:t>0.75 vs 0.59 for rules (0.5 = coin flip). Finds churners about 3× better than random</a:t>
            </a:r>
            <a:endParaRPr lang="en-US" sz="1300" dirty="0"/>
          </a:p>
        </p:txBody>
      </p:sp>
      <p:sp>
        <p:nvSpPr>
          <p:cNvPr id="7" name="text-177"/>
          <p:cNvSpPr txBox="1"/>
          <p:nvPr/>
        </p:nvSpPr>
        <p:spPr>
          <a:xfrm>
            <a:off x="7635240" y="2532888"/>
            <a:ext cx="4007815" cy="292608"/>
          </a:xfrm>
          <a:prstGeom prst="rect">
            <a:avLst/>
          </a:prstGeom>
          <a:noFill/>
          <a:ln/>
        </p:spPr>
        <p:txBody>
          <a:bodyPr wrap="square" lIns="0" tIns="0" rIns="0" bIns="0" rtlCol="0" anchor="t"/>
          <a:lstStyle/>
          <a:p>
            <a:pPr indent="0" marL="0">
              <a:buNone/>
            </a:pPr>
            <a:r>
              <a:rPr lang="en-US" sz="1500" b="1" dirty="0">
                <a:solidFill>
                  <a:schemeClr val="tx2"/>
                </a:solidFill>
              </a:rPr>
              <a:t>Honest percentages</a:t>
            </a:r>
            <a:endParaRPr lang="en-US" sz="1500" dirty="0"/>
          </a:p>
        </p:txBody>
      </p:sp>
      <p:sp>
        <p:nvSpPr>
          <p:cNvPr id="8" name="text-178"/>
          <p:cNvSpPr txBox="1"/>
          <p:nvPr/>
        </p:nvSpPr>
        <p:spPr>
          <a:xfrm>
            <a:off x="7635240" y="2834640"/>
            <a:ext cx="4007815" cy="566928"/>
          </a:xfrm>
          <a:prstGeom prst="rect">
            <a:avLst/>
          </a:prstGeom>
          <a:noFill/>
          <a:ln/>
        </p:spPr>
        <p:txBody>
          <a:bodyPr wrap="square" lIns="0" tIns="0" rIns="0" bIns="0" rtlCol="0" anchor="t"/>
          <a:lstStyle/>
          <a:p>
            <a:pPr indent="0" marL="0">
              <a:buNone/>
            </a:pPr>
            <a:r>
              <a:rPr lang="en-US" sz="1300" dirty="0">
                <a:solidFill>
                  <a:schemeClr val="tx1"/>
                </a:solidFill>
              </a:rPr>
              <a:t>When it says 20%, about 1 in 5 of those accounts really don't renew</a:t>
            </a:r>
            <a:endParaRPr lang="en-US" sz="1300" dirty="0"/>
          </a:p>
        </p:txBody>
      </p:sp>
      <p:sp>
        <p:nvSpPr>
          <p:cNvPr id="9" name="text-179"/>
          <p:cNvSpPr txBox="1"/>
          <p:nvPr/>
        </p:nvSpPr>
        <p:spPr>
          <a:xfrm>
            <a:off x="7635240" y="3419856"/>
            <a:ext cx="4007815" cy="292608"/>
          </a:xfrm>
          <a:prstGeom prst="rect">
            <a:avLst/>
          </a:prstGeom>
          <a:noFill/>
          <a:ln/>
        </p:spPr>
        <p:txBody>
          <a:bodyPr wrap="square" lIns="0" tIns="0" rIns="0" bIns="0" rtlCol="0" anchor="t"/>
          <a:lstStyle/>
          <a:p>
            <a:pPr indent="0" marL="0">
              <a:buNone/>
            </a:pPr>
            <a:r>
              <a:rPr lang="en-US" sz="1500" b="1" dirty="0">
                <a:solidFill>
                  <a:schemeClr val="tx2"/>
                </a:solidFill>
              </a:rPr>
              <a:t>Fair comparison</a:t>
            </a:r>
            <a:endParaRPr lang="en-US" sz="1500" dirty="0"/>
          </a:p>
        </p:txBody>
      </p:sp>
      <p:sp>
        <p:nvSpPr>
          <p:cNvPr id="10" name="text-180"/>
          <p:cNvSpPr txBox="1"/>
          <p:nvPr/>
        </p:nvSpPr>
        <p:spPr>
          <a:xfrm>
            <a:off x="7635240" y="3721608"/>
            <a:ext cx="4007815" cy="566928"/>
          </a:xfrm>
          <a:prstGeom prst="rect">
            <a:avLst/>
          </a:prstGeom>
          <a:noFill/>
          <a:ln/>
        </p:spPr>
        <p:txBody>
          <a:bodyPr wrap="square" lIns="0" tIns="0" rIns="0" bIns="0" rtlCol="0" anchor="t"/>
          <a:lstStyle/>
          <a:p>
            <a:pPr indent="0" marL="0">
              <a:buNone/>
            </a:pPr>
            <a:r>
              <a:rPr lang="en-US" sz="1300" dirty="0">
                <a:solidFill>
                  <a:schemeClr val="tx1"/>
                </a:solidFill>
              </a:rPr>
              <a:t>Same 15 slots per CSM for every method; only the risk estimate changes</a:t>
            </a:r>
            <a:endParaRPr lang="en-US" sz="1300" dirty="0"/>
          </a:p>
        </p:txBody>
      </p:sp>
      <p:sp>
        <p:nvSpPr>
          <p:cNvPr id="11" name="text-181"/>
          <p:cNvSpPr txBox="1"/>
          <p:nvPr/>
        </p:nvSpPr>
        <p:spPr>
          <a:xfrm>
            <a:off x="7635240" y="4306824"/>
            <a:ext cx="4007815" cy="292608"/>
          </a:xfrm>
          <a:prstGeom prst="rect">
            <a:avLst/>
          </a:prstGeom>
          <a:noFill/>
          <a:ln/>
        </p:spPr>
        <p:txBody>
          <a:bodyPr wrap="square" lIns="0" tIns="0" rIns="0" bIns="0" rtlCol="0" anchor="t"/>
          <a:lstStyle/>
          <a:p>
            <a:pPr indent="0" marL="0">
              <a:buNone/>
            </a:pPr>
            <a:r>
              <a:rPr lang="en-US" sz="1500" b="1" dirty="0">
                <a:solidFill>
                  <a:schemeClr val="tx2"/>
                </a:solidFill>
              </a:rPr>
              <a:t>Hit rate</a:t>
            </a:r>
            <a:endParaRPr lang="en-US" sz="1500" dirty="0"/>
          </a:p>
        </p:txBody>
      </p:sp>
      <p:sp>
        <p:nvSpPr>
          <p:cNvPr id="12" name="text-182"/>
          <p:cNvSpPr txBox="1"/>
          <p:nvPr/>
        </p:nvSpPr>
        <p:spPr>
          <a:xfrm>
            <a:off x="7635240" y="4608576"/>
            <a:ext cx="4007815" cy="566928"/>
          </a:xfrm>
          <a:prstGeom prst="rect">
            <a:avLst/>
          </a:prstGeom>
          <a:noFill/>
          <a:ln/>
        </p:spPr>
        <p:txBody>
          <a:bodyPr wrap="square" lIns="0" tIns="0" rIns="0" bIns="0" rtlCol="0" anchor="t"/>
          <a:lstStyle/>
          <a:p>
            <a:pPr indent="0" marL="0">
              <a:buNone/>
            </a:pPr>
            <a:r>
              <a:rPr lang="en-US" sz="1300" dirty="0">
                <a:solidFill>
                  <a:schemeClr val="tx1"/>
                </a:solidFill>
              </a:rPr>
              <a:t>9.4% of call slots were real churners; even perfect foresight gets only 16%</a:t>
            </a:r>
            <a:endParaRPr lang="en-US" sz="1300" dirty="0"/>
          </a:p>
        </p:txBody>
      </p:sp>
      <p:sp>
        <p:nvSpPr>
          <p:cNvPr id="13" name="text-183"/>
          <p:cNvSpPr txBox="1"/>
          <p:nvPr/>
        </p:nvSpPr>
        <p:spPr>
          <a:xfrm>
            <a:off x="7635240" y="5193792"/>
            <a:ext cx="4007815" cy="292608"/>
          </a:xfrm>
          <a:prstGeom prst="rect">
            <a:avLst/>
          </a:prstGeom>
          <a:noFill/>
          <a:ln/>
        </p:spPr>
        <p:txBody>
          <a:bodyPr wrap="square" lIns="0" tIns="0" rIns="0" bIns="0" rtlCol="0" anchor="t"/>
          <a:lstStyle/>
          <a:p>
            <a:pPr indent="0" marL="0">
              <a:buNone/>
            </a:pPr>
            <a:r>
              <a:rPr lang="en-US" sz="1500" b="1" dirty="0">
                <a:solidFill>
                  <a:schemeClr val="tx2"/>
                </a:solidFill>
              </a:rPr>
              <a:t>Real cases</a:t>
            </a:r>
            <a:endParaRPr lang="en-US" sz="1500" dirty="0"/>
          </a:p>
        </p:txBody>
      </p:sp>
      <p:sp>
        <p:nvSpPr>
          <p:cNvPr id="14" name="text-184"/>
          <p:cNvSpPr txBox="1"/>
          <p:nvPr/>
        </p:nvSpPr>
        <p:spPr>
          <a:xfrm>
            <a:off x="7635240" y="5495544"/>
            <a:ext cx="4007815" cy="566928"/>
          </a:xfrm>
          <a:prstGeom prst="rect">
            <a:avLst/>
          </a:prstGeom>
          <a:noFill/>
          <a:ln/>
        </p:spPr>
        <p:txBody>
          <a:bodyPr wrap="square" lIns="0" tIns="0" rIns="0" bIns="0" rtlCol="0" anchor="t"/>
          <a:lstStyle/>
          <a:p>
            <a:pPr indent="0" marL="0">
              <a:buNone/>
            </a:pPr>
            <a:r>
              <a:rPr lang="en-US" sz="1300" dirty="0">
                <a:solidFill>
                  <a:schemeClr val="tx1"/>
                </a:solidFill>
              </a:rPr>
              <a:t>Kestrel listed 105 days early; the rules never listed it</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rPr>
              <a:t>How the unattended work is triggered</a:t>
            </a: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lIns="0" tIns="0" rIns="0" bIns="0" rtlCol="0" anchor="t"/>
          <a:lstStyle/>
          <a:p>
            <a:pPr algn="l" indent="0" marL="0">
              <a:buNone/>
            </a:pPr>
            <a:r>
              <a:rPr lang="en-US" sz="1600" dirty="0">
                <a:solidFill>
                  <a:schemeClr val="accent5"/>
                </a:solidFill>
              </a:rPr>
              <a:t>A scheduler container starts one run per company at 02:00 in that company's timezone; no human in the loop</a:t>
            </a:r>
            <a:endParaRPr lang="en-US" sz="1600" dirty="0"/>
          </a:p>
        </p:txBody>
      </p:sp>
      <p:sp>
        <p:nvSpPr>
          <p:cNvPr id="4" name="card-185"/>
          <p:cNvSpPr/>
          <p:nvPr/>
        </p:nvSpPr>
        <p:spPr>
          <a:xfrm>
            <a:off x="548640" y="1691640"/>
            <a:ext cx="1417320" cy="731520"/>
          </a:xfrm>
          <a:prstGeom prst="roundRect">
            <a:avLst>
              <a:gd name="adj" fmla="val 10000"/>
            </a:avLst>
          </a:prstGeom>
          <a:solidFill>
            <a:schemeClr val="bg2"/>
          </a:solidFill>
          <a:ln w="12700">
            <a:solidFill>
              <a:schemeClr val="bg2"/>
            </a:solidFill>
            <a:prstDash val="solid"/>
          </a:ln>
        </p:spPr>
      </p:sp>
      <p:sp>
        <p:nvSpPr>
          <p:cNvPr id="5" name="text-186"/>
          <p:cNvSpPr txBox="1"/>
          <p:nvPr/>
        </p:nvSpPr>
        <p:spPr>
          <a:xfrm>
            <a:off x="548640" y="1691640"/>
            <a:ext cx="1417320" cy="731520"/>
          </a:xfrm>
          <a:prstGeom prst="rect">
            <a:avLst/>
          </a:prstGeom>
          <a:noFill/>
          <a:ln/>
        </p:spPr>
        <p:txBody>
          <a:bodyPr wrap="square" lIns="0" tIns="0" rIns="0" bIns="0" rtlCol="0" anchor="ctr"/>
          <a:lstStyle/>
          <a:p>
            <a:pPr algn="ctr" indent="0" marL="0">
              <a:buNone/>
            </a:pPr>
            <a:r>
              <a:rPr lang="en-US" sz="1400" b="1" dirty="0">
                <a:solidFill>
                  <a:schemeClr val="tx2"/>
                </a:solidFill>
              </a:rPr>
              <a:t>load new data</a:t>
            </a:r>
            <a:endParaRPr lang="en-US" sz="1400" dirty="0"/>
          </a:p>
        </p:txBody>
      </p:sp>
      <p:sp>
        <p:nvSpPr>
          <p:cNvPr id="6" name="arrow-187"/>
          <p:cNvSpPr/>
          <p:nvPr/>
        </p:nvSpPr>
        <p:spPr>
          <a:xfrm>
            <a:off x="1984248" y="2057400"/>
            <a:ext cx="158953" cy="0"/>
          </a:xfrm>
          <a:prstGeom prst="line">
            <a:avLst/>
          </a:prstGeom>
          <a:noFill/>
          <a:ln w="19050">
            <a:solidFill>
              <a:schemeClr val="accent5"/>
            </a:solidFill>
            <a:prstDash val="solid"/>
            <a:tailEnd type="triangle"/>
          </a:ln>
        </p:spPr>
      </p:sp>
      <p:sp>
        <p:nvSpPr>
          <p:cNvPr id="7" name="card-188"/>
          <p:cNvSpPr/>
          <p:nvPr/>
        </p:nvSpPr>
        <p:spPr>
          <a:xfrm>
            <a:off x="2161489" y="1691640"/>
            <a:ext cx="1417320" cy="731520"/>
          </a:xfrm>
          <a:prstGeom prst="roundRect">
            <a:avLst>
              <a:gd name="adj" fmla="val 10000"/>
            </a:avLst>
          </a:prstGeom>
          <a:solidFill>
            <a:schemeClr val="bg2"/>
          </a:solidFill>
          <a:ln w="12700">
            <a:solidFill>
              <a:schemeClr val="bg2"/>
            </a:solidFill>
            <a:prstDash val="solid"/>
          </a:ln>
        </p:spPr>
      </p:sp>
      <p:sp>
        <p:nvSpPr>
          <p:cNvPr id="8" name="text-189"/>
          <p:cNvSpPr txBox="1"/>
          <p:nvPr/>
        </p:nvSpPr>
        <p:spPr>
          <a:xfrm>
            <a:off x="2161489" y="1691640"/>
            <a:ext cx="1417320" cy="731520"/>
          </a:xfrm>
          <a:prstGeom prst="rect">
            <a:avLst/>
          </a:prstGeom>
          <a:noFill/>
          <a:ln/>
        </p:spPr>
        <p:txBody>
          <a:bodyPr wrap="square" lIns="0" tIns="0" rIns="0" bIns="0" rtlCol="0" anchor="ctr"/>
          <a:lstStyle/>
          <a:p>
            <a:pPr algn="ctr" indent="0" marL="0">
              <a:buNone/>
            </a:pPr>
            <a:r>
              <a:rPr lang="en-US" sz="1400" b="1" dirty="0">
                <a:solidFill>
                  <a:schemeClr val="tx2"/>
                </a:solidFill>
              </a:rPr>
              <a:t>match records</a:t>
            </a:r>
            <a:endParaRPr lang="en-US" sz="1400" dirty="0"/>
          </a:p>
        </p:txBody>
      </p:sp>
      <p:sp>
        <p:nvSpPr>
          <p:cNvPr id="9" name="arrow-190"/>
          <p:cNvSpPr/>
          <p:nvPr/>
        </p:nvSpPr>
        <p:spPr>
          <a:xfrm>
            <a:off x="3597097" y="2057400"/>
            <a:ext cx="158953" cy="0"/>
          </a:xfrm>
          <a:prstGeom prst="line">
            <a:avLst/>
          </a:prstGeom>
          <a:noFill/>
          <a:ln w="19050">
            <a:solidFill>
              <a:schemeClr val="accent5"/>
            </a:solidFill>
            <a:prstDash val="solid"/>
            <a:tailEnd type="triangle"/>
          </a:ln>
        </p:spPr>
      </p:sp>
      <p:sp>
        <p:nvSpPr>
          <p:cNvPr id="10" name="card-191"/>
          <p:cNvSpPr/>
          <p:nvPr/>
        </p:nvSpPr>
        <p:spPr>
          <a:xfrm>
            <a:off x="3774338" y="1691640"/>
            <a:ext cx="1417320" cy="731520"/>
          </a:xfrm>
          <a:prstGeom prst="roundRect">
            <a:avLst>
              <a:gd name="adj" fmla="val 10000"/>
            </a:avLst>
          </a:prstGeom>
          <a:solidFill>
            <a:schemeClr val="bg2"/>
          </a:solidFill>
          <a:ln w="12700">
            <a:solidFill>
              <a:schemeClr val="bg2"/>
            </a:solidFill>
            <a:prstDash val="solid"/>
          </a:ln>
        </p:spPr>
      </p:sp>
      <p:sp>
        <p:nvSpPr>
          <p:cNvPr id="11" name="text-192"/>
          <p:cNvSpPr txBox="1"/>
          <p:nvPr/>
        </p:nvSpPr>
        <p:spPr>
          <a:xfrm>
            <a:off x="3774338" y="1691640"/>
            <a:ext cx="1417320" cy="731520"/>
          </a:xfrm>
          <a:prstGeom prst="rect">
            <a:avLst/>
          </a:prstGeom>
          <a:noFill/>
          <a:ln/>
        </p:spPr>
        <p:txBody>
          <a:bodyPr wrap="square" lIns="0" tIns="0" rIns="0" bIns="0" rtlCol="0" anchor="ctr"/>
          <a:lstStyle/>
          <a:p>
            <a:pPr algn="ctr" indent="0" marL="0">
              <a:buNone/>
            </a:pPr>
            <a:r>
              <a:rPr lang="en-US" sz="1400" b="1" dirty="0">
                <a:solidFill>
                  <a:schemeClr val="tx2"/>
                </a:solidFill>
              </a:rPr>
              <a:t>load model</a:t>
            </a:r>
            <a:endParaRPr lang="en-US" sz="1400" dirty="0"/>
          </a:p>
        </p:txBody>
      </p:sp>
      <p:sp>
        <p:nvSpPr>
          <p:cNvPr id="12" name="arrow-193"/>
          <p:cNvSpPr/>
          <p:nvPr/>
        </p:nvSpPr>
        <p:spPr>
          <a:xfrm>
            <a:off x="5209946" y="2057400"/>
            <a:ext cx="158953" cy="0"/>
          </a:xfrm>
          <a:prstGeom prst="line">
            <a:avLst/>
          </a:prstGeom>
          <a:noFill/>
          <a:ln w="19050">
            <a:solidFill>
              <a:schemeClr val="accent5"/>
            </a:solidFill>
            <a:prstDash val="solid"/>
            <a:tailEnd type="triangle"/>
          </a:ln>
        </p:spPr>
      </p:sp>
      <p:sp>
        <p:nvSpPr>
          <p:cNvPr id="13" name="card-194"/>
          <p:cNvSpPr/>
          <p:nvPr/>
        </p:nvSpPr>
        <p:spPr>
          <a:xfrm>
            <a:off x="5387188" y="1691640"/>
            <a:ext cx="1417320" cy="731520"/>
          </a:xfrm>
          <a:prstGeom prst="roundRect">
            <a:avLst>
              <a:gd name="adj" fmla="val 10000"/>
            </a:avLst>
          </a:prstGeom>
          <a:solidFill>
            <a:schemeClr val="bg2"/>
          </a:solidFill>
          <a:ln w="12700">
            <a:solidFill>
              <a:schemeClr val="bg2"/>
            </a:solidFill>
            <a:prstDash val="solid"/>
          </a:ln>
        </p:spPr>
      </p:sp>
      <p:sp>
        <p:nvSpPr>
          <p:cNvPr id="14" name="text-195"/>
          <p:cNvSpPr txBox="1"/>
          <p:nvPr/>
        </p:nvSpPr>
        <p:spPr>
          <a:xfrm>
            <a:off x="5387188" y="1691640"/>
            <a:ext cx="1417320" cy="731520"/>
          </a:xfrm>
          <a:prstGeom prst="rect">
            <a:avLst/>
          </a:prstGeom>
          <a:noFill/>
          <a:ln/>
        </p:spPr>
        <p:txBody>
          <a:bodyPr wrap="square" lIns="0" tIns="0" rIns="0" bIns="0" rtlCol="0" anchor="ctr"/>
          <a:lstStyle/>
          <a:p>
            <a:pPr algn="ctr" indent="0" marL="0">
              <a:buNone/>
            </a:pPr>
            <a:r>
              <a:rPr lang="en-US" sz="1400" b="1" dirty="0">
                <a:solidFill>
                  <a:schemeClr val="tx2"/>
                </a:solidFill>
              </a:rPr>
              <a:t>build signals</a:t>
            </a:r>
            <a:endParaRPr lang="en-US" sz="1400" dirty="0"/>
          </a:p>
        </p:txBody>
      </p:sp>
      <p:sp>
        <p:nvSpPr>
          <p:cNvPr id="15" name="arrow-196"/>
          <p:cNvSpPr/>
          <p:nvPr/>
        </p:nvSpPr>
        <p:spPr>
          <a:xfrm>
            <a:off x="6822796" y="2057400"/>
            <a:ext cx="158953" cy="0"/>
          </a:xfrm>
          <a:prstGeom prst="line">
            <a:avLst/>
          </a:prstGeom>
          <a:noFill/>
          <a:ln w="19050">
            <a:solidFill>
              <a:schemeClr val="accent5"/>
            </a:solidFill>
            <a:prstDash val="solid"/>
            <a:tailEnd type="triangle"/>
          </a:ln>
        </p:spPr>
      </p:sp>
      <p:sp>
        <p:nvSpPr>
          <p:cNvPr id="16" name="card-197"/>
          <p:cNvSpPr/>
          <p:nvPr/>
        </p:nvSpPr>
        <p:spPr>
          <a:xfrm>
            <a:off x="7000037" y="1691640"/>
            <a:ext cx="1417320" cy="731520"/>
          </a:xfrm>
          <a:prstGeom prst="roundRect">
            <a:avLst>
              <a:gd name="adj" fmla="val 10000"/>
            </a:avLst>
          </a:prstGeom>
          <a:solidFill>
            <a:schemeClr val="bg2"/>
          </a:solidFill>
          <a:ln w="12700">
            <a:solidFill>
              <a:schemeClr val="bg2"/>
            </a:solidFill>
            <a:prstDash val="solid"/>
          </a:ln>
        </p:spPr>
      </p:sp>
      <p:sp>
        <p:nvSpPr>
          <p:cNvPr id="17" name="text-198"/>
          <p:cNvSpPr txBox="1"/>
          <p:nvPr/>
        </p:nvSpPr>
        <p:spPr>
          <a:xfrm>
            <a:off x="7000037" y="1691640"/>
            <a:ext cx="1417320" cy="731520"/>
          </a:xfrm>
          <a:prstGeom prst="rect">
            <a:avLst/>
          </a:prstGeom>
          <a:noFill/>
          <a:ln/>
        </p:spPr>
        <p:txBody>
          <a:bodyPr wrap="square" lIns="0" tIns="0" rIns="0" bIns="0" rtlCol="0" anchor="ctr"/>
          <a:lstStyle/>
          <a:p>
            <a:pPr algn="ctr" indent="0" marL="0">
              <a:buNone/>
            </a:pPr>
            <a:r>
              <a:rPr lang="en-US" sz="1400" b="1" dirty="0">
                <a:solidFill>
                  <a:schemeClr val="tx2"/>
                </a:solidFill>
              </a:rPr>
              <a:t>score</a:t>
            </a:r>
            <a:endParaRPr lang="en-US" sz="1400" dirty="0"/>
          </a:p>
        </p:txBody>
      </p:sp>
      <p:sp>
        <p:nvSpPr>
          <p:cNvPr id="18" name="arrow-199"/>
          <p:cNvSpPr/>
          <p:nvPr/>
        </p:nvSpPr>
        <p:spPr>
          <a:xfrm>
            <a:off x="8435645" y="2057400"/>
            <a:ext cx="158953" cy="0"/>
          </a:xfrm>
          <a:prstGeom prst="line">
            <a:avLst/>
          </a:prstGeom>
          <a:noFill/>
          <a:ln w="19050">
            <a:solidFill>
              <a:schemeClr val="accent5"/>
            </a:solidFill>
            <a:prstDash val="solid"/>
            <a:tailEnd type="triangle"/>
          </a:ln>
        </p:spPr>
      </p:sp>
      <p:sp>
        <p:nvSpPr>
          <p:cNvPr id="19" name="card-200"/>
          <p:cNvSpPr/>
          <p:nvPr/>
        </p:nvSpPr>
        <p:spPr>
          <a:xfrm>
            <a:off x="8612886" y="1691640"/>
            <a:ext cx="1417320" cy="731520"/>
          </a:xfrm>
          <a:prstGeom prst="roundRect">
            <a:avLst>
              <a:gd name="adj" fmla="val 10000"/>
            </a:avLst>
          </a:prstGeom>
          <a:solidFill>
            <a:schemeClr val="bg2"/>
          </a:solidFill>
          <a:ln w="12700">
            <a:solidFill>
              <a:schemeClr val="bg2"/>
            </a:solidFill>
            <a:prstDash val="solid"/>
          </a:ln>
        </p:spPr>
      </p:sp>
      <p:sp>
        <p:nvSpPr>
          <p:cNvPr id="20" name="text-201"/>
          <p:cNvSpPr txBox="1"/>
          <p:nvPr/>
        </p:nvSpPr>
        <p:spPr>
          <a:xfrm>
            <a:off x="8612886" y="1691640"/>
            <a:ext cx="1417320" cy="731520"/>
          </a:xfrm>
          <a:prstGeom prst="rect">
            <a:avLst/>
          </a:prstGeom>
          <a:noFill/>
          <a:ln/>
        </p:spPr>
        <p:txBody>
          <a:bodyPr wrap="square" lIns="0" tIns="0" rIns="0" bIns="0" rtlCol="0" anchor="ctr"/>
          <a:lstStyle/>
          <a:p>
            <a:pPr algn="ctr" indent="0" marL="0">
              <a:buNone/>
            </a:pPr>
            <a:r>
              <a:rPr lang="en-US" sz="1400" b="1" dirty="0">
                <a:solidFill>
                  <a:schemeClr val="tx2"/>
                </a:solidFill>
              </a:rPr>
              <a:t>save scores</a:t>
            </a:r>
            <a:endParaRPr lang="en-US" sz="1400" dirty="0"/>
          </a:p>
        </p:txBody>
      </p:sp>
      <p:sp>
        <p:nvSpPr>
          <p:cNvPr id="21" name="arrow-202"/>
          <p:cNvSpPr/>
          <p:nvPr/>
        </p:nvSpPr>
        <p:spPr>
          <a:xfrm>
            <a:off x="10048494" y="2057400"/>
            <a:ext cx="158953" cy="0"/>
          </a:xfrm>
          <a:prstGeom prst="line">
            <a:avLst/>
          </a:prstGeom>
          <a:noFill/>
          <a:ln w="19050">
            <a:solidFill>
              <a:schemeClr val="accent5"/>
            </a:solidFill>
            <a:prstDash val="solid"/>
            <a:tailEnd type="triangle"/>
          </a:ln>
        </p:spPr>
      </p:sp>
      <p:sp>
        <p:nvSpPr>
          <p:cNvPr id="22" name="card-203"/>
          <p:cNvSpPr/>
          <p:nvPr/>
        </p:nvSpPr>
        <p:spPr>
          <a:xfrm>
            <a:off x="10225735" y="1691640"/>
            <a:ext cx="1417320" cy="731520"/>
          </a:xfrm>
          <a:prstGeom prst="roundRect">
            <a:avLst>
              <a:gd name="adj" fmla="val 10000"/>
            </a:avLst>
          </a:prstGeom>
          <a:solidFill>
            <a:schemeClr val="tx2"/>
          </a:solidFill>
          <a:ln w="12700">
            <a:solidFill>
              <a:schemeClr val="tx2"/>
            </a:solidFill>
            <a:prstDash val="solid"/>
          </a:ln>
        </p:spPr>
      </p:sp>
      <p:sp>
        <p:nvSpPr>
          <p:cNvPr id="23" name="text-204"/>
          <p:cNvSpPr txBox="1"/>
          <p:nvPr/>
        </p:nvSpPr>
        <p:spPr>
          <a:xfrm>
            <a:off x="10225735" y="1691640"/>
            <a:ext cx="1417320" cy="731520"/>
          </a:xfrm>
          <a:prstGeom prst="rect">
            <a:avLst/>
          </a:prstGeom>
          <a:noFill/>
          <a:ln/>
        </p:spPr>
        <p:txBody>
          <a:bodyPr wrap="square" lIns="0" tIns="0" rIns="0" bIns="0" rtlCol="0" anchor="ctr"/>
          <a:lstStyle/>
          <a:p>
            <a:pPr algn="ctr" indent="0" marL="0">
              <a:buNone/>
            </a:pPr>
            <a:r>
              <a:rPr lang="en-US" sz="1400" b="1" dirty="0">
                <a:solidFill>
                  <a:schemeClr val="bg1"/>
                </a:solidFill>
              </a:rPr>
              <a:t>write notes</a:t>
            </a:r>
            <a:endParaRPr lang="en-US" sz="1400" dirty="0"/>
          </a:p>
        </p:txBody>
      </p:sp>
      <p:sp>
        <p:nvSpPr>
          <p:cNvPr id="24" name="text-205"/>
          <p:cNvSpPr txBox="1"/>
          <p:nvPr/>
        </p:nvSpPr>
        <p:spPr>
          <a:xfrm>
            <a:off x="548640" y="2514600"/>
            <a:ext cx="11094415" cy="320040"/>
          </a:xfrm>
          <a:prstGeom prst="rect">
            <a:avLst/>
          </a:prstGeom>
          <a:noFill/>
          <a:ln/>
        </p:spPr>
        <p:txBody>
          <a:bodyPr wrap="square" lIns="0" tIns="0" rIns="0" bIns="0" rtlCol="0" anchor="t"/>
          <a:lstStyle/>
          <a:p>
            <a:pPr indent="0" marL="0">
              <a:buNone/>
            </a:pPr>
            <a:r>
              <a:rPr lang="en-US" sz="1300" dirty="0">
                <a:solidFill>
                  <a:schemeClr val="accent5"/>
                </a:solidFill>
              </a:rPr>
              <a:t>Each step is timed and logged; the run reports it is alive every few seconds; notes are saved in batches of 50</a:t>
            </a:r>
            <a:endParaRPr lang="en-US" sz="1300" dirty="0"/>
          </a:p>
        </p:txBody>
      </p:sp>
      <p:sp>
        <p:nvSpPr>
          <p:cNvPr id="25" name="card-206"/>
          <p:cNvSpPr/>
          <p:nvPr/>
        </p:nvSpPr>
        <p:spPr>
          <a:xfrm>
            <a:off x="548640" y="3017520"/>
            <a:ext cx="3515258" cy="3017520"/>
          </a:xfrm>
          <a:prstGeom prst="roundRect">
            <a:avLst>
              <a:gd name="adj" fmla="val 2424"/>
            </a:avLst>
          </a:prstGeom>
          <a:solidFill>
            <a:schemeClr val="bg2"/>
          </a:solidFill>
          <a:ln w="12700">
            <a:solidFill>
              <a:schemeClr val="bg2"/>
            </a:solidFill>
            <a:prstDash val="solid"/>
          </a:ln>
        </p:spPr>
      </p:sp>
      <p:sp>
        <p:nvSpPr>
          <p:cNvPr id="26" name="text-207"/>
          <p:cNvSpPr txBox="1"/>
          <p:nvPr/>
        </p:nvSpPr>
        <p:spPr>
          <a:xfrm>
            <a:off x="777240" y="3182112"/>
            <a:ext cx="3058058" cy="365760"/>
          </a:xfrm>
          <a:prstGeom prst="rect">
            <a:avLst/>
          </a:prstGeom>
          <a:noFill/>
          <a:ln/>
        </p:spPr>
        <p:txBody>
          <a:bodyPr wrap="square" lIns="0" tIns="0" rIns="0" bIns="0" rtlCol="0" anchor="t"/>
          <a:lstStyle/>
          <a:p>
            <a:pPr indent="0" marL="0">
              <a:buNone/>
            </a:pPr>
            <a:r>
              <a:rPr lang="en-US" sz="1600" b="1" dirty="0">
                <a:solidFill>
                  <a:schemeClr val="tx2"/>
                </a:solidFill>
              </a:rPr>
              <a:t>When it fails</a:t>
            </a:r>
            <a:endParaRPr lang="en-US" sz="1600" dirty="0"/>
          </a:p>
        </p:txBody>
      </p:sp>
      <p:sp>
        <p:nvSpPr>
          <p:cNvPr id="27" name="text-208"/>
          <p:cNvSpPr txBox="1"/>
          <p:nvPr/>
        </p:nvSpPr>
        <p:spPr>
          <a:xfrm>
            <a:off x="777240" y="3657600"/>
            <a:ext cx="3058058"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Resumed once automatically, from the failed step</a:t>
            </a:r>
            <a:endParaRPr lang="en-US" sz="1400" dirty="0"/>
          </a:p>
          <a:p>
            <a:pPr marL="177800" indent="-177800">
              <a:spcAft>
                <a:spcPts val="600"/>
              </a:spcAft>
              <a:buSzPct val="100000"/>
              <a:buChar char="•"/>
            </a:pPr>
            <a:r>
              <a:rPr lang="en-US" sz="1400" dirty="0">
                <a:solidFill>
                  <a:schemeClr val="tx1"/>
                </a:solidFill>
              </a:rPr>
              <a:t>Steps already done, and notes already written, are skipped</a:t>
            </a:r>
            <a:endParaRPr lang="en-US" sz="1400" dirty="0"/>
          </a:p>
          <a:p>
            <a:pPr marL="177800" indent="-177800">
              <a:spcAft>
                <a:spcPts val="600"/>
              </a:spcAft>
              <a:buSzPct val="100000"/>
              <a:buChar char="•"/>
            </a:pPr>
            <a:r>
              <a:rPr lang="en-US" sz="1400" dirty="0">
                <a:solidFill>
                  <a:schemeClr val="tx1"/>
                </a:solidFill>
              </a:rPr>
              <a:t>Still failing: alert, then a manager clicks Resume</a:t>
            </a:r>
            <a:endParaRPr lang="en-US" sz="1400" dirty="0"/>
          </a:p>
        </p:txBody>
      </p:sp>
      <p:sp>
        <p:nvSpPr>
          <p:cNvPr id="28" name="card-209"/>
          <p:cNvSpPr/>
          <p:nvPr/>
        </p:nvSpPr>
        <p:spPr>
          <a:xfrm>
            <a:off x="4338218" y="3017520"/>
            <a:ext cx="3515258" cy="3017520"/>
          </a:xfrm>
          <a:prstGeom prst="roundRect">
            <a:avLst>
              <a:gd name="adj" fmla="val 2424"/>
            </a:avLst>
          </a:prstGeom>
          <a:solidFill>
            <a:schemeClr val="bg2"/>
          </a:solidFill>
          <a:ln w="12700">
            <a:solidFill>
              <a:schemeClr val="bg2"/>
            </a:solidFill>
            <a:prstDash val="solid"/>
          </a:ln>
        </p:spPr>
      </p:sp>
      <p:sp>
        <p:nvSpPr>
          <p:cNvPr id="29" name="text-210"/>
          <p:cNvSpPr txBox="1"/>
          <p:nvPr/>
        </p:nvSpPr>
        <p:spPr>
          <a:xfrm>
            <a:off x="4566818" y="3182112"/>
            <a:ext cx="3058058" cy="365760"/>
          </a:xfrm>
          <a:prstGeom prst="rect">
            <a:avLst/>
          </a:prstGeom>
          <a:noFill/>
          <a:ln/>
        </p:spPr>
        <p:txBody>
          <a:bodyPr wrap="square" lIns="0" tIns="0" rIns="0" bIns="0" rtlCol="0" anchor="t"/>
          <a:lstStyle/>
          <a:p>
            <a:pPr indent="0" marL="0">
              <a:buNone/>
            </a:pPr>
            <a:r>
              <a:rPr lang="en-US" sz="1600" b="1" dirty="0">
                <a:solidFill>
                  <a:schemeClr val="tx2"/>
                </a:solidFill>
              </a:rPr>
              <a:t>Safety rails</a:t>
            </a:r>
            <a:endParaRPr lang="en-US" sz="1600" dirty="0"/>
          </a:p>
        </p:txBody>
      </p:sp>
      <p:sp>
        <p:nvSpPr>
          <p:cNvPr id="30" name="text-211"/>
          <p:cNvSpPr txBox="1"/>
          <p:nvPr/>
        </p:nvSpPr>
        <p:spPr>
          <a:xfrm>
            <a:off x="4566818" y="3657600"/>
            <a:ext cx="3058058"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 database lock per company: never two runs at once</a:t>
            </a:r>
            <a:endParaRPr lang="en-US" sz="1400" dirty="0"/>
          </a:p>
          <a:p>
            <a:pPr marL="177800" indent="-177800">
              <a:spcAft>
                <a:spcPts val="600"/>
              </a:spcAft>
              <a:buSzPct val="100000"/>
              <a:buChar char="•"/>
            </a:pPr>
            <a:r>
              <a:rPr lang="en-US" sz="1400" dirty="0">
                <a:solidFill>
                  <a:schemeClr val="tx1"/>
                </a:solidFill>
              </a:rPr>
              <a:t>Each job is a child process: a crash can't kill the scheduler</a:t>
            </a:r>
            <a:endParaRPr lang="en-US" sz="1400" dirty="0"/>
          </a:p>
          <a:p>
            <a:pPr marL="177800" indent="-177800">
              <a:spcAft>
                <a:spcPts val="600"/>
              </a:spcAft>
              <a:buSzPct val="100000"/>
              <a:buChar char="•"/>
            </a:pPr>
            <a:r>
              <a:rPr lang="en-US" sz="1400" dirty="0">
                <a:solidFill>
                  <a:schemeClr val="tx1"/>
                </a:solidFill>
              </a:rPr>
              <a:t>Morning check (06:30 UTC): closes stuck runs, starts missing ones</a:t>
            </a:r>
            <a:endParaRPr lang="en-US" sz="1400" dirty="0"/>
          </a:p>
        </p:txBody>
      </p:sp>
      <p:sp>
        <p:nvSpPr>
          <p:cNvPr id="31" name="card-212"/>
          <p:cNvSpPr/>
          <p:nvPr/>
        </p:nvSpPr>
        <p:spPr>
          <a:xfrm>
            <a:off x="8127797" y="3017520"/>
            <a:ext cx="3515258" cy="3017520"/>
          </a:xfrm>
          <a:prstGeom prst="roundRect">
            <a:avLst>
              <a:gd name="adj" fmla="val 2424"/>
            </a:avLst>
          </a:prstGeom>
          <a:solidFill>
            <a:schemeClr val="accent6"/>
          </a:solidFill>
          <a:ln w="12700">
            <a:solidFill>
              <a:schemeClr val="accent6"/>
            </a:solidFill>
            <a:prstDash val="solid"/>
          </a:ln>
        </p:spPr>
      </p:sp>
      <p:sp>
        <p:nvSpPr>
          <p:cNvPr id="32" name="text-213"/>
          <p:cNvSpPr txBox="1"/>
          <p:nvPr/>
        </p:nvSpPr>
        <p:spPr>
          <a:xfrm>
            <a:off x="8356397" y="3182112"/>
            <a:ext cx="3058058" cy="365760"/>
          </a:xfrm>
          <a:prstGeom prst="rect">
            <a:avLst/>
          </a:prstGeom>
          <a:noFill/>
          <a:ln/>
        </p:spPr>
        <p:txBody>
          <a:bodyPr wrap="square" lIns="0" tIns="0" rIns="0" bIns="0" rtlCol="0" anchor="t"/>
          <a:lstStyle/>
          <a:p>
            <a:pPr indent="0" marL="0">
              <a:buNone/>
            </a:pPr>
            <a:r>
              <a:rPr lang="en-US" sz="1600" b="1" dirty="0">
                <a:solidFill>
                  <a:schemeClr val="tx2"/>
                </a:solidFill>
              </a:rPr>
              <a:t>Why nightly, not real-time</a:t>
            </a:r>
            <a:endParaRPr lang="en-US" sz="1600" dirty="0"/>
          </a:p>
        </p:txBody>
      </p:sp>
      <p:sp>
        <p:nvSpPr>
          <p:cNvPr id="33" name="text-214"/>
          <p:cNvSpPr txBox="1"/>
          <p:nvPr/>
        </p:nvSpPr>
        <p:spPr>
          <a:xfrm>
            <a:off x="8356397" y="3657600"/>
            <a:ext cx="3058058"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The job is weekly prioritisation; churn builds over weeks (median 86-day lead)</a:t>
            </a:r>
            <a:endParaRPr lang="en-US" sz="1400" dirty="0"/>
          </a:p>
          <a:p>
            <a:pPr marL="177800" indent="-177800">
              <a:spcAft>
                <a:spcPts val="600"/>
              </a:spcAft>
              <a:buSzPct val="100000"/>
              <a:buChar char="•"/>
            </a:pPr>
            <a:r>
              <a:rPr lang="en-US" sz="1400" dirty="0">
                <a:solidFill>
                  <a:schemeClr val="tx1"/>
                </a:solidFill>
              </a:rPr>
              <a:t>Urgent events already have owners: support, dunning</a:t>
            </a:r>
            <a:endParaRPr lang="en-US" sz="1400" dirty="0"/>
          </a:p>
          <a:p>
            <a:pPr marL="177800" indent="-177800">
              <a:spcAft>
                <a:spcPts val="600"/>
              </a:spcAft>
              <a:buSzPct val="100000"/>
              <a:buChar char="•"/>
            </a:pPr>
            <a:r>
              <a:rPr lang="en-US" sz="1400" dirty="0">
                <a:solidFill>
                  <a:schemeClr val="tx1"/>
                </a:solidFill>
              </a:rPr>
              <a:t>A stable list keeps CSMs focused during the day</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rPr>
              <a:t>Trust: grounded, isolated, traceable</a:t>
            </a: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lIns="0" tIns="0" rIns="0" bIns="0" rtlCol="0" anchor="t"/>
          <a:lstStyle/>
          <a:p>
            <a:pPr algn="l" indent="0" marL="0">
              <a:buNone/>
            </a:pPr>
            <a:r>
              <a:rPr lang="en-US" sz="1600" dirty="0">
                <a:solidFill>
                  <a:schemeClr val="accent5"/>
                </a:solidFill>
              </a:rPr>
              <a:t>The places where a wrong answer would hurt a customer relationship got the most engineering</a:t>
            </a:r>
            <a:endParaRPr lang="en-US" sz="1600" dirty="0"/>
          </a:p>
        </p:txBody>
      </p:sp>
      <p:sp>
        <p:nvSpPr>
          <p:cNvPr id="4" name="card-215"/>
          <p:cNvSpPr/>
          <p:nvPr/>
        </p:nvSpPr>
        <p:spPr>
          <a:xfrm>
            <a:off x="548640" y="1645920"/>
            <a:ext cx="3515258" cy="4434840"/>
          </a:xfrm>
          <a:prstGeom prst="roundRect">
            <a:avLst>
              <a:gd name="adj" fmla="val 2081"/>
            </a:avLst>
          </a:prstGeom>
          <a:solidFill>
            <a:schemeClr val="tx2"/>
          </a:solidFill>
          <a:ln w="12700">
            <a:solidFill>
              <a:schemeClr val="tx2"/>
            </a:solidFill>
            <a:prstDash val="solid"/>
          </a:ln>
        </p:spPr>
      </p:sp>
      <p:sp>
        <p:nvSpPr>
          <p:cNvPr id="5" name="badge-216"/>
          <p:cNvSpPr/>
          <p:nvPr/>
        </p:nvSpPr>
        <p:spPr>
          <a:xfrm>
            <a:off x="777240" y="1874520"/>
            <a:ext cx="384048" cy="384048"/>
          </a:xfrm>
          <a:prstGeom prst="ellipse">
            <a:avLst/>
          </a:prstGeom>
          <a:solidFill>
            <a:schemeClr val="accent1"/>
          </a:solidFill>
          <a:ln w="12700">
            <a:solidFill>
              <a:schemeClr val="accent1"/>
            </a:solidFill>
            <a:prstDash val="solid"/>
          </a:ln>
        </p:spPr>
      </p:sp>
      <p:sp>
        <p:nvSpPr>
          <p:cNvPr id="6" name="badgetext-217"/>
          <p:cNvSpPr txBox="1"/>
          <p:nvPr/>
        </p:nvSpPr>
        <p:spPr>
          <a:xfrm>
            <a:off x="777240" y="187452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7" name="text-218"/>
          <p:cNvSpPr txBox="1"/>
          <p:nvPr/>
        </p:nvSpPr>
        <p:spPr>
          <a:xfrm>
            <a:off x="1280160" y="1874520"/>
            <a:ext cx="2600858" cy="384048"/>
          </a:xfrm>
          <a:prstGeom prst="rect">
            <a:avLst/>
          </a:prstGeom>
          <a:noFill/>
          <a:ln/>
        </p:spPr>
        <p:txBody>
          <a:bodyPr wrap="square" lIns="0" tIns="0" rIns="0" bIns="0" rtlCol="0" anchor="ctr"/>
          <a:lstStyle/>
          <a:p>
            <a:pPr indent="0" marL="0">
              <a:buNone/>
            </a:pPr>
            <a:r>
              <a:rPr lang="en-US" sz="1700" b="1" dirty="0">
                <a:solidFill>
                  <a:schemeClr val="bg1"/>
                </a:solidFill>
              </a:rPr>
              <a:t>Grounded writing</a:t>
            </a:r>
            <a:endParaRPr lang="en-US" sz="1700" dirty="0"/>
          </a:p>
        </p:txBody>
      </p:sp>
      <p:sp>
        <p:nvSpPr>
          <p:cNvPr id="8" name="text-219"/>
          <p:cNvSpPr txBox="1"/>
          <p:nvPr/>
        </p:nvSpPr>
        <p:spPr>
          <a:xfrm>
            <a:off x="777240" y="2468880"/>
            <a:ext cx="3058058" cy="347472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bg1"/>
                </a:solidFill>
              </a:rPr>
              <a:t>The AI writer (LLM) sees only a numbered list of facts</a:t>
            </a:r>
            <a:endParaRPr lang="en-US" sz="1400" dirty="0"/>
          </a:p>
          <a:p>
            <a:pPr marL="177800" indent="-177800">
              <a:spcAft>
                <a:spcPts val="700"/>
              </a:spcAft>
              <a:buSzPct val="100000"/>
              <a:buChar char="•"/>
            </a:pPr>
            <a:r>
              <a:rPr lang="en-US" sz="1400" dirty="0">
                <a:solidFill>
                  <a:schemeClr val="bg1"/>
                </a:solidFill>
              </a:rPr>
              <a:t>Every talking point must cite one; every number must appear in the cited facts</a:t>
            </a:r>
            <a:endParaRPr lang="en-US" sz="1400" dirty="0"/>
          </a:p>
          <a:p>
            <a:pPr marL="177800" indent="-177800">
              <a:spcAft>
                <a:spcPts val="700"/>
              </a:spcAft>
              <a:buSzPct val="100000"/>
              <a:buChar char="•"/>
            </a:pPr>
            <a:r>
              <a:rPr lang="en-US" sz="1400" dirty="0">
                <a:solidFill>
                  <a:schemeClr val="bg1"/>
                </a:solidFill>
              </a:rPr>
              <a:t>The email can't mention risk, churn or scores</a:t>
            </a:r>
            <a:endParaRPr lang="en-US" sz="1400" dirty="0"/>
          </a:p>
          <a:p>
            <a:pPr marL="177800" indent="-177800">
              <a:spcAft>
                <a:spcPts val="700"/>
              </a:spcAft>
              <a:buSzPct val="100000"/>
              <a:buChar char="•"/>
            </a:pPr>
            <a:r>
              <a:rPr lang="en-US" sz="1400" dirty="0">
                <a:solidFill>
                  <a:schemeClr val="bg1"/>
                </a:solidFill>
              </a:rPr>
              <a:t>Anything unsupported is removed, or falls back to a template</a:t>
            </a:r>
            <a:endParaRPr lang="en-US" sz="1400" dirty="0"/>
          </a:p>
          <a:p>
            <a:pPr marL="177800" indent="-177800">
              <a:spcAft>
                <a:spcPts val="700"/>
              </a:spcAft>
              <a:buSzPct val="100000"/>
              <a:buChar char="•"/>
            </a:pPr>
            <a:r>
              <a:rPr lang="en-US" sz="1400" dirty="0">
                <a:solidFill>
                  <a:schemeClr val="bg1"/>
                </a:solidFill>
              </a:rPr>
              <a:t>Nothing is sent automatically</a:t>
            </a:r>
            <a:endParaRPr lang="en-US" sz="1400" dirty="0"/>
          </a:p>
        </p:txBody>
      </p:sp>
      <p:sp>
        <p:nvSpPr>
          <p:cNvPr id="9" name="card-220"/>
          <p:cNvSpPr/>
          <p:nvPr/>
        </p:nvSpPr>
        <p:spPr>
          <a:xfrm>
            <a:off x="4338218" y="1645920"/>
            <a:ext cx="3515258" cy="4434840"/>
          </a:xfrm>
          <a:prstGeom prst="roundRect">
            <a:avLst>
              <a:gd name="adj" fmla="val 2081"/>
            </a:avLst>
          </a:prstGeom>
          <a:solidFill>
            <a:schemeClr val="bg2"/>
          </a:solidFill>
          <a:ln w="12700">
            <a:solidFill>
              <a:schemeClr val="bg2"/>
            </a:solidFill>
            <a:prstDash val="solid"/>
          </a:ln>
        </p:spPr>
      </p:sp>
      <p:sp>
        <p:nvSpPr>
          <p:cNvPr id="10" name="badge-221"/>
          <p:cNvSpPr/>
          <p:nvPr/>
        </p:nvSpPr>
        <p:spPr>
          <a:xfrm>
            <a:off x="4566818" y="1874520"/>
            <a:ext cx="384048" cy="384048"/>
          </a:xfrm>
          <a:prstGeom prst="ellipse">
            <a:avLst/>
          </a:prstGeom>
          <a:solidFill>
            <a:schemeClr val="accent1"/>
          </a:solidFill>
          <a:ln w="12700">
            <a:solidFill>
              <a:schemeClr val="accent1"/>
            </a:solidFill>
            <a:prstDash val="solid"/>
          </a:ln>
        </p:spPr>
      </p:sp>
      <p:sp>
        <p:nvSpPr>
          <p:cNvPr id="11" name="badgetext-222"/>
          <p:cNvSpPr txBox="1"/>
          <p:nvPr/>
        </p:nvSpPr>
        <p:spPr>
          <a:xfrm>
            <a:off x="4566818" y="187452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2" name="text-223"/>
          <p:cNvSpPr txBox="1"/>
          <p:nvPr/>
        </p:nvSpPr>
        <p:spPr>
          <a:xfrm>
            <a:off x="5069738" y="1874520"/>
            <a:ext cx="2600858" cy="384048"/>
          </a:xfrm>
          <a:prstGeom prst="rect">
            <a:avLst/>
          </a:prstGeom>
          <a:noFill/>
          <a:ln/>
        </p:spPr>
        <p:txBody>
          <a:bodyPr wrap="square" lIns="0" tIns="0" rIns="0" bIns="0" rtlCol="0" anchor="ctr"/>
          <a:lstStyle/>
          <a:p>
            <a:pPr indent="0" marL="0">
              <a:buNone/>
            </a:pPr>
            <a:r>
              <a:rPr lang="en-US" sz="1700" b="1" dirty="0">
                <a:solidFill>
                  <a:schemeClr val="tx2"/>
                </a:solidFill>
              </a:rPr>
              <a:t>Isolated companies</a:t>
            </a:r>
            <a:endParaRPr lang="en-US" sz="1700" dirty="0"/>
          </a:p>
        </p:txBody>
      </p:sp>
      <p:sp>
        <p:nvSpPr>
          <p:cNvPr id="13" name="text-224"/>
          <p:cNvSpPr txBox="1"/>
          <p:nvPr/>
        </p:nvSpPr>
        <p:spPr>
          <a:xfrm>
            <a:off x="4566818" y="2468880"/>
            <a:ext cx="3058058" cy="347472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Every row is tagged with its company</a:t>
            </a:r>
            <a:endParaRPr lang="en-US" sz="1400" dirty="0"/>
          </a:p>
          <a:p>
            <a:pPr marL="177800" indent="-177800">
              <a:spcAft>
                <a:spcPts val="700"/>
              </a:spcAft>
              <a:buSzPct val="100000"/>
              <a:buChar char="•"/>
            </a:pPr>
            <a:r>
              <a:rPr lang="en-US" sz="1400" dirty="0">
                <a:solidFill>
                  <a:schemeClr val="tx1"/>
                </a:solidFill>
              </a:rPr>
              <a:t>The database itself filters to the signed-in user's company</a:t>
            </a:r>
            <a:endParaRPr lang="en-US" sz="1400" dirty="0"/>
          </a:p>
          <a:p>
            <a:pPr marL="177800" indent="-177800">
              <a:spcAft>
                <a:spcPts val="700"/>
              </a:spcAft>
              <a:buSzPct val="100000"/>
              <a:buChar char="•"/>
            </a:pPr>
            <a:r>
              <a:rPr lang="en-US" sz="1400" dirty="0">
                <a:solidFill>
                  <a:schemeClr val="tx1"/>
                </a:solidFill>
              </a:rPr>
              <a:t>If no company is set, it returns nothing (fails safe)</a:t>
            </a:r>
            <a:endParaRPr lang="en-US" sz="1400" dirty="0"/>
          </a:p>
          <a:p>
            <a:pPr marL="177800" indent="-177800">
              <a:spcAft>
                <a:spcPts val="700"/>
              </a:spcAft>
              <a:buSzPct val="100000"/>
              <a:buChar char="•"/>
            </a:pPr>
            <a:r>
              <a:rPr lang="en-US" sz="1400" dirty="0">
                <a:solidFill>
                  <a:schemeClr val="tx1"/>
                </a:solidFill>
              </a:rPr>
              <a:t>Model and audit pages are filtered per company too</a:t>
            </a:r>
            <a:endParaRPr lang="en-US" sz="1400" dirty="0"/>
          </a:p>
          <a:p>
            <a:pPr marL="177800" indent="-177800">
              <a:spcAft>
                <a:spcPts val="700"/>
              </a:spcAft>
              <a:buSzPct val="100000"/>
              <a:buChar char="•"/>
            </a:pPr>
            <a:r>
              <a:rPr lang="en-US" sz="1400" dirty="0">
                <a:solidFill>
                  <a:schemeClr val="tx1"/>
                </a:solidFill>
              </a:rPr>
              <a:t>Tests prove cross-tenant reads and writes fail</a:t>
            </a:r>
            <a:endParaRPr lang="en-US" sz="1400" dirty="0"/>
          </a:p>
        </p:txBody>
      </p:sp>
      <p:sp>
        <p:nvSpPr>
          <p:cNvPr id="14" name="card-225"/>
          <p:cNvSpPr/>
          <p:nvPr/>
        </p:nvSpPr>
        <p:spPr>
          <a:xfrm>
            <a:off x="8127797" y="1645920"/>
            <a:ext cx="3515258" cy="4434840"/>
          </a:xfrm>
          <a:prstGeom prst="roundRect">
            <a:avLst>
              <a:gd name="adj" fmla="val 2081"/>
            </a:avLst>
          </a:prstGeom>
          <a:solidFill>
            <a:schemeClr val="bg2"/>
          </a:solidFill>
          <a:ln w="12700">
            <a:solidFill>
              <a:schemeClr val="bg2"/>
            </a:solidFill>
            <a:prstDash val="solid"/>
          </a:ln>
        </p:spPr>
      </p:sp>
      <p:sp>
        <p:nvSpPr>
          <p:cNvPr id="15" name="badge-226"/>
          <p:cNvSpPr/>
          <p:nvPr/>
        </p:nvSpPr>
        <p:spPr>
          <a:xfrm>
            <a:off x="8356397" y="1874520"/>
            <a:ext cx="384048" cy="384048"/>
          </a:xfrm>
          <a:prstGeom prst="ellipse">
            <a:avLst/>
          </a:prstGeom>
          <a:solidFill>
            <a:schemeClr val="accent1"/>
          </a:solidFill>
          <a:ln w="12700">
            <a:solidFill>
              <a:schemeClr val="accent1"/>
            </a:solidFill>
            <a:prstDash val="solid"/>
          </a:ln>
        </p:spPr>
      </p:sp>
      <p:sp>
        <p:nvSpPr>
          <p:cNvPr id="16" name="badgetext-227"/>
          <p:cNvSpPr txBox="1"/>
          <p:nvPr/>
        </p:nvSpPr>
        <p:spPr>
          <a:xfrm>
            <a:off x="8356397" y="187452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7" name="text-228"/>
          <p:cNvSpPr txBox="1"/>
          <p:nvPr/>
        </p:nvSpPr>
        <p:spPr>
          <a:xfrm>
            <a:off x="8859317" y="1874520"/>
            <a:ext cx="2600858" cy="384048"/>
          </a:xfrm>
          <a:prstGeom prst="rect">
            <a:avLst/>
          </a:prstGeom>
          <a:noFill/>
          <a:ln/>
        </p:spPr>
        <p:txBody>
          <a:bodyPr wrap="square" lIns="0" tIns="0" rIns="0" bIns="0" rtlCol="0" anchor="ctr"/>
          <a:lstStyle/>
          <a:p>
            <a:pPr indent="0" marL="0">
              <a:buNone/>
            </a:pPr>
            <a:r>
              <a:rPr lang="en-US" sz="1700" b="1" dirty="0">
                <a:solidFill>
                  <a:schemeClr val="tx2"/>
                </a:solidFill>
              </a:rPr>
              <a:t>Traceable numbers</a:t>
            </a:r>
            <a:endParaRPr lang="en-US" sz="1700" dirty="0"/>
          </a:p>
        </p:txBody>
      </p:sp>
      <p:sp>
        <p:nvSpPr>
          <p:cNvPr id="18" name="text-229"/>
          <p:cNvSpPr txBox="1"/>
          <p:nvPr/>
        </p:nvSpPr>
        <p:spPr>
          <a:xfrm>
            <a:off x="8356397" y="2468880"/>
            <a:ext cx="3058058" cy="347472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Each score links to its run, model version and exact inputs</a:t>
            </a:r>
            <a:endParaRPr lang="en-US" sz="1400" dirty="0"/>
          </a:p>
          <a:p>
            <a:pPr marL="177800" indent="-177800">
              <a:spcAft>
                <a:spcPts val="700"/>
              </a:spcAft>
              <a:buSzPct val="100000"/>
              <a:buChar char="•"/>
            </a:pPr>
            <a:r>
              <a:rPr lang="en-US" sz="1400" dirty="0">
                <a:solidFill>
                  <a:schemeClr val="tx1"/>
                </a:solidFill>
              </a:rPr>
              <a:t>Evidence drawer shows the exact source rows</a:t>
            </a:r>
            <a:endParaRPr lang="en-US" sz="1400" dirty="0"/>
          </a:p>
          <a:p>
            <a:pPr marL="177800" indent="-177800">
              <a:spcAft>
                <a:spcPts val="700"/>
              </a:spcAft>
              <a:buSzPct val="100000"/>
              <a:buChar char="•"/>
            </a:pPr>
            <a:r>
              <a:rPr lang="en-US" sz="1400" dirty="0">
                <a:solidFill>
                  <a:schemeClr val="tx1"/>
                </a:solidFill>
              </a:rPr>
              <a:t>Data that arrived after the run is shown, marked unused</a:t>
            </a:r>
            <a:endParaRPr lang="en-US" sz="1400" dirty="0"/>
          </a:p>
          <a:p>
            <a:pPr marL="177800" indent="-177800">
              <a:spcAft>
                <a:spcPts val="700"/>
              </a:spcAft>
              <a:buSzPct val="100000"/>
              <a:buChar char="•"/>
            </a:pPr>
            <a:r>
              <a:rPr lang="en-US" sz="1400" dirty="0">
                <a:solidFill>
                  <a:schemeClr val="tx1"/>
                </a:solidFill>
              </a:rPr>
              <a:t>Each record-to-account match shows how sure it is</a:t>
            </a:r>
            <a:endParaRPr lang="en-US" sz="1400" dirty="0"/>
          </a:p>
          <a:p>
            <a:pPr marL="177800" indent="-177800">
              <a:spcAft>
                <a:spcPts val="700"/>
              </a:spcAft>
              <a:buSzPct val="100000"/>
              <a:buChar char="•"/>
            </a:pPr>
            <a:r>
              <a:rPr lang="en-US" sz="1400" dirty="0">
                <a:solidFill>
                  <a:schemeClr val="tx1"/>
                </a:solidFill>
              </a:rPr>
              <a:t>Every request is logged: from a user's name to their exact request</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rPr>
              <a:t>Edge cases anticipated</a:t>
            </a: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lIns="0" tIns="0" rIns="0" bIns="0" rtlCol="0" anchor="t"/>
          <a:lstStyle/>
          <a:p>
            <a:pPr algn="l" indent="0" marL="0">
              <a:buNone/>
            </a:pPr>
            <a:r>
              <a:rPr lang="en-US" sz="1600" dirty="0">
                <a:solidFill>
                  <a:schemeClr val="accent5"/>
                </a:solidFill>
              </a:rPr>
              <a:t>Each of these has a test, a guard or a visible state in the product</a:t>
            </a:r>
            <a:endParaRPr lang="en-US" sz="1600" dirty="0"/>
          </a:p>
        </p:txBody>
      </p:sp>
      <p:sp>
        <p:nvSpPr>
          <p:cNvPr id="4" name="card-230"/>
          <p:cNvSpPr/>
          <p:nvPr/>
        </p:nvSpPr>
        <p:spPr>
          <a:xfrm>
            <a:off x="548640" y="1600200"/>
            <a:ext cx="5410048" cy="804672"/>
          </a:xfrm>
          <a:prstGeom prst="roundRect">
            <a:avLst>
              <a:gd name="adj" fmla="val 9091"/>
            </a:avLst>
          </a:prstGeom>
          <a:solidFill>
            <a:schemeClr val="bg2"/>
          </a:solidFill>
          <a:ln w="12700">
            <a:solidFill>
              <a:schemeClr val="bg2"/>
            </a:solidFill>
            <a:prstDash val="solid"/>
          </a:ln>
        </p:spPr>
      </p:sp>
      <p:sp>
        <p:nvSpPr>
          <p:cNvPr id="5" name="badge-231"/>
          <p:cNvSpPr/>
          <p:nvPr/>
        </p:nvSpPr>
        <p:spPr>
          <a:xfrm>
            <a:off x="731520" y="1810512"/>
            <a:ext cx="384048" cy="384048"/>
          </a:xfrm>
          <a:prstGeom prst="ellipse">
            <a:avLst/>
          </a:prstGeom>
          <a:solidFill>
            <a:schemeClr val="accent1"/>
          </a:solidFill>
          <a:ln w="12700">
            <a:solidFill>
              <a:schemeClr val="accent1"/>
            </a:solidFill>
            <a:prstDash val="solid"/>
          </a:ln>
        </p:spPr>
      </p:sp>
      <p:sp>
        <p:nvSpPr>
          <p:cNvPr id="6" name="badgetext-232"/>
          <p:cNvSpPr txBox="1"/>
          <p:nvPr/>
        </p:nvSpPr>
        <p:spPr>
          <a:xfrm>
            <a:off x="731520" y="1810512"/>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7" name="text-233"/>
          <p:cNvSpPr txBox="1"/>
          <p:nvPr/>
        </p:nvSpPr>
        <p:spPr>
          <a:xfrm>
            <a:off x="1280160" y="1691640"/>
            <a:ext cx="4495648" cy="329184"/>
          </a:xfrm>
          <a:prstGeom prst="rect">
            <a:avLst/>
          </a:prstGeom>
          <a:noFill/>
          <a:ln/>
        </p:spPr>
        <p:txBody>
          <a:bodyPr wrap="square" lIns="0" tIns="0" rIns="0" bIns="0" rtlCol="0" anchor="t"/>
          <a:lstStyle/>
          <a:p>
            <a:pPr indent="0" marL="0">
              <a:buNone/>
            </a:pPr>
            <a:r>
              <a:rPr lang="en-US" sz="1500" b="1" dirty="0">
                <a:solidFill>
                  <a:schemeClr val="tx2"/>
                </a:solidFill>
              </a:rPr>
              <a:t>Data arrives late</a:t>
            </a:r>
            <a:endParaRPr lang="en-US" sz="1500" dirty="0"/>
          </a:p>
        </p:txBody>
      </p:sp>
      <p:sp>
        <p:nvSpPr>
          <p:cNvPr id="8" name="text-234"/>
          <p:cNvSpPr txBox="1"/>
          <p:nvPr/>
        </p:nvSpPr>
        <p:spPr>
          <a:xfrm>
            <a:off x="1280160" y="2020824"/>
            <a:ext cx="4495648" cy="329184"/>
          </a:xfrm>
          <a:prstGeom prst="rect">
            <a:avLst/>
          </a:prstGeom>
          <a:noFill/>
          <a:ln/>
        </p:spPr>
        <p:txBody>
          <a:bodyPr wrap="square" lIns="0" tIns="0" rIns="0" bIns="0" rtlCol="0" anchor="t"/>
          <a:lstStyle/>
          <a:p>
            <a:pPr indent="0" marL="0">
              <a:buNone/>
            </a:pPr>
            <a:r>
              <a:rPr lang="en-US" sz="1300" dirty="0">
                <a:solidFill>
                  <a:schemeClr val="accent5"/>
                </a:solidFill>
              </a:rPr>
              <a:t>Scores use only what had arrived by their date</a:t>
            </a:r>
            <a:endParaRPr lang="en-US" sz="1300" dirty="0"/>
          </a:p>
        </p:txBody>
      </p:sp>
      <p:sp>
        <p:nvSpPr>
          <p:cNvPr id="9" name="card-235"/>
          <p:cNvSpPr/>
          <p:nvPr/>
        </p:nvSpPr>
        <p:spPr>
          <a:xfrm>
            <a:off x="6233008" y="1600200"/>
            <a:ext cx="5410048" cy="804672"/>
          </a:xfrm>
          <a:prstGeom prst="roundRect">
            <a:avLst>
              <a:gd name="adj" fmla="val 9091"/>
            </a:avLst>
          </a:prstGeom>
          <a:solidFill>
            <a:schemeClr val="bg2"/>
          </a:solidFill>
          <a:ln w="12700">
            <a:solidFill>
              <a:schemeClr val="bg2"/>
            </a:solidFill>
            <a:prstDash val="solid"/>
          </a:ln>
        </p:spPr>
      </p:sp>
      <p:sp>
        <p:nvSpPr>
          <p:cNvPr id="10" name="badge-236"/>
          <p:cNvSpPr/>
          <p:nvPr/>
        </p:nvSpPr>
        <p:spPr>
          <a:xfrm>
            <a:off x="6415888" y="1810512"/>
            <a:ext cx="384048" cy="384048"/>
          </a:xfrm>
          <a:prstGeom prst="ellipse">
            <a:avLst/>
          </a:prstGeom>
          <a:solidFill>
            <a:schemeClr val="accent1"/>
          </a:solidFill>
          <a:ln w="12700">
            <a:solidFill>
              <a:schemeClr val="accent1"/>
            </a:solidFill>
            <a:prstDash val="solid"/>
          </a:ln>
        </p:spPr>
      </p:sp>
      <p:sp>
        <p:nvSpPr>
          <p:cNvPr id="11" name="badgetext-237"/>
          <p:cNvSpPr txBox="1"/>
          <p:nvPr/>
        </p:nvSpPr>
        <p:spPr>
          <a:xfrm>
            <a:off x="6415888" y="1810512"/>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2" name="text-238"/>
          <p:cNvSpPr txBox="1"/>
          <p:nvPr/>
        </p:nvSpPr>
        <p:spPr>
          <a:xfrm>
            <a:off x="6964528" y="1691640"/>
            <a:ext cx="4495648" cy="329184"/>
          </a:xfrm>
          <a:prstGeom prst="rect">
            <a:avLst/>
          </a:prstGeom>
          <a:noFill/>
          <a:ln/>
        </p:spPr>
        <p:txBody>
          <a:bodyPr wrap="square" lIns="0" tIns="0" rIns="0" bIns="0" rtlCol="0" anchor="t"/>
          <a:lstStyle/>
          <a:p>
            <a:pPr indent="0" marL="0">
              <a:buNone/>
            </a:pPr>
            <a:r>
              <a:rPr lang="en-US" sz="1500" b="1" dirty="0">
                <a:solidFill>
                  <a:schemeClr val="tx2"/>
                </a:solidFill>
              </a:rPr>
              <a:t>Same record delivered twice</a:t>
            </a:r>
            <a:endParaRPr lang="en-US" sz="1500" dirty="0"/>
          </a:p>
        </p:txBody>
      </p:sp>
      <p:sp>
        <p:nvSpPr>
          <p:cNvPr id="13" name="text-239"/>
          <p:cNvSpPr txBox="1"/>
          <p:nvPr/>
        </p:nvSpPr>
        <p:spPr>
          <a:xfrm>
            <a:off x="6964528" y="2020824"/>
            <a:ext cx="4495648" cy="329184"/>
          </a:xfrm>
          <a:prstGeom prst="rect">
            <a:avLst/>
          </a:prstGeom>
          <a:noFill/>
          <a:ln/>
        </p:spPr>
        <p:txBody>
          <a:bodyPr wrap="square" lIns="0" tIns="0" rIns="0" bIns="0" rtlCol="0" anchor="t"/>
          <a:lstStyle/>
          <a:p>
            <a:pPr indent="0" marL="0">
              <a:buNone/>
            </a:pPr>
            <a:r>
              <a:rPr lang="en-US" sz="1300" dirty="0">
                <a:solidFill>
                  <a:schemeClr val="accent5"/>
                </a:solidFill>
              </a:rPr>
              <a:t>Detected at three levels; reloading changes nothing</a:t>
            </a:r>
            <a:endParaRPr lang="en-US" sz="1300" dirty="0"/>
          </a:p>
        </p:txBody>
      </p:sp>
      <p:sp>
        <p:nvSpPr>
          <p:cNvPr id="14" name="card-240"/>
          <p:cNvSpPr/>
          <p:nvPr/>
        </p:nvSpPr>
        <p:spPr>
          <a:xfrm>
            <a:off x="548640" y="2514600"/>
            <a:ext cx="5410048" cy="804672"/>
          </a:xfrm>
          <a:prstGeom prst="roundRect">
            <a:avLst>
              <a:gd name="adj" fmla="val 9091"/>
            </a:avLst>
          </a:prstGeom>
          <a:solidFill>
            <a:schemeClr val="bg2"/>
          </a:solidFill>
          <a:ln w="12700">
            <a:solidFill>
              <a:schemeClr val="bg2"/>
            </a:solidFill>
            <a:prstDash val="solid"/>
          </a:ln>
        </p:spPr>
      </p:sp>
      <p:sp>
        <p:nvSpPr>
          <p:cNvPr id="15" name="badge-241"/>
          <p:cNvSpPr/>
          <p:nvPr/>
        </p:nvSpPr>
        <p:spPr>
          <a:xfrm>
            <a:off x="731520" y="2724912"/>
            <a:ext cx="384048" cy="384048"/>
          </a:xfrm>
          <a:prstGeom prst="ellipse">
            <a:avLst/>
          </a:prstGeom>
          <a:solidFill>
            <a:schemeClr val="accent1"/>
          </a:solidFill>
          <a:ln w="12700">
            <a:solidFill>
              <a:schemeClr val="accent1"/>
            </a:solidFill>
            <a:prstDash val="solid"/>
          </a:ln>
        </p:spPr>
      </p:sp>
      <p:sp>
        <p:nvSpPr>
          <p:cNvPr id="16" name="badgetext-242"/>
          <p:cNvSpPr txBox="1"/>
          <p:nvPr/>
        </p:nvSpPr>
        <p:spPr>
          <a:xfrm>
            <a:off x="731520" y="2724912"/>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7" name="text-243"/>
          <p:cNvSpPr txBox="1"/>
          <p:nvPr/>
        </p:nvSpPr>
        <p:spPr>
          <a:xfrm>
            <a:off x="1280160" y="2606040"/>
            <a:ext cx="4495648" cy="329184"/>
          </a:xfrm>
          <a:prstGeom prst="rect">
            <a:avLst/>
          </a:prstGeom>
          <a:noFill/>
          <a:ln/>
        </p:spPr>
        <p:txBody>
          <a:bodyPr wrap="square" lIns="0" tIns="0" rIns="0" bIns="0" rtlCol="0" anchor="t"/>
          <a:lstStyle/>
          <a:p>
            <a:pPr indent="0" marL="0">
              <a:buNone/>
            </a:pPr>
            <a:r>
              <a:rPr lang="en-US" sz="1500" b="1" dirty="0">
                <a:solidFill>
                  <a:schemeClr val="tx2"/>
                </a:solidFill>
              </a:rPr>
              <a:t>No data for an account</a:t>
            </a:r>
            <a:endParaRPr lang="en-US" sz="1500" dirty="0"/>
          </a:p>
        </p:txBody>
      </p:sp>
      <p:sp>
        <p:nvSpPr>
          <p:cNvPr id="18" name="text-244"/>
          <p:cNvSpPr txBox="1"/>
          <p:nvPr/>
        </p:nvSpPr>
        <p:spPr>
          <a:xfrm>
            <a:off x="1280160" y="2935224"/>
            <a:ext cx="4495648" cy="329184"/>
          </a:xfrm>
          <a:prstGeom prst="rect">
            <a:avLst/>
          </a:prstGeom>
          <a:noFill/>
          <a:ln/>
        </p:spPr>
        <p:txBody>
          <a:bodyPr wrap="square" lIns="0" tIns="0" rIns="0" bIns="0" rtlCol="0" anchor="t"/>
          <a:lstStyle/>
          <a:p>
            <a:pPr indent="0" marL="0">
              <a:buNone/>
            </a:pPr>
            <a:r>
              <a:rPr lang="en-US" sz="1300" dirty="0">
                <a:solidFill>
                  <a:schemeClr val="accent5"/>
                </a:solidFill>
              </a:rPr>
              <a:t>Grey band, never green</a:t>
            </a:r>
            <a:endParaRPr lang="en-US" sz="1300" dirty="0"/>
          </a:p>
        </p:txBody>
      </p:sp>
      <p:sp>
        <p:nvSpPr>
          <p:cNvPr id="19" name="card-245"/>
          <p:cNvSpPr/>
          <p:nvPr/>
        </p:nvSpPr>
        <p:spPr>
          <a:xfrm>
            <a:off x="6233008" y="2514600"/>
            <a:ext cx="5410048" cy="804672"/>
          </a:xfrm>
          <a:prstGeom prst="roundRect">
            <a:avLst>
              <a:gd name="adj" fmla="val 9091"/>
            </a:avLst>
          </a:prstGeom>
          <a:solidFill>
            <a:schemeClr val="bg2"/>
          </a:solidFill>
          <a:ln w="12700">
            <a:solidFill>
              <a:schemeClr val="bg2"/>
            </a:solidFill>
            <a:prstDash val="solid"/>
          </a:ln>
        </p:spPr>
      </p:sp>
      <p:sp>
        <p:nvSpPr>
          <p:cNvPr id="20" name="badge-246"/>
          <p:cNvSpPr/>
          <p:nvPr/>
        </p:nvSpPr>
        <p:spPr>
          <a:xfrm>
            <a:off x="6415888" y="2724912"/>
            <a:ext cx="384048" cy="384048"/>
          </a:xfrm>
          <a:prstGeom prst="ellipse">
            <a:avLst/>
          </a:prstGeom>
          <a:solidFill>
            <a:schemeClr val="accent1"/>
          </a:solidFill>
          <a:ln w="12700">
            <a:solidFill>
              <a:schemeClr val="accent1"/>
            </a:solidFill>
            <a:prstDash val="solid"/>
          </a:ln>
        </p:spPr>
      </p:sp>
      <p:sp>
        <p:nvSpPr>
          <p:cNvPr id="21" name="badgetext-247"/>
          <p:cNvSpPr txBox="1"/>
          <p:nvPr/>
        </p:nvSpPr>
        <p:spPr>
          <a:xfrm>
            <a:off x="6415888" y="2724912"/>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22" name="text-248"/>
          <p:cNvSpPr txBox="1"/>
          <p:nvPr/>
        </p:nvSpPr>
        <p:spPr>
          <a:xfrm>
            <a:off x="6964528" y="2606040"/>
            <a:ext cx="4495648" cy="329184"/>
          </a:xfrm>
          <a:prstGeom prst="rect">
            <a:avLst/>
          </a:prstGeom>
          <a:noFill/>
          <a:ln/>
        </p:spPr>
        <p:txBody>
          <a:bodyPr wrap="square" lIns="0" tIns="0" rIns="0" bIns="0" rtlCol="0" anchor="t"/>
          <a:lstStyle/>
          <a:p>
            <a:pPr indent="0" marL="0">
              <a:buNone/>
            </a:pPr>
            <a:r>
              <a:rPr lang="en-US" sz="1500" b="1" dirty="0">
                <a:solidFill>
                  <a:schemeClr val="tx2"/>
                </a:solidFill>
              </a:rPr>
              <a:t>Wrong identity match</a:t>
            </a:r>
            <a:endParaRPr lang="en-US" sz="1500" dirty="0"/>
          </a:p>
        </p:txBody>
      </p:sp>
      <p:sp>
        <p:nvSpPr>
          <p:cNvPr id="23" name="text-249"/>
          <p:cNvSpPr txBox="1"/>
          <p:nvPr/>
        </p:nvSpPr>
        <p:spPr>
          <a:xfrm>
            <a:off x="6964528" y="2935224"/>
            <a:ext cx="4495648" cy="329184"/>
          </a:xfrm>
          <a:prstGeom prst="rect">
            <a:avLst/>
          </a:prstGeom>
          <a:noFill/>
          <a:ln/>
        </p:spPr>
        <p:txBody>
          <a:bodyPr wrap="square" lIns="0" tIns="0" rIns="0" bIns="0" rtlCol="0" anchor="t"/>
          <a:lstStyle/>
          <a:p>
            <a:pPr indent="0" marL="0">
              <a:buNone/>
            </a:pPr>
            <a:r>
              <a:rPr lang="en-US" sz="1300" dirty="0">
                <a:solidFill>
                  <a:schemeClr val="accent5"/>
                </a:solidFill>
              </a:rPr>
              <a:t>Unresolved queue instead of a guess</a:t>
            </a:r>
            <a:endParaRPr lang="en-US" sz="1300" dirty="0"/>
          </a:p>
        </p:txBody>
      </p:sp>
      <p:sp>
        <p:nvSpPr>
          <p:cNvPr id="24" name="card-250"/>
          <p:cNvSpPr/>
          <p:nvPr/>
        </p:nvSpPr>
        <p:spPr>
          <a:xfrm>
            <a:off x="548640" y="3429000"/>
            <a:ext cx="5410048" cy="804672"/>
          </a:xfrm>
          <a:prstGeom prst="roundRect">
            <a:avLst>
              <a:gd name="adj" fmla="val 9091"/>
            </a:avLst>
          </a:prstGeom>
          <a:solidFill>
            <a:schemeClr val="bg2"/>
          </a:solidFill>
          <a:ln w="12700">
            <a:solidFill>
              <a:schemeClr val="bg2"/>
            </a:solidFill>
            <a:prstDash val="solid"/>
          </a:ln>
        </p:spPr>
      </p:sp>
      <p:sp>
        <p:nvSpPr>
          <p:cNvPr id="25" name="badge-251"/>
          <p:cNvSpPr/>
          <p:nvPr/>
        </p:nvSpPr>
        <p:spPr>
          <a:xfrm>
            <a:off x="731520" y="3639312"/>
            <a:ext cx="384048" cy="384048"/>
          </a:xfrm>
          <a:prstGeom prst="ellipse">
            <a:avLst/>
          </a:prstGeom>
          <a:solidFill>
            <a:schemeClr val="accent1"/>
          </a:solidFill>
          <a:ln w="12700">
            <a:solidFill>
              <a:schemeClr val="accent1"/>
            </a:solidFill>
            <a:prstDash val="solid"/>
          </a:ln>
        </p:spPr>
      </p:sp>
      <p:sp>
        <p:nvSpPr>
          <p:cNvPr id="26" name="badgetext-252"/>
          <p:cNvSpPr txBox="1"/>
          <p:nvPr/>
        </p:nvSpPr>
        <p:spPr>
          <a:xfrm>
            <a:off x="731520" y="3639312"/>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27" name="text-253"/>
          <p:cNvSpPr txBox="1"/>
          <p:nvPr/>
        </p:nvSpPr>
        <p:spPr>
          <a:xfrm>
            <a:off x="1280160" y="3520440"/>
            <a:ext cx="4495648" cy="329184"/>
          </a:xfrm>
          <a:prstGeom prst="rect">
            <a:avLst/>
          </a:prstGeom>
          <a:noFill/>
          <a:ln/>
        </p:spPr>
        <p:txBody>
          <a:bodyPr wrap="square" lIns="0" tIns="0" rIns="0" bIns="0" rtlCol="0" anchor="t"/>
          <a:lstStyle/>
          <a:p>
            <a:pPr indent="0" marL="0">
              <a:buNone/>
            </a:pPr>
            <a:r>
              <a:rPr lang="en-US" sz="1500" b="1" dirty="0">
                <a:solidFill>
                  <a:schemeClr val="tx2"/>
                </a:solidFill>
              </a:rPr>
              <a:t>Stale renewal date in CRM</a:t>
            </a:r>
            <a:endParaRPr lang="en-US" sz="1500" dirty="0"/>
          </a:p>
        </p:txBody>
      </p:sp>
      <p:sp>
        <p:nvSpPr>
          <p:cNvPr id="28" name="text-254"/>
          <p:cNvSpPr txBox="1"/>
          <p:nvPr/>
        </p:nvSpPr>
        <p:spPr>
          <a:xfrm>
            <a:off x="1280160" y="3849624"/>
            <a:ext cx="4495648" cy="329184"/>
          </a:xfrm>
          <a:prstGeom prst="rect">
            <a:avLst/>
          </a:prstGeom>
          <a:noFill/>
          <a:ln/>
        </p:spPr>
        <p:txBody>
          <a:bodyPr wrap="square" lIns="0" tIns="0" rIns="0" bIns="0" rtlCol="0" anchor="t"/>
          <a:lstStyle/>
          <a:p>
            <a:pPr indent="0" marL="0">
              <a:buNone/>
            </a:pPr>
            <a:r>
              <a:rPr lang="en-US" sz="1300" dirty="0">
                <a:solidFill>
                  <a:schemeClr val="accent5"/>
                </a:solidFill>
              </a:rPr>
              <a:t>Use the contract anniversary, flagged in the UI</a:t>
            </a:r>
            <a:endParaRPr lang="en-US" sz="1300" dirty="0"/>
          </a:p>
        </p:txBody>
      </p:sp>
      <p:sp>
        <p:nvSpPr>
          <p:cNvPr id="29" name="card-255"/>
          <p:cNvSpPr/>
          <p:nvPr/>
        </p:nvSpPr>
        <p:spPr>
          <a:xfrm>
            <a:off x="6233008" y="3429000"/>
            <a:ext cx="5410048" cy="804672"/>
          </a:xfrm>
          <a:prstGeom prst="roundRect">
            <a:avLst>
              <a:gd name="adj" fmla="val 9091"/>
            </a:avLst>
          </a:prstGeom>
          <a:solidFill>
            <a:schemeClr val="bg2"/>
          </a:solidFill>
          <a:ln w="12700">
            <a:solidFill>
              <a:schemeClr val="bg2"/>
            </a:solidFill>
            <a:prstDash val="solid"/>
          </a:ln>
        </p:spPr>
      </p:sp>
      <p:sp>
        <p:nvSpPr>
          <p:cNvPr id="30" name="badge-256"/>
          <p:cNvSpPr/>
          <p:nvPr/>
        </p:nvSpPr>
        <p:spPr>
          <a:xfrm>
            <a:off x="6415888" y="3639312"/>
            <a:ext cx="384048" cy="384048"/>
          </a:xfrm>
          <a:prstGeom prst="ellipse">
            <a:avLst/>
          </a:prstGeom>
          <a:solidFill>
            <a:schemeClr val="accent1"/>
          </a:solidFill>
          <a:ln w="12700">
            <a:solidFill>
              <a:schemeClr val="accent1"/>
            </a:solidFill>
            <a:prstDash val="solid"/>
          </a:ln>
        </p:spPr>
      </p:sp>
      <p:sp>
        <p:nvSpPr>
          <p:cNvPr id="31" name="badgetext-257"/>
          <p:cNvSpPr txBox="1"/>
          <p:nvPr/>
        </p:nvSpPr>
        <p:spPr>
          <a:xfrm>
            <a:off x="6415888" y="3639312"/>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6</a:t>
            </a:r>
            <a:endParaRPr lang="en-US" sz="1400" dirty="0"/>
          </a:p>
        </p:txBody>
      </p:sp>
      <p:sp>
        <p:nvSpPr>
          <p:cNvPr id="32" name="text-258"/>
          <p:cNvSpPr txBox="1"/>
          <p:nvPr/>
        </p:nvSpPr>
        <p:spPr>
          <a:xfrm>
            <a:off x="6964528" y="3520440"/>
            <a:ext cx="4495648" cy="329184"/>
          </a:xfrm>
          <a:prstGeom prst="rect">
            <a:avLst/>
          </a:prstGeom>
          <a:noFill/>
          <a:ln/>
        </p:spPr>
        <p:txBody>
          <a:bodyPr wrap="square" lIns="0" tIns="0" rIns="0" bIns="0" rtlCol="0" anchor="t"/>
          <a:lstStyle/>
          <a:p>
            <a:pPr indent="0" marL="0">
              <a:buNone/>
            </a:pPr>
            <a:r>
              <a:rPr lang="en-US" sz="1500" b="1" dirty="0">
                <a:solidFill>
                  <a:schemeClr val="tx2"/>
                </a:solidFill>
              </a:rPr>
              <a:t>LLM invents a number</a:t>
            </a:r>
            <a:endParaRPr lang="en-US" sz="1500" dirty="0"/>
          </a:p>
        </p:txBody>
      </p:sp>
      <p:sp>
        <p:nvSpPr>
          <p:cNvPr id="33" name="text-259"/>
          <p:cNvSpPr txBox="1"/>
          <p:nvPr/>
        </p:nvSpPr>
        <p:spPr>
          <a:xfrm>
            <a:off x="6964528" y="3849624"/>
            <a:ext cx="4495648" cy="329184"/>
          </a:xfrm>
          <a:prstGeom prst="rect">
            <a:avLst/>
          </a:prstGeom>
          <a:noFill/>
          <a:ln/>
        </p:spPr>
        <p:txBody>
          <a:bodyPr wrap="square" lIns="0" tIns="0" rIns="0" bIns="0" rtlCol="0" anchor="t"/>
          <a:lstStyle/>
          <a:p>
            <a:pPr indent="0" marL="0">
              <a:buNone/>
            </a:pPr>
            <a:r>
              <a:rPr lang="en-US" sz="1300" dirty="0">
                <a:solidFill>
                  <a:schemeClr val="accent5"/>
                </a:solidFill>
              </a:rPr>
              <a:t>Claim removed; template fills the gap</a:t>
            </a:r>
            <a:endParaRPr lang="en-US" sz="1300" dirty="0"/>
          </a:p>
        </p:txBody>
      </p:sp>
      <p:sp>
        <p:nvSpPr>
          <p:cNvPr id="34" name="card-260"/>
          <p:cNvSpPr/>
          <p:nvPr/>
        </p:nvSpPr>
        <p:spPr>
          <a:xfrm>
            <a:off x="548640" y="4343400"/>
            <a:ext cx="5410048" cy="804672"/>
          </a:xfrm>
          <a:prstGeom prst="roundRect">
            <a:avLst>
              <a:gd name="adj" fmla="val 9091"/>
            </a:avLst>
          </a:prstGeom>
          <a:solidFill>
            <a:schemeClr val="bg2"/>
          </a:solidFill>
          <a:ln w="12700">
            <a:solidFill>
              <a:schemeClr val="bg2"/>
            </a:solidFill>
            <a:prstDash val="solid"/>
          </a:ln>
        </p:spPr>
      </p:sp>
      <p:sp>
        <p:nvSpPr>
          <p:cNvPr id="35" name="badge-261"/>
          <p:cNvSpPr/>
          <p:nvPr/>
        </p:nvSpPr>
        <p:spPr>
          <a:xfrm>
            <a:off x="731520" y="4553712"/>
            <a:ext cx="384048" cy="384048"/>
          </a:xfrm>
          <a:prstGeom prst="ellipse">
            <a:avLst/>
          </a:prstGeom>
          <a:solidFill>
            <a:schemeClr val="accent1"/>
          </a:solidFill>
          <a:ln w="12700">
            <a:solidFill>
              <a:schemeClr val="accent1"/>
            </a:solidFill>
            <a:prstDash val="solid"/>
          </a:ln>
        </p:spPr>
      </p:sp>
      <p:sp>
        <p:nvSpPr>
          <p:cNvPr id="36" name="badgetext-262"/>
          <p:cNvSpPr txBox="1"/>
          <p:nvPr/>
        </p:nvSpPr>
        <p:spPr>
          <a:xfrm>
            <a:off x="731520" y="4553712"/>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7</a:t>
            </a:r>
            <a:endParaRPr lang="en-US" sz="1400" dirty="0"/>
          </a:p>
        </p:txBody>
      </p:sp>
      <p:sp>
        <p:nvSpPr>
          <p:cNvPr id="37" name="text-263"/>
          <p:cNvSpPr txBox="1"/>
          <p:nvPr/>
        </p:nvSpPr>
        <p:spPr>
          <a:xfrm>
            <a:off x="1280160" y="4434840"/>
            <a:ext cx="4495648" cy="329184"/>
          </a:xfrm>
          <a:prstGeom prst="rect">
            <a:avLst/>
          </a:prstGeom>
          <a:noFill/>
          <a:ln/>
        </p:spPr>
        <p:txBody>
          <a:bodyPr wrap="square" lIns="0" tIns="0" rIns="0" bIns="0" rtlCol="0" anchor="t"/>
          <a:lstStyle/>
          <a:p>
            <a:pPr indent="0" marL="0">
              <a:buNone/>
            </a:pPr>
            <a:r>
              <a:rPr lang="en-US" sz="1500" b="1" dirty="0">
                <a:solidFill>
                  <a:schemeClr val="tx2"/>
                </a:solidFill>
              </a:rPr>
              <a:t>Run crashes halfway</a:t>
            </a:r>
            <a:endParaRPr lang="en-US" sz="1500" dirty="0"/>
          </a:p>
        </p:txBody>
      </p:sp>
      <p:sp>
        <p:nvSpPr>
          <p:cNvPr id="38" name="text-264"/>
          <p:cNvSpPr txBox="1"/>
          <p:nvPr/>
        </p:nvSpPr>
        <p:spPr>
          <a:xfrm>
            <a:off x="1280160" y="4764024"/>
            <a:ext cx="4495648" cy="329184"/>
          </a:xfrm>
          <a:prstGeom prst="rect">
            <a:avLst/>
          </a:prstGeom>
          <a:noFill/>
          <a:ln/>
        </p:spPr>
        <p:txBody>
          <a:bodyPr wrap="square" lIns="0" tIns="0" rIns="0" bIns="0" rtlCol="0" anchor="t"/>
          <a:lstStyle/>
          <a:p>
            <a:pPr indent="0" marL="0">
              <a:buNone/>
            </a:pPr>
            <a:r>
              <a:rPr lang="en-US" sz="1300" dirty="0">
                <a:solidFill>
                  <a:schemeClr val="accent5"/>
                </a:solidFill>
              </a:rPr>
              <a:t>Detected, resumed once automatically, then by a manager</a:t>
            </a:r>
            <a:endParaRPr lang="en-US" sz="1300" dirty="0"/>
          </a:p>
        </p:txBody>
      </p:sp>
      <p:sp>
        <p:nvSpPr>
          <p:cNvPr id="39" name="card-265"/>
          <p:cNvSpPr/>
          <p:nvPr/>
        </p:nvSpPr>
        <p:spPr>
          <a:xfrm>
            <a:off x="6233008" y="4343400"/>
            <a:ext cx="5410048" cy="804672"/>
          </a:xfrm>
          <a:prstGeom prst="roundRect">
            <a:avLst>
              <a:gd name="adj" fmla="val 9091"/>
            </a:avLst>
          </a:prstGeom>
          <a:solidFill>
            <a:schemeClr val="bg2"/>
          </a:solidFill>
          <a:ln w="12700">
            <a:solidFill>
              <a:schemeClr val="bg2"/>
            </a:solidFill>
            <a:prstDash val="solid"/>
          </a:ln>
        </p:spPr>
      </p:sp>
      <p:sp>
        <p:nvSpPr>
          <p:cNvPr id="40" name="badge-266"/>
          <p:cNvSpPr/>
          <p:nvPr/>
        </p:nvSpPr>
        <p:spPr>
          <a:xfrm>
            <a:off x="6415888" y="4553712"/>
            <a:ext cx="384048" cy="384048"/>
          </a:xfrm>
          <a:prstGeom prst="ellipse">
            <a:avLst/>
          </a:prstGeom>
          <a:solidFill>
            <a:schemeClr val="accent1"/>
          </a:solidFill>
          <a:ln w="12700">
            <a:solidFill>
              <a:schemeClr val="accent1"/>
            </a:solidFill>
            <a:prstDash val="solid"/>
          </a:ln>
        </p:spPr>
      </p:sp>
      <p:sp>
        <p:nvSpPr>
          <p:cNvPr id="41" name="badgetext-267"/>
          <p:cNvSpPr txBox="1"/>
          <p:nvPr/>
        </p:nvSpPr>
        <p:spPr>
          <a:xfrm>
            <a:off x="6415888" y="4553712"/>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8</a:t>
            </a:r>
            <a:endParaRPr lang="en-US" sz="1400" dirty="0"/>
          </a:p>
        </p:txBody>
      </p:sp>
      <p:sp>
        <p:nvSpPr>
          <p:cNvPr id="42" name="text-268"/>
          <p:cNvSpPr txBox="1"/>
          <p:nvPr/>
        </p:nvSpPr>
        <p:spPr>
          <a:xfrm>
            <a:off x="6964528" y="4434840"/>
            <a:ext cx="4495648" cy="329184"/>
          </a:xfrm>
          <a:prstGeom prst="rect">
            <a:avLst/>
          </a:prstGeom>
          <a:noFill/>
          <a:ln/>
        </p:spPr>
        <p:txBody>
          <a:bodyPr wrap="square" lIns="0" tIns="0" rIns="0" bIns="0" rtlCol="0" anchor="t"/>
          <a:lstStyle/>
          <a:p>
            <a:pPr indent="0" marL="0">
              <a:buNone/>
            </a:pPr>
            <a:r>
              <a:rPr lang="en-US" sz="1500" b="1" dirty="0">
                <a:solidFill>
                  <a:schemeClr val="tx2"/>
                </a:solidFill>
              </a:rPr>
              <a:t>Two runs at once</a:t>
            </a:r>
            <a:endParaRPr lang="en-US" sz="1500" dirty="0"/>
          </a:p>
        </p:txBody>
      </p:sp>
      <p:sp>
        <p:nvSpPr>
          <p:cNvPr id="43" name="text-269"/>
          <p:cNvSpPr txBox="1"/>
          <p:nvPr/>
        </p:nvSpPr>
        <p:spPr>
          <a:xfrm>
            <a:off x="6964528" y="4764024"/>
            <a:ext cx="4495648" cy="329184"/>
          </a:xfrm>
          <a:prstGeom prst="rect">
            <a:avLst/>
          </a:prstGeom>
          <a:noFill/>
          <a:ln/>
        </p:spPr>
        <p:txBody>
          <a:bodyPr wrap="square" lIns="0" tIns="0" rIns="0" bIns="0" rtlCol="0" anchor="t"/>
          <a:lstStyle/>
          <a:p>
            <a:pPr indent="0" marL="0">
              <a:buNone/>
            </a:pPr>
            <a:r>
              <a:rPr lang="en-US" sz="1300" dirty="0">
                <a:solidFill>
                  <a:schemeClr val="accent5"/>
                </a:solidFill>
              </a:rPr>
              <a:t>A per-company lock; the second request is refused</a:t>
            </a:r>
            <a:endParaRPr lang="en-US" sz="1300" dirty="0"/>
          </a:p>
        </p:txBody>
      </p:sp>
      <p:sp>
        <p:nvSpPr>
          <p:cNvPr id="44" name="card-270"/>
          <p:cNvSpPr/>
          <p:nvPr/>
        </p:nvSpPr>
        <p:spPr>
          <a:xfrm>
            <a:off x="548640" y="5257800"/>
            <a:ext cx="5410048" cy="804672"/>
          </a:xfrm>
          <a:prstGeom prst="roundRect">
            <a:avLst>
              <a:gd name="adj" fmla="val 9091"/>
            </a:avLst>
          </a:prstGeom>
          <a:solidFill>
            <a:schemeClr val="bg2"/>
          </a:solidFill>
          <a:ln w="12700">
            <a:solidFill>
              <a:schemeClr val="bg2"/>
            </a:solidFill>
            <a:prstDash val="solid"/>
          </a:ln>
        </p:spPr>
      </p:sp>
      <p:sp>
        <p:nvSpPr>
          <p:cNvPr id="45" name="badge-271"/>
          <p:cNvSpPr/>
          <p:nvPr/>
        </p:nvSpPr>
        <p:spPr>
          <a:xfrm>
            <a:off x="731520" y="5468112"/>
            <a:ext cx="384048" cy="384048"/>
          </a:xfrm>
          <a:prstGeom prst="ellipse">
            <a:avLst/>
          </a:prstGeom>
          <a:solidFill>
            <a:schemeClr val="accent1"/>
          </a:solidFill>
          <a:ln w="12700">
            <a:solidFill>
              <a:schemeClr val="accent1"/>
            </a:solidFill>
            <a:prstDash val="solid"/>
          </a:ln>
        </p:spPr>
      </p:sp>
      <p:sp>
        <p:nvSpPr>
          <p:cNvPr id="46" name="badgetext-272"/>
          <p:cNvSpPr txBox="1"/>
          <p:nvPr/>
        </p:nvSpPr>
        <p:spPr>
          <a:xfrm>
            <a:off x="731520" y="5468112"/>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9</a:t>
            </a:r>
            <a:endParaRPr lang="en-US" sz="1400" dirty="0"/>
          </a:p>
        </p:txBody>
      </p:sp>
      <p:sp>
        <p:nvSpPr>
          <p:cNvPr id="47" name="text-273"/>
          <p:cNvSpPr txBox="1"/>
          <p:nvPr/>
        </p:nvSpPr>
        <p:spPr>
          <a:xfrm>
            <a:off x="1280160" y="5349240"/>
            <a:ext cx="4495648" cy="329184"/>
          </a:xfrm>
          <a:prstGeom prst="rect">
            <a:avLst/>
          </a:prstGeom>
          <a:noFill/>
          <a:ln/>
        </p:spPr>
        <p:txBody>
          <a:bodyPr wrap="square" lIns="0" tIns="0" rIns="0" bIns="0" rtlCol="0" anchor="t"/>
          <a:lstStyle/>
          <a:p>
            <a:pPr indent="0" marL="0">
              <a:buNone/>
            </a:pPr>
            <a:r>
              <a:rPr lang="en-US" sz="1500" b="1" dirty="0">
                <a:solidFill>
                  <a:schemeClr val="tx2"/>
                </a:solidFill>
              </a:rPr>
              <a:t>Tiny company, little history</a:t>
            </a:r>
            <a:endParaRPr lang="en-US" sz="1500" dirty="0"/>
          </a:p>
        </p:txBody>
      </p:sp>
      <p:sp>
        <p:nvSpPr>
          <p:cNvPr id="48" name="text-274"/>
          <p:cNvSpPr txBox="1"/>
          <p:nvPr/>
        </p:nvSpPr>
        <p:spPr>
          <a:xfrm>
            <a:off x="1280160" y="5678424"/>
            <a:ext cx="4495648" cy="329184"/>
          </a:xfrm>
          <a:prstGeom prst="rect">
            <a:avLst/>
          </a:prstGeom>
          <a:noFill/>
          <a:ln/>
        </p:spPr>
        <p:txBody>
          <a:bodyPr wrap="square" lIns="0" tIns="0" rIns="0" bIns="0" rtlCol="0" anchor="t"/>
          <a:lstStyle/>
          <a:p>
            <a:pPr indent="0" marL="0">
              <a:buNone/>
            </a:pPr>
            <a:r>
              <a:rPr lang="en-US" sz="1300" dirty="0">
                <a:solidFill>
                  <a:schemeClr val="accent5"/>
                </a:solidFill>
              </a:rPr>
              <a:t>Shared model, percentages adjusted per company</a:t>
            </a:r>
            <a:endParaRPr lang="en-US" sz="1300" dirty="0"/>
          </a:p>
        </p:txBody>
      </p:sp>
      <p:sp>
        <p:nvSpPr>
          <p:cNvPr id="49" name="card-275"/>
          <p:cNvSpPr/>
          <p:nvPr/>
        </p:nvSpPr>
        <p:spPr>
          <a:xfrm>
            <a:off x="6233008" y="5257800"/>
            <a:ext cx="5410048" cy="804672"/>
          </a:xfrm>
          <a:prstGeom prst="roundRect">
            <a:avLst>
              <a:gd name="adj" fmla="val 9091"/>
            </a:avLst>
          </a:prstGeom>
          <a:solidFill>
            <a:schemeClr val="bg2"/>
          </a:solidFill>
          <a:ln w="12700">
            <a:solidFill>
              <a:schemeClr val="bg2"/>
            </a:solidFill>
            <a:prstDash val="solid"/>
          </a:ln>
        </p:spPr>
      </p:sp>
      <p:sp>
        <p:nvSpPr>
          <p:cNvPr id="50" name="badge-276"/>
          <p:cNvSpPr/>
          <p:nvPr/>
        </p:nvSpPr>
        <p:spPr>
          <a:xfrm>
            <a:off x="6415888" y="5468112"/>
            <a:ext cx="384048" cy="384048"/>
          </a:xfrm>
          <a:prstGeom prst="ellipse">
            <a:avLst/>
          </a:prstGeom>
          <a:solidFill>
            <a:schemeClr val="accent1"/>
          </a:solidFill>
          <a:ln w="12700">
            <a:solidFill>
              <a:schemeClr val="accent1"/>
            </a:solidFill>
            <a:prstDash val="solid"/>
          </a:ln>
        </p:spPr>
      </p:sp>
      <p:sp>
        <p:nvSpPr>
          <p:cNvPr id="51" name="badgetext-277"/>
          <p:cNvSpPr txBox="1"/>
          <p:nvPr/>
        </p:nvSpPr>
        <p:spPr>
          <a:xfrm>
            <a:off x="6415888" y="5468112"/>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10</a:t>
            </a:r>
            <a:endParaRPr lang="en-US" sz="1400" dirty="0"/>
          </a:p>
        </p:txBody>
      </p:sp>
      <p:sp>
        <p:nvSpPr>
          <p:cNvPr id="52" name="text-278"/>
          <p:cNvSpPr txBox="1"/>
          <p:nvPr/>
        </p:nvSpPr>
        <p:spPr>
          <a:xfrm>
            <a:off x="6964528" y="5349240"/>
            <a:ext cx="4495648" cy="329184"/>
          </a:xfrm>
          <a:prstGeom prst="rect">
            <a:avLst/>
          </a:prstGeom>
          <a:noFill/>
          <a:ln/>
        </p:spPr>
        <p:txBody>
          <a:bodyPr wrap="square" lIns="0" tIns="0" rIns="0" bIns="0" rtlCol="0" anchor="t"/>
          <a:lstStyle/>
          <a:p>
            <a:pPr indent="0" marL="0">
              <a:buNone/>
            </a:pPr>
            <a:r>
              <a:rPr lang="en-US" sz="1500" b="1" dirty="0">
                <a:solidFill>
                  <a:schemeClr val="tx2"/>
                </a:solidFill>
              </a:rPr>
              <a:t>A signal points the wrong way</a:t>
            </a:r>
            <a:endParaRPr lang="en-US" sz="1500" dirty="0"/>
          </a:p>
        </p:txBody>
      </p:sp>
      <p:sp>
        <p:nvSpPr>
          <p:cNvPr id="53" name="text-279"/>
          <p:cNvSpPr txBox="1"/>
          <p:nvPr/>
        </p:nvSpPr>
        <p:spPr>
          <a:xfrm>
            <a:off x="6964528" y="5678424"/>
            <a:ext cx="4495648" cy="329184"/>
          </a:xfrm>
          <a:prstGeom prst="rect">
            <a:avLst/>
          </a:prstGeom>
          <a:noFill/>
          <a:ln/>
        </p:spPr>
        <p:txBody>
          <a:bodyPr wrap="square" lIns="0" tIns="0" rIns="0" bIns="0" rtlCol="0" anchor="t"/>
          <a:lstStyle/>
          <a:p>
            <a:pPr indent="0" marL="0">
              <a:buNone/>
            </a:pPr>
            <a:r>
              <a:rPr lang="en-US" sz="1300" dirty="0">
                <a:solidFill>
                  <a:schemeClr val="accent5"/>
                </a:solidFill>
              </a:rPr>
              <a:t>Removed and refit, so no absurd reasons are shown</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rPr>
              <a:t>Trade-offs I chose</a:t>
            </a: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lIns="0" tIns="0" rIns="0" bIns="0" rtlCol="0" anchor="t"/>
          <a:lstStyle/>
          <a:p>
            <a:pPr algn="l" indent="0" marL="0">
              <a:buNone/>
            </a:pPr>
            <a:r>
              <a:rPr lang="en-US" sz="1600" dirty="0">
                <a:solidFill>
                  <a:schemeClr val="accent5"/>
                </a:solidFill>
              </a:rPr>
              <a:t>Each one gives something up; this is what and why</a:t>
            </a:r>
            <a:endParaRPr lang="en-US" sz="1600" dirty="0"/>
          </a:p>
        </p:txBody>
      </p:sp>
      <p:graphicFrame>
        <p:nvGraphicFramePr>
          <p:cNvPr id="15" name="table-28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291840"/>
                <a:gridCol w="2743200"/>
                <a:gridCol w="5059375"/>
              </a:tblGrid>
              <a:tr h="548640">
                <a:tc>
                  <a:txBody>
                    <a:bodyPr/>
                    <a:lstStyle/>
                    <a:p>
                      <a:pPr indent="0" marL="0">
                        <a:buNone/>
                      </a:pPr>
                      <a:r>
                        <a:rPr lang="en-US" sz="1400" b="1" dirty="0">
                          <a:solidFill>
                            <a:schemeClr val="bg1"/>
                          </a:solidFill>
                        </a:rPr>
                        <a:t>Chose</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Over</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Because</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solidFill>
                      <a:schemeClr val="tx2"/>
                    </a:solidFill>
                  </a:tcPr>
                </a:tc>
              </a:tr>
              <a:tr h="548640">
                <a:tc>
                  <a:txBody>
                    <a:bodyPr/>
                    <a:lstStyle/>
                    <a:p>
                      <a:pPr indent="0" marL="0">
                        <a:buNone/>
                      </a:pPr>
                      <a:r>
                        <a:rPr lang="en-US" sz="1400" b="1" dirty="0">
                          <a:solidFill>
                            <a:schemeClr val="tx2"/>
                          </a:solidFill>
                        </a:rPr>
                        <a:t>Nightly batch</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accent5"/>
                          </a:solidFill>
                        </a:rPr>
                        <a:t>Real-time scoring</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Weekly decision; median 86-day lead; a stable list</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548640">
                <a:tc>
                  <a:txBody>
                    <a:bodyPr/>
                    <a:lstStyle/>
                    <a:p>
                      <a:pPr indent="0" marL="0">
                        <a:buNone/>
                      </a:pPr>
                      <a:r>
                        <a:rPr lang="en-US" sz="1400" b="1" dirty="0">
                          <a:solidFill>
                            <a:schemeClr val="tx2"/>
                          </a:solidFill>
                        </a:rPr>
                        <a:t>Simple model (logistic regression)</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accent5"/>
                          </a:solidFill>
                        </a:rPr>
                        <a:t>Complex model (gradient boosting)</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Scored better on validation and explains each account exactly</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548640">
                <a:tc>
                  <a:txBody>
                    <a:bodyPr/>
                    <a:lstStyle/>
                    <a:p>
                      <a:pPr indent="0" marL="0">
                        <a:buNone/>
                      </a:pPr>
                      <a:r>
                        <a:rPr lang="en-US" sz="1400" b="1" dirty="0">
                          <a:solidFill>
                            <a:schemeClr val="tx2"/>
                          </a:solidFill>
                        </a:rPr>
                        <a:t>One shared model, adjusted per company</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accent5"/>
                          </a:solidFill>
                        </a:rPr>
                        <a:t>One model per company</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The smallest company has only ~100 renewals</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548640">
                <a:tc>
                  <a:txBody>
                    <a:bodyPr/>
                    <a:lstStyle/>
                    <a:p>
                      <a:pPr indent="0" marL="0">
                        <a:buNone/>
                      </a:pPr>
                      <a:r>
                        <a:rPr lang="en-US" sz="1400" b="1" dirty="0">
                          <a:solidFill>
                            <a:schemeClr val="tx2"/>
                          </a:solidFill>
                        </a:rPr>
                        <a:t>Drafts a human approves</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accent5"/>
                          </a:solidFill>
                        </a:rPr>
                        <a:t>Automatic email on red</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~10% hit rate; an email can speed up churn</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548640">
                <a:tc>
                  <a:txBody>
                    <a:bodyPr/>
                    <a:lstStyle/>
                    <a:p>
                      <a:pPr indent="0" marL="0">
                        <a:buNone/>
                      </a:pPr>
                      <a:r>
                        <a:rPr lang="en-US" sz="1400" b="1" dirty="0">
                          <a:solidFill>
                            <a:schemeClr val="tx2"/>
                          </a:solidFill>
                        </a:rPr>
                        <a:t>No minimum-risk cut-off for the call list</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accent5"/>
                          </a:solidFill>
                        </a:rPr>
                        <a:t>Only 'clearly risky' accounts</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A cut-off dropped lost revenue caught early from 93% to 64%</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548640">
                <a:tc>
                  <a:txBody>
                    <a:bodyPr/>
                    <a:lstStyle/>
                    <a:p>
                      <a:pPr indent="0" marL="0">
                        <a:buNone/>
                      </a:pPr>
                      <a:r>
                        <a:rPr lang="en-US" sz="1400" b="1" dirty="0">
                          <a:solidFill>
                            <a:schemeClr val="tx2"/>
                          </a:solidFill>
                        </a:rPr>
                        <a:t>Unresolved identity queue</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accent5"/>
                          </a:solidFill>
                        </a:rPr>
                        <a:t>Best-guess matching</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Mixing two customers is worse than a gap</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548640">
                <a:tc>
                  <a:txBody>
                    <a:bodyPr/>
                    <a:lstStyle/>
                    <a:p>
                      <a:pPr indent="0" marL="0">
                        <a:buNone/>
                      </a:pPr>
                      <a:r>
                        <a:rPr lang="en-US" sz="1400" b="1" dirty="0">
                          <a:solidFill>
                            <a:schemeClr val="tx2"/>
                          </a:solidFill>
                        </a:rPr>
                        <a:t>One AWS server + Docker Compose</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accent5"/>
                          </a:solidFill>
                        </a:rPr>
                        <a:t>Managed AWS services</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Small scale; portable; one-command deploy and rollback</a:t>
                      </a:r>
                      <a:endParaRPr lang="en-US" sz="1400" dirty="0"/>
                    </a:p>
                  </a:txBody>
                  <a:tcPr marL="127000" marR="1270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rPr>
              <a:t>Built to own and operate</a:t>
            </a: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lIns="0" tIns="0" rIns="0" bIns="0" rtlCol="0" anchor="t"/>
          <a:lstStyle/>
          <a:p>
            <a:pPr algn="l" indent="0" marL="0">
              <a:buNone/>
            </a:pPr>
            <a:r>
              <a:rPr lang="en-US" sz="1600" dirty="0">
                <a:solidFill>
                  <a:schemeClr val="accent5"/>
                </a:solidFill>
              </a:rPr>
              <a:t>Validated end to end in the production Docker setup before deployment</a:t>
            </a:r>
            <a:endParaRPr lang="en-US" sz="1600" dirty="0"/>
          </a:p>
        </p:txBody>
      </p:sp>
      <p:sp>
        <p:nvSpPr>
          <p:cNvPr id="4" name="card-281"/>
          <p:cNvSpPr/>
          <p:nvPr/>
        </p:nvSpPr>
        <p:spPr>
          <a:xfrm>
            <a:off x="548640" y="1645920"/>
            <a:ext cx="4937760" cy="960120"/>
          </a:xfrm>
          <a:prstGeom prst="roundRect">
            <a:avLst>
              <a:gd name="adj" fmla="val 7619"/>
            </a:avLst>
          </a:prstGeom>
          <a:solidFill>
            <a:schemeClr val="bg2"/>
          </a:solidFill>
          <a:ln w="12700">
            <a:solidFill>
              <a:schemeClr val="bg2"/>
            </a:solidFill>
            <a:prstDash val="solid"/>
          </a:ln>
        </p:spPr>
      </p:sp>
      <p:sp>
        <p:nvSpPr>
          <p:cNvPr id="5" name="text-282"/>
          <p:cNvSpPr txBox="1"/>
          <p:nvPr/>
        </p:nvSpPr>
        <p:spPr>
          <a:xfrm>
            <a:off x="777240" y="1737360"/>
            <a:ext cx="2011680" cy="777240"/>
          </a:xfrm>
          <a:prstGeom prst="rect">
            <a:avLst/>
          </a:prstGeom>
          <a:noFill/>
          <a:ln/>
        </p:spPr>
        <p:txBody>
          <a:bodyPr wrap="square" lIns="0" tIns="0" rIns="0" bIns="0" rtlCol="0" anchor="ctr"/>
          <a:lstStyle/>
          <a:p>
            <a:pPr indent="0" marL="0">
              <a:buNone/>
            </a:pPr>
            <a:r>
              <a:rPr lang="en-US" sz="2600" b="1" dirty="0">
                <a:solidFill>
                  <a:schemeClr val="tx2"/>
                </a:solidFill>
              </a:rPr>
              <a:t>24</a:t>
            </a:r>
            <a:endParaRPr lang="en-US" sz="2600" dirty="0"/>
          </a:p>
        </p:txBody>
      </p:sp>
      <p:sp>
        <p:nvSpPr>
          <p:cNvPr id="6" name="text-283"/>
          <p:cNvSpPr txBox="1"/>
          <p:nvPr/>
        </p:nvSpPr>
        <p:spPr>
          <a:xfrm>
            <a:off x="2834640" y="1737360"/>
            <a:ext cx="2514600" cy="777240"/>
          </a:xfrm>
          <a:prstGeom prst="rect">
            <a:avLst/>
          </a:prstGeom>
          <a:noFill/>
          <a:ln/>
        </p:spPr>
        <p:txBody>
          <a:bodyPr wrap="square" lIns="0" tIns="0" rIns="0" bIns="0" rtlCol="0" anchor="ctr"/>
          <a:lstStyle/>
          <a:p>
            <a:pPr indent="0" marL="0">
              <a:buNone/>
            </a:pPr>
            <a:r>
              <a:rPr lang="en-US" sz="1300" dirty="0">
                <a:solidFill>
                  <a:schemeClr val="tx1"/>
                </a:solidFill>
              </a:rPr>
              <a:t>automated tests: data isolation, no duplicates, traceability, permissions, AI fact-checks</a:t>
            </a:r>
            <a:endParaRPr lang="en-US" sz="1300" dirty="0"/>
          </a:p>
        </p:txBody>
      </p:sp>
      <p:sp>
        <p:nvSpPr>
          <p:cNvPr id="7" name="card-284"/>
          <p:cNvSpPr/>
          <p:nvPr/>
        </p:nvSpPr>
        <p:spPr>
          <a:xfrm>
            <a:off x="548640" y="2743200"/>
            <a:ext cx="4937760" cy="960120"/>
          </a:xfrm>
          <a:prstGeom prst="roundRect">
            <a:avLst>
              <a:gd name="adj" fmla="val 7619"/>
            </a:avLst>
          </a:prstGeom>
          <a:solidFill>
            <a:schemeClr val="bg2"/>
          </a:solidFill>
          <a:ln w="12700">
            <a:solidFill>
              <a:schemeClr val="bg2"/>
            </a:solidFill>
            <a:prstDash val="solid"/>
          </a:ln>
        </p:spPr>
      </p:sp>
      <p:sp>
        <p:nvSpPr>
          <p:cNvPr id="8" name="text-285"/>
          <p:cNvSpPr txBox="1"/>
          <p:nvPr/>
        </p:nvSpPr>
        <p:spPr>
          <a:xfrm>
            <a:off x="777240" y="2834640"/>
            <a:ext cx="2011680" cy="777240"/>
          </a:xfrm>
          <a:prstGeom prst="rect">
            <a:avLst/>
          </a:prstGeom>
          <a:noFill/>
          <a:ln/>
        </p:spPr>
        <p:txBody>
          <a:bodyPr wrap="square" lIns="0" tIns="0" rIns="0" bIns="0" rtlCol="0" anchor="ctr"/>
          <a:lstStyle/>
          <a:p>
            <a:pPr indent="0" marL="0">
              <a:buNone/>
            </a:pPr>
            <a:r>
              <a:rPr lang="en-US" sz="2600" b="1" dirty="0">
                <a:solidFill>
                  <a:schemeClr val="tx2"/>
                </a:solidFill>
              </a:rPr>
              <a:t>50 + 26</a:t>
            </a:r>
            <a:endParaRPr lang="en-US" sz="2600" dirty="0"/>
          </a:p>
        </p:txBody>
      </p:sp>
      <p:sp>
        <p:nvSpPr>
          <p:cNvPr id="9" name="text-286"/>
          <p:cNvSpPr txBox="1"/>
          <p:nvPr/>
        </p:nvSpPr>
        <p:spPr>
          <a:xfrm>
            <a:off x="2834640" y="2834640"/>
            <a:ext cx="2514600" cy="777240"/>
          </a:xfrm>
          <a:prstGeom prst="rect">
            <a:avLst/>
          </a:prstGeom>
          <a:noFill/>
          <a:ln/>
        </p:spPr>
        <p:txBody>
          <a:bodyPr wrap="square" lIns="0" tIns="0" rIns="0" bIns="0" rtlCol="0" anchor="ctr"/>
          <a:lstStyle/>
          <a:p>
            <a:pPr indent="0" marL="0">
              <a:buNone/>
            </a:pPr>
            <a:r>
              <a:rPr lang="en-US" sz="1300" dirty="0">
                <a:solidFill>
                  <a:schemeClr val="tx1"/>
                </a:solidFill>
              </a:rPr>
              <a:t>API checks and browser walkthrough steps through the full stack</a:t>
            </a:r>
            <a:endParaRPr lang="en-US" sz="1300" dirty="0"/>
          </a:p>
        </p:txBody>
      </p:sp>
      <p:sp>
        <p:nvSpPr>
          <p:cNvPr id="10" name="card-287"/>
          <p:cNvSpPr/>
          <p:nvPr/>
        </p:nvSpPr>
        <p:spPr>
          <a:xfrm>
            <a:off x="548640" y="3840480"/>
            <a:ext cx="4937760" cy="960120"/>
          </a:xfrm>
          <a:prstGeom prst="roundRect">
            <a:avLst>
              <a:gd name="adj" fmla="val 7619"/>
            </a:avLst>
          </a:prstGeom>
          <a:solidFill>
            <a:schemeClr val="bg2"/>
          </a:solidFill>
          <a:ln w="12700">
            <a:solidFill>
              <a:schemeClr val="bg2"/>
            </a:solidFill>
            <a:prstDash val="solid"/>
          </a:ln>
        </p:spPr>
      </p:sp>
      <p:sp>
        <p:nvSpPr>
          <p:cNvPr id="11" name="text-288"/>
          <p:cNvSpPr txBox="1"/>
          <p:nvPr/>
        </p:nvSpPr>
        <p:spPr>
          <a:xfrm>
            <a:off x="777240" y="3931920"/>
            <a:ext cx="2011680" cy="777240"/>
          </a:xfrm>
          <a:prstGeom prst="rect">
            <a:avLst/>
          </a:prstGeom>
          <a:noFill/>
          <a:ln/>
        </p:spPr>
        <p:txBody>
          <a:bodyPr wrap="square" lIns="0" tIns="0" rIns="0" bIns="0" rtlCol="0" anchor="ctr"/>
          <a:lstStyle/>
          <a:p>
            <a:pPr indent="0" marL="0">
              <a:buNone/>
            </a:pPr>
            <a:r>
              <a:rPr lang="en-US" sz="2600" b="1" dirty="0">
                <a:solidFill>
                  <a:schemeClr val="tx2"/>
                </a:solidFill>
              </a:rPr>
              <a:t>293 → 18 ms</a:t>
            </a:r>
            <a:endParaRPr lang="en-US" sz="2600" dirty="0"/>
          </a:p>
        </p:txBody>
      </p:sp>
      <p:sp>
        <p:nvSpPr>
          <p:cNvPr id="12" name="text-289"/>
          <p:cNvSpPr txBox="1"/>
          <p:nvPr/>
        </p:nvSpPr>
        <p:spPr>
          <a:xfrm>
            <a:off x="2834640" y="3931920"/>
            <a:ext cx="2514600" cy="777240"/>
          </a:xfrm>
          <a:prstGeom prst="rect">
            <a:avLst/>
          </a:prstGeom>
          <a:noFill/>
          <a:ln/>
        </p:spPr>
        <p:txBody>
          <a:bodyPr wrap="square" lIns="0" tIns="0" rIns="0" bIns="0" rtlCol="0" anchor="ctr"/>
          <a:lstStyle/>
          <a:p>
            <a:pPr indent="0" marL="0">
              <a:buNone/>
            </a:pPr>
            <a:r>
              <a:rPr lang="en-US" sz="1300" dirty="0">
                <a:solidFill>
                  <a:schemeClr val="tx1"/>
                </a:solidFill>
              </a:rPr>
              <a:t>account page load time after query tuning</a:t>
            </a:r>
            <a:endParaRPr lang="en-US" sz="1300" dirty="0"/>
          </a:p>
        </p:txBody>
      </p:sp>
      <p:sp>
        <p:nvSpPr>
          <p:cNvPr id="13" name="card-290"/>
          <p:cNvSpPr/>
          <p:nvPr/>
        </p:nvSpPr>
        <p:spPr>
          <a:xfrm>
            <a:off x="548640" y="4937760"/>
            <a:ext cx="4937760" cy="960120"/>
          </a:xfrm>
          <a:prstGeom prst="roundRect">
            <a:avLst>
              <a:gd name="adj" fmla="val 7619"/>
            </a:avLst>
          </a:prstGeom>
          <a:solidFill>
            <a:schemeClr val="bg2"/>
          </a:solidFill>
          <a:ln w="12700">
            <a:solidFill>
              <a:schemeClr val="bg2"/>
            </a:solidFill>
            <a:prstDash val="solid"/>
          </a:ln>
        </p:spPr>
      </p:sp>
      <p:sp>
        <p:nvSpPr>
          <p:cNvPr id="14" name="text-291"/>
          <p:cNvSpPr txBox="1"/>
          <p:nvPr/>
        </p:nvSpPr>
        <p:spPr>
          <a:xfrm>
            <a:off x="777240" y="5029200"/>
            <a:ext cx="2011680" cy="777240"/>
          </a:xfrm>
          <a:prstGeom prst="rect">
            <a:avLst/>
          </a:prstGeom>
          <a:noFill/>
          <a:ln/>
        </p:spPr>
        <p:txBody>
          <a:bodyPr wrap="square" lIns="0" tIns="0" rIns="0" bIns="0" rtlCol="0" anchor="ctr"/>
          <a:lstStyle/>
          <a:p>
            <a:pPr indent="0" marL="0">
              <a:buNone/>
            </a:pPr>
            <a:r>
              <a:rPr lang="en-US" sz="2600" b="1" dirty="0">
                <a:solidFill>
                  <a:schemeClr val="tx2"/>
                </a:solidFill>
              </a:rPr>
              <a:t>64%</a:t>
            </a:r>
            <a:endParaRPr lang="en-US" sz="2600" dirty="0"/>
          </a:p>
        </p:txBody>
      </p:sp>
      <p:sp>
        <p:nvSpPr>
          <p:cNvPr id="15" name="text-292"/>
          <p:cNvSpPr txBox="1"/>
          <p:nvPr/>
        </p:nvSpPr>
        <p:spPr>
          <a:xfrm>
            <a:off x="2834640" y="5029200"/>
            <a:ext cx="2514600" cy="777240"/>
          </a:xfrm>
          <a:prstGeom prst="rect">
            <a:avLst/>
          </a:prstGeom>
          <a:noFill/>
          <a:ln/>
        </p:spPr>
        <p:txBody>
          <a:bodyPr wrap="square" lIns="0" tIns="0" rIns="0" bIns="0" rtlCol="0" anchor="ctr"/>
          <a:lstStyle/>
          <a:p>
            <a:pPr indent="0" marL="0">
              <a:buNone/>
            </a:pPr>
            <a:r>
              <a:rPr lang="en-US" sz="1300" dirty="0">
                <a:solidFill>
                  <a:schemeClr val="tx1"/>
                </a:solidFill>
              </a:rPr>
              <a:t>of briefs reused the next night when facts are unchanged</a:t>
            </a:r>
            <a:endParaRPr lang="en-US" sz="1300" dirty="0"/>
          </a:p>
        </p:txBody>
      </p:sp>
      <p:sp>
        <p:nvSpPr>
          <p:cNvPr id="16" name="card-293"/>
          <p:cNvSpPr/>
          <p:nvPr/>
        </p:nvSpPr>
        <p:spPr>
          <a:xfrm>
            <a:off x="5852160" y="1645920"/>
            <a:ext cx="5790895" cy="4251960"/>
          </a:xfrm>
          <a:prstGeom prst="roundRect">
            <a:avLst>
              <a:gd name="adj" fmla="val 1720"/>
            </a:avLst>
          </a:prstGeom>
          <a:solidFill>
            <a:schemeClr val="tx2"/>
          </a:solidFill>
          <a:ln w="12700">
            <a:solidFill>
              <a:schemeClr val="tx2"/>
            </a:solidFill>
            <a:prstDash val="solid"/>
          </a:ln>
        </p:spPr>
      </p:sp>
      <p:sp>
        <p:nvSpPr>
          <p:cNvPr id="17" name="text-294"/>
          <p:cNvSpPr txBox="1"/>
          <p:nvPr/>
        </p:nvSpPr>
        <p:spPr>
          <a:xfrm>
            <a:off x="6126480" y="1783080"/>
            <a:ext cx="5242255" cy="365760"/>
          </a:xfrm>
          <a:prstGeom prst="rect">
            <a:avLst/>
          </a:prstGeom>
          <a:noFill/>
          <a:ln/>
        </p:spPr>
        <p:txBody>
          <a:bodyPr wrap="square" lIns="0" tIns="0" rIns="0" bIns="0" rtlCol="0" anchor="t"/>
          <a:lstStyle/>
          <a:p>
            <a:pPr indent="0" marL="0">
              <a:buNone/>
            </a:pPr>
            <a:r>
              <a:rPr lang="en-US" sz="1700" b="1" dirty="0">
                <a:solidFill>
                  <a:schemeClr val="accent1"/>
                </a:solidFill>
              </a:rPr>
              <a:t>Operational defaults</a:t>
            </a:r>
            <a:endParaRPr lang="en-US" sz="1700" dirty="0"/>
          </a:p>
        </p:txBody>
      </p:sp>
      <p:sp>
        <p:nvSpPr>
          <p:cNvPr id="18" name="text-295"/>
          <p:cNvSpPr txBox="1"/>
          <p:nvPr/>
        </p:nvSpPr>
        <p:spPr>
          <a:xfrm>
            <a:off x="6126480" y="2240280"/>
            <a:ext cx="5242255" cy="35661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Refuses to start in production with weak secrets</a:t>
            </a:r>
            <a:endParaRPr lang="en-US" sz="1400" dirty="0"/>
          </a:p>
          <a:p>
            <a:pPr marL="177800" indent="-177800">
              <a:spcAft>
                <a:spcPts val="600"/>
              </a:spcAft>
              <a:buSzPct val="100000"/>
              <a:buChar char="•"/>
            </a:pPr>
            <a:r>
              <a:rPr lang="en-US" sz="1400" dirty="0">
                <a:solidFill>
                  <a:schemeClr val="bg1"/>
                </a:solidFill>
              </a:rPr>
              <a:t>Sign-in throttling; demo password hidden in production</a:t>
            </a:r>
            <a:endParaRPr lang="en-US" sz="1400" dirty="0"/>
          </a:p>
          <a:p>
            <a:pPr marL="177800" indent="-177800">
              <a:spcAft>
                <a:spcPts val="600"/>
              </a:spcAft>
              <a:buSzPct val="100000"/>
              <a:buChar char="•"/>
            </a:pPr>
            <a:r>
              <a:rPr lang="en-US" sz="1400" dirty="0">
                <a:solidFill>
                  <a:schemeClr val="bg1"/>
                </a:solidFill>
              </a:rPr>
              <a:t>HTTPS and browser security headers; only web ports open</a:t>
            </a:r>
            <a:endParaRPr lang="en-US" sz="1400" dirty="0"/>
          </a:p>
          <a:p>
            <a:pPr marL="177800" indent="-177800">
              <a:spcAft>
                <a:spcPts val="600"/>
              </a:spcAft>
              <a:buSzPct val="100000"/>
              <a:buChar char="•"/>
            </a:pPr>
            <a:r>
              <a:rPr lang="en-US" sz="1400" dirty="0">
                <a:solidFill>
                  <a:schemeClr val="bg1"/>
                </a:solidFill>
              </a:rPr>
              <a:t>Non-root containers, health checks, capped logs</a:t>
            </a:r>
            <a:endParaRPr lang="en-US" sz="1400" dirty="0"/>
          </a:p>
          <a:p>
            <a:pPr marL="177800" indent="-177800">
              <a:spcAft>
                <a:spcPts val="600"/>
              </a:spcAft>
              <a:buSzPct val="100000"/>
              <a:buChar char="•"/>
            </a:pPr>
            <a:r>
              <a:rPr lang="en-US" sz="1400" dirty="0">
                <a:solidFill>
                  <a:schemeClr val="bg1"/>
                </a:solidFill>
              </a:rPr>
              <a:t>Database updates applied on start; one-command, re-runnable setup</a:t>
            </a:r>
            <a:endParaRPr lang="en-US" sz="1400" dirty="0"/>
          </a:p>
          <a:p>
            <a:pPr marL="177800" indent="-177800">
              <a:spcAft>
                <a:spcPts val="600"/>
              </a:spcAft>
              <a:buSzPct val="100000"/>
              <a:buChar char="•"/>
            </a:pPr>
            <a:r>
              <a:rPr lang="en-US" sz="1400" dirty="0">
                <a:solidFill>
                  <a:schemeClr val="bg1"/>
                </a:solidFill>
              </a:rPr>
              <a:t>Every log line carries the request ID, user and run</a:t>
            </a:r>
            <a:endParaRPr lang="en-US" sz="1400" dirty="0"/>
          </a:p>
          <a:p>
            <a:pPr marL="177800" indent="-177800">
              <a:spcAft>
                <a:spcPts val="600"/>
              </a:spcAft>
              <a:buSzPct val="100000"/>
              <a:buChar char="•"/>
            </a:pPr>
            <a:r>
              <a:rPr lang="en-US" sz="1400" dirty="0">
                <a:solidFill>
                  <a:schemeClr val="bg1"/>
                </a:solidFill>
              </a:rPr>
              <a:t>Manual runs start as separate processes, so the API stays responsive</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2"/>
                </a:solidFill>
              </a:rPr>
              <a:t>Glossary</a:t>
            </a:r>
            <a:endParaRPr lang="en-US" sz="3200" dirty="0"/>
          </a:p>
        </p:txBody>
      </p:sp>
      <p:sp>
        <p:nvSpPr>
          <p:cNvPr id="3" name="Text 0"/>
          <p:cNvSpPr/>
          <p:nvPr>
            <p:ph idx="101" type="body" hasCustomPrompt="1"/>
          </p:nvPr>
        </p:nvSpPr>
        <p:spPr>
          <a:xfrm>
            <a:off x="548640" y="960120"/>
            <a:ext cx="11094415" cy="411480"/>
          </a:xfrm>
          <a:prstGeom prst="rect">
            <a:avLst/>
          </a:prstGeom>
          <a:noFill/>
          <a:ln/>
        </p:spPr>
        <p:txBody>
          <a:bodyPr wrap="square" lIns="0" tIns="0" rIns="0" bIns="0" rtlCol="0" anchor="t"/>
          <a:lstStyle/>
          <a:p>
            <a:pPr algn="l" indent="0" marL="0">
              <a:buNone/>
            </a:pPr>
            <a:r>
              <a:rPr lang="en-US" sz="1600" dirty="0">
                <a:solidFill>
                  <a:schemeClr val="accent5"/>
                </a:solidFill>
              </a:rPr>
              <a:t>Terms used in this brief, in plain words</a:t>
            </a:r>
            <a:endParaRPr lang="en-US" sz="1600" dirty="0"/>
          </a:p>
        </p:txBody>
      </p:sp>
      <p:graphicFrame>
        <p:nvGraphicFramePr>
          <p:cNvPr id="17" name="table-296"/>
          <p:cNvGraphicFramePr>
            <a:graphicFrameLocks noGrp="1"/>
          </p:cNvGraphicFramePr>
          <p:nvPr>
            <p:extLst>
              <p:ext uri="{D42A27DB-BD31-4B8C-83A1-F6EECF244321}">
                <p14:modId xmlns:p14="http://schemas.microsoft.com/office/powerpoint/2010/main" val="1579011935"/>
              </p:ext>
            </p:extLst>
          </p:nvPr>
        </p:nvGraphicFramePr>
        <p:xfrm>
          <a:off x="548640" y="1600200"/>
          <a:ext cx="5410048" cy="914400"/>
        </p:xfrm>
        <a:graphic>
          <a:graphicData uri="http://schemas.openxmlformats.org/drawingml/2006/table">
            <a:tbl>
              <a:tblPr/>
              <a:tblGrid>
                <a:gridCol w="1783080"/>
                <a:gridCol w="3626968"/>
              </a:tblGrid>
              <a:tr h="713232">
                <a:tc>
                  <a:txBody>
                    <a:bodyPr/>
                    <a:lstStyle/>
                    <a:p>
                      <a:pPr indent="0" marL="0">
                        <a:buNone/>
                      </a:pPr>
                      <a:r>
                        <a:rPr lang="en-US" sz="1400" b="1" dirty="0">
                          <a:solidFill>
                            <a:schemeClr val="tx2"/>
                          </a:solidFill>
                        </a:rPr>
                        <a:t>CSM</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Customer Success Manager: looks after a set of customer accounts</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713232">
                <a:tc>
                  <a:txBody>
                    <a:bodyPr/>
                    <a:lstStyle/>
                    <a:p>
                      <a:pPr indent="0" marL="0">
                        <a:buNone/>
                      </a:pPr>
                      <a:r>
                        <a:rPr lang="en-US" sz="1400" b="1" dirty="0">
                          <a:solidFill>
                            <a:schemeClr val="tx2"/>
                          </a:solidFill>
                        </a:rPr>
                        <a:t>ARR</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Annual recurring revenue: what a customer pays per year</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713232">
                <a:tc>
                  <a:txBody>
                    <a:bodyPr/>
                    <a:lstStyle/>
                    <a:p>
                      <a:pPr indent="0" marL="0">
                        <a:buNone/>
                      </a:pPr>
                      <a:r>
                        <a:rPr lang="en-US" sz="1400" b="1" dirty="0">
                          <a:solidFill>
                            <a:schemeClr val="tx2"/>
                          </a:solidFill>
                        </a:rPr>
                        <a:t>Churn</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A customer not renewing</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713232">
                <a:tc>
                  <a:txBody>
                    <a:bodyPr/>
                    <a:lstStyle/>
                    <a:p>
                      <a:pPr indent="0" marL="0">
                        <a:buNone/>
                      </a:pPr>
                      <a:r>
                        <a:rPr lang="en-US" sz="1400" b="1" dirty="0">
                          <a:solidFill>
                            <a:schemeClr val="tx2"/>
                          </a:solidFill>
                        </a:rPr>
                        <a:t>CRM</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The sales system (e.g. Salesforce) where accounts and renewals live</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713232">
                <a:tc>
                  <a:txBody>
                    <a:bodyPr/>
                    <a:lstStyle/>
                    <a:p>
                      <a:pPr indent="0" marL="0">
                        <a:buNone/>
                      </a:pPr>
                      <a:r>
                        <a:rPr lang="en-US" sz="1400" b="1" dirty="0">
                          <a:solidFill>
                            <a:schemeClr val="tx2"/>
                          </a:solidFill>
                        </a:rPr>
                        <a:t>CSAT</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The customer's good/bad rating on a support ticket</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713232">
                <a:tc>
                  <a:txBody>
                    <a:bodyPr/>
                    <a:lstStyle/>
                    <a:p>
                      <a:pPr indent="0" marL="0">
                        <a:buNone/>
                      </a:pPr>
                      <a:r>
                        <a:rPr lang="en-US" sz="1400" b="1" dirty="0">
                          <a:solidFill>
                            <a:schemeClr val="tx2"/>
                          </a:solidFill>
                        </a:rPr>
                        <a:t>Tenant</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One customer organisation using Triage (Northwind, Helios, Quill)</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bl>
          </a:graphicData>
        </a:graphic>
      </p:graphicFrame>
      <p:graphicFrame>
        <p:nvGraphicFramePr>
          <p:cNvPr id="33" name="table-297"/>
          <p:cNvGraphicFramePr>
            <a:graphicFrameLocks noGrp="1"/>
          </p:cNvGraphicFramePr>
          <p:nvPr>
            <p:extLst>
              <p:ext uri="{D42A27DB-BD31-4B8C-83A1-F6EECF244321}">
                <p14:modId xmlns:p14="http://schemas.microsoft.com/office/powerpoint/2010/main" val="1579011935"/>
              </p:ext>
            </p:extLst>
          </p:nvPr>
        </p:nvGraphicFramePr>
        <p:xfrm>
          <a:off x="6233008" y="1600200"/>
          <a:ext cx="5410048" cy="914400"/>
        </p:xfrm>
        <a:graphic>
          <a:graphicData uri="http://schemas.openxmlformats.org/drawingml/2006/table">
            <a:tbl>
              <a:tblPr/>
              <a:tblGrid>
                <a:gridCol w="1783080"/>
                <a:gridCol w="3626968"/>
              </a:tblGrid>
              <a:tr h="713232">
                <a:tc>
                  <a:txBody>
                    <a:bodyPr/>
                    <a:lstStyle/>
                    <a:p>
                      <a:pPr indent="0" marL="0">
                        <a:buNone/>
                      </a:pPr>
                      <a:r>
                        <a:rPr lang="en-US" sz="1400" b="1" dirty="0">
                          <a:solidFill>
                            <a:schemeClr val="tx2"/>
                          </a:solidFill>
                        </a:rPr>
                        <a:t>LLM</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Large language model (e.g. GPT): writes the notes, never ranks</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713232">
                <a:tc>
                  <a:txBody>
                    <a:bodyPr/>
                    <a:lstStyle/>
                    <a:p>
                      <a:pPr indent="0" marL="0">
                        <a:buNone/>
                      </a:pPr>
                      <a:r>
                        <a:rPr lang="en-US" sz="1400" b="1" dirty="0">
                          <a:solidFill>
                            <a:schemeClr val="tx2"/>
                          </a:solidFill>
                        </a:rPr>
                        <a:t>Ranking accuracy</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How often a churner is ranked above a renewer (ROC AUC); 0.5 = coin flip</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713232">
                <a:tc>
                  <a:txBody>
                    <a:bodyPr/>
                    <a:lstStyle/>
                    <a:p>
                      <a:pPr indent="0" marL="0">
                        <a:buNone/>
                      </a:pPr>
                      <a:r>
                        <a:rPr lang="en-US" sz="1400" b="1" dirty="0">
                          <a:solidFill>
                            <a:schemeClr val="tx2"/>
                          </a:solidFill>
                        </a:rPr>
                        <a:t>Hit rate</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Share of call-list slots that were real churners (precision)</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713232">
                <a:tc>
                  <a:txBody>
                    <a:bodyPr/>
                    <a:lstStyle/>
                    <a:p>
                      <a:pPr indent="0" marL="0">
                        <a:buNone/>
                      </a:pPr>
                      <a:r>
                        <a:rPr lang="en-US" sz="1400" b="1" dirty="0">
                          <a:solidFill>
                            <a:schemeClr val="tx2"/>
                          </a:solidFill>
                        </a:rPr>
                        <a:t>Honest percentages</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"20%" really means about 1 in 5 (calibration)</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713232">
                <a:tc>
                  <a:txBody>
                    <a:bodyPr/>
                    <a:lstStyle/>
                    <a:p>
                      <a:pPr indent="0" marL="0">
                        <a:buNone/>
                      </a:pPr>
                      <a:r>
                        <a:rPr lang="en-US" sz="1400" b="1" dirty="0">
                          <a:solidFill>
                            <a:schemeClr val="tx2"/>
                          </a:solidFill>
                        </a:rPr>
                        <a:t>Logistic regression</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A simple model: each signal gets a weight; weights add up to a probability</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r h="713232">
                <a:tc>
                  <a:txBody>
                    <a:bodyPr/>
                    <a:lstStyle/>
                    <a:p>
                      <a:pPr indent="0" marL="0">
                        <a:buNone/>
                      </a:pPr>
                      <a:r>
                        <a:rPr lang="en-US" sz="1400" b="1" dirty="0">
                          <a:solidFill>
                            <a:schemeClr val="tx2"/>
                          </a:solidFill>
                        </a:rPr>
                        <a:t>Row-level security</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c>
                  <a:txBody>
                    <a:bodyPr/>
                    <a:lstStyle/>
                    <a:p>
                      <a:pPr indent="0" marL="0">
                        <a:buNone/>
                      </a:pPr>
                      <a:r>
                        <a:rPr lang="en-US" sz="1400" dirty="0">
                          <a:solidFill>
                            <a:schemeClr val="tx1"/>
                          </a:solidFill>
                        </a:rPr>
                        <a:t>A database feature that hides other companies' rows automatically</a:t>
                      </a:r>
                      <a:endParaRPr lang="en-US" sz="1400" dirty="0"/>
                    </a:p>
                  </a:txBody>
                  <a:tcPr marL="101600" marR="101600" marT="38100" marB="38100" anchor="ctr">
                    <a:lnL w="9525" cap="flat" cmpd="sng" algn="ctr">
                      <a:solidFill>
                        <a:srgbClr val="DDE4F0"/>
                      </a:solidFill>
                      <a:prstDash val="solid"/>
                      <a:round/>
                      <a:headEnd type="none" w="med" len="med"/>
                      <a:tailEnd type="none" w="med" len="med"/>
                    </a:lnL>
                    <a:lnR w="9525" cap="flat" cmpd="sng" algn="ctr">
                      <a:solidFill>
                        <a:srgbClr val="DDE4F0"/>
                      </a:solidFill>
                      <a:prstDash val="solid"/>
                      <a:round/>
                      <a:headEnd type="none" w="med" len="med"/>
                      <a:tailEnd type="none" w="med" len="med"/>
                    </a:lnR>
                    <a:lnT w="9525" cap="flat" cmpd="sng" algn="ctr">
                      <a:solidFill>
                        <a:srgbClr val="DDE4F0"/>
                      </a:solidFill>
                      <a:prstDash val="solid"/>
                      <a:round/>
                      <a:headEnd type="none" w="med" len="med"/>
                      <a:tailEnd type="none" w="med" len="med"/>
                    </a:lnT>
                    <a:lnB w="9525" cap="flat" cmpd="sng" algn="ctr">
                      <a:solidFill>
                        <a:srgbClr val="DDE4F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Limits, open questions and next steps</a:t>
            </a:r>
            <a:endParaRPr lang="en-US" sz="3200" dirty="0"/>
          </a:p>
        </p:txBody>
      </p:sp>
      <p:sp>
        <p:nvSpPr>
          <p:cNvPr id="3" name="card-298"/>
          <p:cNvSpPr/>
          <p:nvPr/>
        </p:nvSpPr>
        <p:spPr>
          <a:xfrm>
            <a:off x="548640" y="1463040"/>
            <a:ext cx="3515258" cy="4206240"/>
          </a:xfrm>
          <a:prstGeom prst="roundRect">
            <a:avLst>
              <a:gd name="adj" fmla="val 2081"/>
            </a:avLst>
          </a:prstGeom>
          <a:solidFill>
            <a:srgbClr val="1A3A60"/>
          </a:solidFill>
          <a:ln w="12700">
            <a:solidFill>
              <a:srgbClr val="1A3A60"/>
            </a:solidFill>
            <a:prstDash val="solid"/>
          </a:ln>
        </p:spPr>
      </p:sp>
      <p:sp>
        <p:nvSpPr>
          <p:cNvPr id="4" name="text-299"/>
          <p:cNvSpPr txBox="1"/>
          <p:nvPr/>
        </p:nvSpPr>
        <p:spPr>
          <a:xfrm>
            <a:off x="822960" y="1691640"/>
            <a:ext cx="2966618" cy="411480"/>
          </a:xfrm>
          <a:prstGeom prst="rect">
            <a:avLst/>
          </a:prstGeom>
          <a:noFill/>
          <a:ln/>
        </p:spPr>
        <p:txBody>
          <a:bodyPr wrap="square" lIns="0" tIns="0" rIns="0" bIns="0" rtlCol="0" anchor="t"/>
          <a:lstStyle/>
          <a:p>
            <a:pPr indent="0" marL="0">
              <a:buNone/>
            </a:pPr>
            <a:r>
              <a:rPr lang="en-US" sz="1800" b="1" dirty="0">
                <a:solidFill>
                  <a:schemeClr val="accent1"/>
                </a:solidFill>
              </a:rPr>
              <a:t>Not in v1</a:t>
            </a:r>
            <a:endParaRPr lang="en-US" sz="1800" dirty="0"/>
          </a:p>
        </p:txBody>
      </p:sp>
      <p:sp>
        <p:nvSpPr>
          <p:cNvPr id="5" name="text-300"/>
          <p:cNvSpPr txBox="1"/>
          <p:nvPr/>
        </p:nvSpPr>
        <p:spPr>
          <a:xfrm>
            <a:off x="822960" y="2240280"/>
            <a:ext cx="2966618" cy="32918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bg1"/>
                </a:solidFill>
              </a:rPr>
              <a:t>Live connections to real systems (the synthetic feeds use the same format)</a:t>
            </a:r>
            <a:endParaRPr lang="en-US" sz="1500" dirty="0"/>
          </a:p>
          <a:p>
            <a:pPr marL="177800" indent="-177800">
              <a:spcAft>
                <a:spcPts val="800"/>
              </a:spcAft>
              <a:buSzPct val="100000"/>
              <a:buChar char="•"/>
            </a:pPr>
            <a:r>
              <a:rPr lang="en-US" sz="1500" dirty="0">
                <a:solidFill>
                  <a:schemeClr val="bg1"/>
                </a:solidFill>
              </a:rPr>
              <a:t>Sending email; single sign-on</a:t>
            </a:r>
            <a:endParaRPr lang="en-US" sz="1500" dirty="0"/>
          </a:p>
          <a:p>
            <a:pPr marL="177800" indent="-177800">
              <a:spcAft>
                <a:spcPts val="800"/>
              </a:spcAft>
              <a:buSzPct val="100000"/>
              <a:buChar char="•"/>
            </a:pPr>
            <a:r>
              <a:rPr lang="en-US" sz="1500" dirty="0">
                <a:solidFill>
                  <a:schemeClr val="bg1"/>
                </a:solidFill>
              </a:rPr>
              <a:t>Per-company models, expansion scoring</a:t>
            </a:r>
            <a:endParaRPr lang="en-US" sz="1500" dirty="0"/>
          </a:p>
          <a:p>
            <a:pPr marL="177800" indent="-177800">
              <a:spcAft>
                <a:spcPts val="800"/>
              </a:spcAft>
              <a:buSzPct val="100000"/>
              <a:buChar char="•"/>
            </a:pPr>
            <a:r>
              <a:rPr lang="en-US" sz="1500" dirty="0">
                <a:solidFill>
                  <a:schemeClr val="bg1"/>
                </a:solidFill>
              </a:rPr>
              <a:t>A screen to resolve unmatched records</a:t>
            </a:r>
            <a:endParaRPr lang="en-US" sz="1500" dirty="0"/>
          </a:p>
        </p:txBody>
      </p:sp>
      <p:sp>
        <p:nvSpPr>
          <p:cNvPr id="6" name="card-301"/>
          <p:cNvSpPr/>
          <p:nvPr/>
        </p:nvSpPr>
        <p:spPr>
          <a:xfrm>
            <a:off x="4338218" y="1463040"/>
            <a:ext cx="3515258" cy="4206240"/>
          </a:xfrm>
          <a:prstGeom prst="roundRect">
            <a:avLst>
              <a:gd name="adj" fmla="val 2081"/>
            </a:avLst>
          </a:prstGeom>
          <a:solidFill>
            <a:srgbClr val="1A3A60"/>
          </a:solidFill>
          <a:ln w="12700">
            <a:solidFill>
              <a:srgbClr val="1A3A60"/>
            </a:solidFill>
            <a:prstDash val="solid"/>
          </a:ln>
        </p:spPr>
      </p:sp>
      <p:sp>
        <p:nvSpPr>
          <p:cNvPr id="7" name="text-302"/>
          <p:cNvSpPr txBox="1"/>
          <p:nvPr/>
        </p:nvSpPr>
        <p:spPr>
          <a:xfrm>
            <a:off x="4612538" y="1691640"/>
            <a:ext cx="2966618" cy="411480"/>
          </a:xfrm>
          <a:prstGeom prst="rect">
            <a:avLst/>
          </a:prstGeom>
          <a:noFill/>
          <a:ln/>
        </p:spPr>
        <p:txBody>
          <a:bodyPr wrap="square" lIns="0" tIns="0" rIns="0" bIns="0" rtlCol="0" anchor="t"/>
          <a:lstStyle/>
          <a:p>
            <a:pPr indent="0" marL="0">
              <a:buNone/>
            </a:pPr>
            <a:r>
              <a:rPr lang="en-US" sz="1800" b="1" dirty="0">
                <a:solidFill>
                  <a:schemeClr val="accent1"/>
                </a:solidFill>
              </a:rPr>
              <a:t>Questions for the business</a:t>
            </a:r>
            <a:endParaRPr lang="en-US" sz="1800" dirty="0"/>
          </a:p>
        </p:txBody>
      </p:sp>
      <p:sp>
        <p:nvSpPr>
          <p:cNvPr id="8" name="text-303"/>
          <p:cNvSpPr txBox="1"/>
          <p:nvPr/>
        </p:nvSpPr>
        <p:spPr>
          <a:xfrm>
            <a:off x="4612538" y="2240280"/>
            <a:ext cx="2966618" cy="32918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bg1"/>
                </a:solidFill>
              </a:rPr>
              <a:t>Does a downgrade count as churn?</a:t>
            </a:r>
            <a:endParaRPr lang="en-US" sz="1500" dirty="0"/>
          </a:p>
          <a:p>
            <a:pPr marL="177800" indent="-177800">
              <a:spcAft>
                <a:spcPts val="800"/>
              </a:spcAft>
              <a:buSzPct val="100000"/>
              <a:buChar char="•"/>
            </a:pPr>
            <a:r>
              <a:rPr lang="en-US" sz="1500" dirty="0">
                <a:solidFill>
                  <a:schemeClr val="bg1"/>
                </a:solidFill>
              </a:rPr>
              <a:t>Source of truth for ARR and renewal date</a:t>
            </a:r>
            <a:endParaRPr lang="en-US" sz="1500" dirty="0"/>
          </a:p>
          <a:p>
            <a:pPr marL="177800" indent="-177800">
              <a:spcAft>
                <a:spcPts val="800"/>
              </a:spcAft>
              <a:buSzPct val="100000"/>
              <a:buChar char="•"/>
            </a:pPr>
            <a:r>
              <a:rPr lang="en-US" sz="1500" dirty="0">
                <a:solidFill>
                  <a:schemeClr val="bg1"/>
                </a:solidFill>
              </a:rPr>
              <a:t>Real CSM capacity and playbooks</a:t>
            </a:r>
            <a:endParaRPr lang="en-US" sz="1500" dirty="0"/>
          </a:p>
          <a:p>
            <a:pPr marL="177800" indent="-177800">
              <a:spcAft>
                <a:spcPts val="800"/>
              </a:spcAft>
              <a:buSzPct val="100000"/>
              <a:buChar char="•"/>
            </a:pPr>
            <a:r>
              <a:rPr lang="en-US" sz="1500" dirty="0">
                <a:solidFill>
                  <a:schemeClr val="bg1"/>
                </a:solidFill>
              </a:rPr>
              <a:t>Is a missed churn worse than a wasted call?</a:t>
            </a:r>
            <a:endParaRPr lang="en-US" sz="1500" dirty="0"/>
          </a:p>
        </p:txBody>
      </p:sp>
      <p:sp>
        <p:nvSpPr>
          <p:cNvPr id="9" name="card-304"/>
          <p:cNvSpPr/>
          <p:nvPr/>
        </p:nvSpPr>
        <p:spPr>
          <a:xfrm>
            <a:off x="8127797" y="1463040"/>
            <a:ext cx="3515258" cy="4206240"/>
          </a:xfrm>
          <a:prstGeom prst="roundRect">
            <a:avLst>
              <a:gd name="adj" fmla="val 2081"/>
            </a:avLst>
          </a:prstGeom>
          <a:solidFill>
            <a:srgbClr val="1A3A60"/>
          </a:solidFill>
          <a:ln w="12700">
            <a:solidFill>
              <a:srgbClr val="1A3A60"/>
            </a:solidFill>
            <a:prstDash val="solid"/>
          </a:ln>
        </p:spPr>
      </p:sp>
      <p:sp>
        <p:nvSpPr>
          <p:cNvPr id="10" name="text-305"/>
          <p:cNvSpPr txBox="1"/>
          <p:nvPr/>
        </p:nvSpPr>
        <p:spPr>
          <a:xfrm>
            <a:off x="8402117" y="1691640"/>
            <a:ext cx="2966618" cy="411480"/>
          </a:xfrm>
          <a:prstGeom prst="rect">
            <a:avLst/>
          </a:prstGeom>
          <a:noFill/>
          <a:ln/>
        </p:spPr>
        <p:txBody>
          <a:bodyPr wrap="square" lIns="0" tIns="0" rIns="0" bIns="0" rtlCol="0" anchor="t"/>
          <a:lstStyle/>
          <a:p>
            <a:pPr indent="0" marL="0">
              <a:buNone/>
            </a:pPr>
            <a:r>
              <a:rPr lang="en-US" sz="1800" b="1" dirty="0">
                <a:solidFill>
                  <a:schemeClr val="accent1"/>
                </a:solidFill>
              </a:rPr>
              <a:t>Next</a:t>
            </a:r>
            <a:endParaRPr lang="en-US" sz="1800" dirty="0"/>
          </a:p>
        </p:txBody>
      </p:sp>
      <p:sp>
        <p:nvSpPr>
          <p:cNvPr id="11" name="text-306"/>
          <p:cNvSpPr txBox="1"/>
          <p:nvPr/>
        </p:nvSpPr>
        <p:spPr>
          <a:xfrm>
            <a:off x="8402117" y="2240280"/>
            <a:ext cx="2966618" cy="32918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bg1"/>
                </a:solidFill>
              </a:rPr>
              <a:t>Same-day interrupt for critical events, on top of the nightly run</a:t>
            </a:r>
            <a:endParaRPr lang="en-US" sz="1500" dirty="0"/>
          </a:p>
          <a:p>
            <a:pPr marL="177800" indent="-177800">
              <a:spcAft>
                <a:spcPts val="800"/>
              </a:spcAft>
              <a:buSzPct val="100000"/>
              <a:buChar char="•"/>
            </a:pPr>
            <a:r>
              <a:rPr lang="en-US" sz="1500" dirty="0">
                <a:solidFill>
                  <a:schemeClr val="bg1"/>
                </a:solidFill>
              </a:rPr>
              <a:t>Automatic tests and build on every code push</a:t>
            </a:r>
            <a:endParaRPr lang="en-US" sz="1500" dirty="0"/>
          </a:p>
          <a:p>
            <a:pPr marL="177800" indent="-177800">
              <a:spcAft>
                <a:spcPts val="800"/>
              </a:spcAft>
              <a:buSzPct val="100000"/>
              <a:buChar char="•"/>
            </a:pPr>
            <a:r>
              <a:rPr lang="en-US" sz="1500" dirty="0">
                <a:solidFill>
                  <a:schemeClr val="bg1"/>
                </a:solidFill>
              </a:rPr>
              <a:t>Match only new records, for 10× more data</a:t>
            </a:r>
            <a:endParaRPr lang="en-US" sz="1500" dirty="0"/>
          </a:p>
          <a:p>
            <a:pPr marL="177800" indent="-177800">
              <a:spcAft>
                <a:spcPts val="800"/>
              </a:spcAft>
              <a:buSzPct val="100000"/>
              <a:buChar char="•"/>
            </a:pPr>
            <a:r>
              <a:rPr lang="en-US" sz="1500" dirty="0">
                <a:solidFill>
                  <a:schemeClr val="bg1"/>
                </a:solidFill>
              </a:rPr>
              <a:t>Retrain on real outcomes; watch that percentages stay honest</a:t>
            </a:r>
            <a:endParaRPr lang="en-US" sz="1500" dirty="0"/>
          </a:p>
        </p:txBody>
      </p:sp>
      <p:sp>
        <p:nvSpPr>
          <p:cNvPr id="12" name="text-307"/>
          <p:cNvSpPr txBox="1"/>
          <p:nvPr/>
        </p:nvSpPr>
        <p:spPr>
          <a:xfrm>
            <a:off x="548640" y="5943600"/>
            <a:ext cx="10180015" cy="365760"/>
          </a:xfrm>
          <a:prstGeom prst="rect">
            <a:avLst/>
          </a:prstGeom>
          <a:noFill/>
          <a:ln/>
        </p:spPr>
        <p:txBody>
          <a:bodyPr wrap="square" lIns="0" tIns="0" rIns="0" bIns="0" rtlCol="0" anchor="t"/>
          <a:lstStyle/>
          <a:p>
            <a:pPr indent="0" marL="0">
              <a:buNone/>
            </a:pPr>
            <a:r>
              <a:rPr lang="en-US" sz="1300" dirty="0">
                <a:solidFill>
                  <a:schemeClr val="accent6"/>
                </a:solidFill>
              </a:rPr>
              <a:t>Code, decisions log and setup: csm-triage repository · DECISIONS.md lists every choice with its reason</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Triage Navy and Saffron">
  <a:themeElements>
    <a:clrScheme name="Triage Navy and Saffron">
      <a:dk1>
        <a:srgbClr val="0F172A"/>
      </a:dk1>
      <a:lt1>
        <a:srgbClr val="FFFFFF"/>
      </a:lt1>
      <a:dk2>
        <a:srgbClr val="0F2A4A"/>
      </a:dk2>
      <a:lt2>
        <a:srgbClr val="F4F6FB"/>
      </a:lt2>
      <a:accent1>
        <a:srgbClr val="E8A92B"/>
      </a:accent1>
      <a:accent2>
        <a:srgbClr val="0F2A4A"/>
      </a:accent2>
      <a:accent3>
        <a:srgbClr val="16A34A"/>
      </a:accent3>
      <a:accent4>
        <a:srgbClr val="DC2626"/>
      </a:accent4>
      <a:accent5>
        <a:srgbClr val="64748B"/>
      </a:accent5>
      <a:accent6>
        <a:srgbClr val="E5EBF5"/>
      </a:accent6>
      <a:hlink>
        <a:srgbClr val="0F2A4A"/>
      </a:hlink>
      <a:folHlink>
        <a:srgbClr val="64748B"/>
      </a:folHlink>
    </a:clrScheme>
    <a:fontScheme name="Triage Navy and Saffr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Triage — Solution brief</dc:title>
  <dc:subject>CSM churn-risk triage: architecture, model, evaluation and trade-offs</dc:subject>
  <dc:creator>Kuldeep Chouhan</dc:creator>
  <cp:lastModifiedBy>Kuldeep Chouhan</cp:lastModifiedBy>
  <cp:revision>1</cp:revision>
  <dcterms:created xsi:type="dcterms:W3CDTF">2026-10-18T19:36:15Z</dcterms:created>
  <dcterms:modified xsi:type="dcterms:W3CDTF">2026-10-18T19:36:15Z</dcterms:modified>
</cp:coreProperties>
</file>